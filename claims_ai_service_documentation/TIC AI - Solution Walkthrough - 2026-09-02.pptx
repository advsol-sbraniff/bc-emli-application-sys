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7" r:id="rId5"/>
    <p:sldId id="2147482250" r:id="rId6"/>
    <p:sldId id="256" r:id="rId7"/>
    <p:sldId id="2147482261" r:id="rId8"/>
    <p:sldId id="2147482242" r:id="rId9"/>
    <p:sldId id="2147482230" r:id="rId10"/>
    <p:sldId id="2147482253" r:id="rId11"/>
    <p:sldId id="2147482257" r:id="rId12"/>
    <p:sldId id="2147482241" r:id="rId13"/>
    <p:sldId id="2147482260" r:id="rId14"/>
    <p:sldId id="2147482266" r:id="rId15"/>
    <p:sldId id="2147482264" r:id="rId16"/>
    <p:sldId id="2147482265" r:id="rId17"/>
    <p:sldId id="258" r:id="rId18"/>
    <p:sldId id="259" r:id="rId19"/>
    <p:sldId id="2147482268" r:id="rId20"/>
    <p:sldId id="2147482262" r:id="rId21"/>
    <p:sldId id="2147482267" r:id="rId22"/>
    <p:sldId id="2147308209" r:id="rId23"/>
    <p:sldId id="2147482263" r:id="rId24"/>
    <p:sldId id="2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D54DCB-CF7E-4AB8-97FE-83338C118D68}" v="910" dt="2026-09-02T15:32:56.136"/>
    <p1510:client id="{D70B2CA0-DB29-4A6C-9433-416F79153B90}" v="1" dt="2026-09-02T16:38:33.951"/>
    <p1510:client id="{F0ADF411-6B0E-4C1F-ACC2-1C3C05CB2E04}" v="71" dt="2026-09-02T14:06:22.6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A6741-3DF8-4E84-9206-054D67BCD14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5252B-5E0E-494C-980E-97DB45A34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7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Layout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3011DD-6332-9F0F-B084-7137C8EF4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Union" descr="preencoded.png">
            <a:extLst>
              <a:ext uri="{FF2B5EF4-FFF2-40B4-BE49-F238E27FC236}">
                <a16:creationId xmlns:a16="http://schemas.microsoft.com/office/drawing/2014/main" id="{EEA4C39E-49C9-769F-6A3C-4C3CF1A5F1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753600" y="457200"/>
            <a:ext cx="1981200" cy="323850"/>
          </a:xfrm>
          <a:prstGeom prst="rect">
            <a:avLst/>
          </a:prstGeom>
        </p:spPr>
      </p:pic>
      <p:pic>
        <p:nvPicPr>
          <p:cNvPr id="6" name="Group 15515" descr="preencoded.png">
            <a:extLst>
              <a:ext uri="{FF2B5EF4-FFF2-40B4-BE49-F238E27FC236}">
                <a16:creationId xmlns:a16="http://schemas.microsoft.com/office/drawing/2014/main" id="{72CDACAB-F996-85AE-6509-9936932E33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000" y="3987800"/>
            <a:ext cx="11938000" cy="27432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F094202A-ADEE-8CFF-1CA7-B4EBFBE99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637" y="4350768"/>
            <a:ext cx="3015457" cy="139701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875" b="1" cap="all" spc="133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defRPr>
            </a:lvl1pPr>
            <a:lvl2pPr marL="487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752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62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50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38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25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13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011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A037E8E-E172-D17B-2149-6A94B7D28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38" y="4621436"/>
            <a:ext cx="7483248" cy="81491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000" cap="all" baseline="0">
                <a:solidFill>
                  <a:schemeClr val="tx1"/>
                </a:solidFill>
                <a:latin typeface="GT Standard L Extended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3B05D65-796A-C5FE-8595-B4F11391A12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28637" y="5573657"/>
            <a:ext cx="3015457" cy="151278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>
              <a:lnSpc>
                <a:spcPct val="100000"/>
              </a:lnSpc>
              <a:spcBef>
                <a:spcPts val="500"/>
              </a:spcBef>
              <a:defRPr sz="875" cap="all" spc="133" baseline="0">
                <a:solidFill>
                  <a:schemeClr val="tx1"/>
                </a:solidFill>
                <a:latin typeface="Inter SemiBold" panose="02000703000000020004" pitchFamily="50" charset="0"/>
                <a:ea typeface="Inter SemiBold" panose="02000703000000020004" pitchFamily="50" charset="0"/>
                <a:cs typeface="Inter SemiBold" panose="02000703000000020004" pitchFamily="50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defRPr sz="1333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defRPr sz="1333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defRPr sz="1333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defRPr sz="1333">
                <a:solidFill>
                  <a:schemeClr val="bg1"/>
                </a:solidFill>
                <a:latin typeface="Inter Regular" panose="020B0604020202020204" charset="0"/>
                <a:ea typeface="Inter Light" panose="02000403000000020004" pitchFamily="50" charset="0"/>
                <a:cs typeface="Inter Regular" panose="020B0604020202020204" charset="0"/>
              </a:defRPr>
            </a:lvl5pPr>
            <a:lvl6pPr>
              <a:defRPr sz="1667" baseline="0"/>
            </a:lvl6pPr>
            <a:lvl7pPr>
              <a:defRPr sz="1667" baseline="0"/>
            </a:lvl7pPr>
            <a:lvl8pPr>
              <a:defRPr sz="1667" baseline="0"/>
            </a:lvl8pPr>
            <a:lvl9pPr>
              <a:defRPr sz="1667" baseline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BF47D-C676-43C2-A94C-DC56E5D22589}"/>
              </a:ext>
            </a:extLst>
          </p:cNvPr>
          <p:cNvSpPr txBox="1"/>
          <p:nvPr/>
        </p:nvSpPr>
        <p:spPr>
          <a:xfrm>
            <a:off x="528639" y="6420645"/>
            <a:ext cx="1962149" cy="102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667" b="0">
                <a:solidFill>
                  <a:srgbClr val="B4B0AC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DXC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34A3979-0F25-DD7B-7C6E-91145AEF7A2A}"/>
              </a:ext>
            </a:extLst>
          </p:cNvPr>
          <p:cNvSpPr txBox="1">
            <a:spLocks/>
          </p:cNvSpPr>
          <p:nvPr/>
        </p:nvSpPr>
        <p:spPr>
          <a:xfrm>
            <a:off x="528952" y="6256072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8">
                <a:solidFill>
                  <a:schemeClr val="tx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© </a:t>
            </a:r>
            <a:fld id="{C0650B53-F5B1-403A-BD70-58B7AE2589AD}" type="datetimeyyyy">
              <a:rPr lang="en-US" sz="708" smtClean="0">
                <a:solidFill>
                  <a:schemeClr val="tx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pPr algn="l"/>
              <a:t>2026</a:t>
            </a:fld>
            <a:r>
              <a:rPr lang="en-US" sz="708">
                <a:solidFill>
                  <a:schemeClr val="tx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1445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74">
          <p15:clr>
            <a:srgbClr val="FBAE40"/>
          </p15:clr>
        </p15:guide>
        <p15:guide id="2" pos="95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55E00072-8177-8B6A-6A90-45F4AB9D73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711" y="740248"/>
            <a:ext cx="3632201" cy="16778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875" b="0" spc="0" baseline="0">
                <a:solidFill>
                  <a:schemeClr val="accent4"/>
                </a:solidFill>
                <a:latin typeface="Inter Medium" panose="02000603000000020004" pitchFamily="50" charset="0"/>
                <a:ea typeface="Inter Medium" panose="02000603000000020004" pitchFamily="50" charset="0"/>
                <a:cs typeface="Inter Medium" panose="02000603000000020004" pitchFamily="50" charset="0"/>
              </a:defRPr>
            </a:lvl1pPr>
            <a:lvl2pPr marL="609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eyebrow text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8684DD0-26F1-1FC3-88D2-5B51E613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91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073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501907-F4B6-0B68-11B4-BFBE267DA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2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619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 Medium" panose="02000503000000020004" pitchFamily="50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1C404-616A-0398-E1D5-7C70023380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7619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r Medium" panose="02000503000000020004" pitchFamily="50" charset="0"/>
              <a:ea typeface="+mn-ea"/>
              <a:cs typeface="+mn-cs"/>
            </a:endParaRPr>
          </a:p>
        </p:txBody>
      </p:sp>
      <p:pic>
        <p:nvPicPr>
          <p:cNvPr id="14" name="Union" descr="preencoded.png">
            <a:extLst>
              <a:ext uri="{FF2B5EF4-FFF2-40B4-BE49-F238E27FC236}">
                <a16:creationId xmlns:a16="http://schemas.microsoft.com/office/drawing/2014/main" id="{EA16ED0D-CB25-EA45-6EB2-9A86149AB4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435225"/>
            <a:ext cx="12192000" cy="1987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589ECB-9023-389E-E7EE-1285853BDEB5}"/>
              </a:ext>
            </a:extLst>
          </p:cNvPr>
          <p:cNvSpPr txBox="1"/>
          <p:nvPr/>
        </p:nvSpPr>
        <p:spPr>
          <a:xfrm>
            <a:off x="10007161" y="6654801"/>
            <a:ext cx="1962149" cy="102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667" b="0">
                <a:solidFill>
                  <a:srgbClr val="6D6D6D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DXC Confidential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46D9-B686-7E94-2205-17D8ADEA3502}"/>
              </a:ext>
            </a:extLst>
          </p:cNvPr>
          <p:cNvSpPr txBox="1">
            <a:spLocks/>
          </p:cNvSpPr>
          <p:nvPr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8">
                <a:solidFill>
                  <a:schemeClr val="bg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© </a:t>
            </a:r>
            <a:fld id="{C0650B53-F5B1-403A-BD70-58B7AE2589AD}" type="datetimeyyyy">
              <a:rPr lang="en-US" sz="708" smtClean="0">
                <a:solidFill>
                  <a:schemeClr val="bg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pPr algn="r"/>
              <a:t>2026</a:t>
            </a:fld>
            <a:r>
              <a:rPr lang="en-US" sz="708">
                <a:solidFill>
                  <a:schemeClr val="bg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 DXC Technology Company.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1374D-BA4A-0EF5-3894-069B57DF8D2A}"/>
              </a:ext>
            </a:extLst>
          </p:cNvPr>
          <p:cNvSpPr txBox="1"/>
          <p:nvPr/>
        </p:nvSpPr>
        <p:spPr>
          <a:xfrm>
            <a:off x="222694" y="6657598"/>
            <a:ext cx="247604" cy="102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667" b="0">
                <a:solidFill>
                  <a:schemeClr val="tx1">
                    <a:lumMod val="75000"/>
                    <a:lumOff val="25000"/>
                  </a:schemeClr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v01 </a:t>
            </a:r>
          </a:p>
        </p:txBody>
      </p:sp>
    </p:spTree>
    <p:extLst>
      <p:ext uri="{BB962C8B-B14F-4D97-AF65-F5344CB8AC3E}">
        <p14:creationId xmlns:p14="http://schemas.microsoft.com/office/powerpoint/2010/main" val="74761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656793-F272-E05F-7FDB-6FC60AE78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740A865-2EAE-D2C5-9D67-0453F02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5" y="2249663"/>
            <a:ext cx="9223373" cy="278606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 algn="l">
              <a:defRPr lang="en-US" sz="4167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2CCEFD-F919-42FA-0DD8-3DB039A268F3}"/>
              </a:ext>
            </a:extLst>
          </p:cNvPr>
          <p:cNvSpPr txBox="1">
            <a:spLocks/>
          </p:cNvSpPr>
          <p:nvPr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8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708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708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  <p:pic>
        <p:nvPicPr>
          <p:cNvPr id="13" name="HeaderMasthead" descr="preencoded.png">
            <a:extLst>
              <a:ext uri="{FF2B5EF4-FFF2-40B4-BE49-F238E27FC236}">
                <a16:creationId xmlns:a16="http://schemas.microsoft.com/office/drawing/2014/main" id="{93C7ACA0-9850-735F-DDA2-7E3D6AF178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08000"/>
            <a:ext cx="12192000" cy="635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BBDAE8-E8F2-0C57-3991-61B5388D5967}"/>
              </a:ext>
            </a:extLst>
          </p:cNvPr>
          <p:cNvSpPr txBox="1"/>
          <p:nvPr/>
        </p:nvSpPr>
        <p:spPr>
          <a:xfrm>
            <a:off x="10007160" y="6654800"/>
            <a:ext cx="1962149" cy="102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667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6545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08022F-70F3-0023-FA21-49EBA8DE9FA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latin typeface="Inter" panose="02000503000000020004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4D140-B4EA-E7E0-18A8-B7D83155FBFC}"/>
              </a:ext>
            </a:extLst>
          </p:cNvPr>
          <p:cNvSpPr txBox="1"/>
          <p:nvPr userDrawn="1"/>
        </p:nvSpPr>
        <p:spPr>
          <a:xfrm>
            <a:off x="10007160" y="6654800"/>
            <a:ext cx="1962149" cy="102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667" b="0">
                <a:solidFill>
                  <a:srgbClr val="B4B0AC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DXC Internal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8E8F88-DA2A-1D8C-C16A-A27EE17F1733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8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© </a:t>
            </a:r>
            <a:fld id="{C0650B53-F5B1-403A-BD70-58B7AE2589AD}" type="datetimeyyyy">
              <a:rPr lang="en-US" sz="708" smtClean="0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pPr algn="r"/>
              <a:t>2026</a:t>
            </a:fld>
            <a:r>
              <a:rPr lang="en-US" sz="708">
                <a:solidFill>
                  <a:schemeClr val="tx1"/>
                </a:solidFill>
                <a:latin typeface="Inter" panose="02000503000000020004" pitchFamily="50" charset="0"/>
                <a:cs typeface="Inter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1446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9B77A6-51DB-A275-1E8D-9C0DB96B9B2E}"/>
              </a:ext>
            </a:extLst>
          </p:cNvPr>
          <p:cNvSpPr/>
          <p:nvPr userDrawn="1"/>
        </p:nvSpPr>
        <p:spPr>
          <a:xfrm>
            <a:off x="0" y="508000"/>
            <a:ext cx="12192000" cy="635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latin typeface="Inter Medium" panose="02000503000000020004" pitchFamily="50" charset="0"/>
            </a:endParaRPr>
          </a:p>
        </p:txBody>
      </p:sp>
      <p:sp>
        <p:nvSpPr>
          <p:cNvPr id="8" name="Text Box 115">
            <a:extLst>
              <a:ext uri="{FF2B5EF4-FFF2-40B4-BE49-F238E27FC236}">
                <a16:creationId xmlns:a16="http://schemas.microsoft.com/office/drawing/2014/main" id="{E509171D-D1E5-AC55-9CA5-72DEBB670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4115" y="174372"/>
            <a:ext cx="219456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r" defTabSz="437692">
              <a:spcBef>
                <a:spcPts val="0"/>
              </a:spcBef>
            </a:pPr>
            <a:fld id="{18E29826-F105-4F77-B977-03F4A4723A21}" type="slidenum">
              <a:rPr lang="en-US" sz="750" b="1" smtClean="0">
                <a:solidFill>
                  <a:schemeClr val="tx1"/>
                </a:solidFill>
                <a:latin typeface="Inter Bold"/>
                <a:ea typeface="Inter Bold"/>
              </a:rPr>
              <a:pPr algn="r" defTabSz="437692">
                <a:spcBef>
                  <a:spcPts val="0"/>
                </a:spcBef>
              </a:pPr>
              <a:t>‹#›</a:t>
            </a:fld>
            <a:endParaRPr lang="en-US" sz="750" b="1">
              <a:solidFill>
                <a:schemeClr val="tx1"/>
              </a:solidFill>
              <a:latin typeface="Inter Bold"/>
              <a:ea typeface="Inter Bold"/>
            </a:endParaRPr>
          </a:p>
        </p:txBody>
      </p:sp>
      <p:pic>
        <p:nvPicPr>
          <p:cNvPr id="12" name="Union" descr="preencoded.png">
            <a:extLst>
              <a:ext uri="{FF2B5EF4-FFF2-40B4-BE49-F238E27FC236}">
                <a16:creationId xmlns:a16="http://schemas.microsoft.com/office/drawing/2014/main" id="{4FB38D83-98DA-D85F-B63C-1565BED26F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9179" y="190696"/>
            <a:ext cx="781843" cy="126608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54F591-DD1D-779B-F521-4357971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91" y="1088266"/>
            <a:ext cx="11407509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MPANY OVERVIEW">
            <a:extLst>
              <a:ext uri="{FF2B5EF4-FFF2-40B4-BE49-F238E27FC236}">
                <a16:creationId xmlns:a16="http://schemas.microsoft.com/office/drawing/2014/main" id="{7B162524-8505-A661-2881-71985958524A}"/>
              </a:ext>
            </a:extLst>
          </p:cNvPr>
          <p:cNvSpPr/>
          <p:nvPr/>
        </p:nvSpPr>
        <p:spPr>
          <a:xfrm>
            <a:off x="3950894" y="203200"/>
            <a:ext cx="429220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50"/>
              </a:lnSpc>
              <a:buNone/>
            </a:pPr>
            <a:r>
              <a:rPr lang="en-US" sz="750" b="1" kern="0" cap="all" spc="140" baseline="0">
                <a:solidFill>
                  <a:schemeClr val="tx1"/>
                </a:solidFill>
                <a:latin typeface="Inter" panose="02000503000000020004" pitchFamily="50" charset="0"/>
                <a:ea typeface="Inter" panose="02000503000000020004" pitchFamily="50" charset="0"/>
                <a:cs typeface="Inter" panose="02000503000000020004" pitchFamily="50" charset="0"/>
              </a:rPr>
              <a:t>TIC AI Services FOR Cost VERIFICATION</a:t>
            </a:r>
            <a:endParaRPr lang="en-US" sz="750" b="1" cap="all" baseline="0">
              <a:solidFill>
                <a:schemeClr val="tx1"/>
              </a:solidFill>
              <a:latin typeface="Inter" panose="02000503000000020004" pitchFamily="50" charset="0"/>
              <a:ea typeface="Inter" panose="02000503000000020004" pitchFamily="50" charset="0"/>
              <a:cs typeface="Inter" panose="02000503000000020004" pitchFamily="50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78D71ED-9D19-C6F9-2CB5-DED660B9B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490" y="2089150"/>
            <a:ext cx="11407510" cy="430212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40BB-194C-8CB0-E91C-E0A8396C52B4}"/>
              </a:ext>
            </a:extLst>
          </p:cNvPr>
          <p:cNvSpPr txBox="1"/>
          <p:nvPr/>
        </p:nvSpPr>
        <p:spPr>
          <a:xfrm>
            <a:off x="10007161" y="6654801"/>
            <a:ext cx="1962149" cy="102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667" b="0">
                <a:solidFill>
                  <a:srgbClr val="B4B0AC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DXC Confidential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39F452-F205-21C0-5578-B7519A84CA15}"/>
              </a:ext>
            </a:extLst>
          </p:cNvPr>
          <p:cNvSpPr txBox="1">
            <a:spLocks/>
          </p:cNvSpPr>
          <p:nvPr userDrawn="1"/>
        </p:nvSpPr>
        <p:spPr>
          <a:xfrm>
            <a:off x="9413660" y="6490228"/>
            <a:ext cx="2555648" cy="146050"/>
          </a:xfrm>
          <a:prstGeom prst="rect">
            <a:avLst/>
          </a:prstGeom>
          <a:noFill/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708">
                <a:solidFill>
                  <a:schemeClr val="tx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© </a:t>
            </a:r>
            <a:fld id="{C0650B53-F5B1-403A-BD70-58B7AE2589AD}" type="datetimeyyyy">
              <a:rPr lang="en-US" sz="708" smtClean="0">
                <a:solidFill>
                  <a:schemeClr val="tx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pPr algn="r"/>
              <a:t>2026</a:t>
            </a:fld>
            <a:r>
              <a:rPr lang="en-US" sz="708">
                <a:solidFill>
                  <a:schemeClr val="tx1"/>
                </a:solidFill>
                <a:latin typeface="Inter Medium" panose="02000503000000020004" pitchFamily="50" charset="0"/>
                <a:cs typeface="Inter Medium" panose="02000503000000020004" pitchFamily="50" charset="0"/>
              </a:rPr>
              <a:t> DXC Technology Company.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751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1" r:id="rId2"/>
    <p:sldLayoutId id="2147483673" r:id="rId3"/>
    <p:sldLayoutId id="2147483682" r:id="rId4"/>
    <p:sldLayoutId id="2147483713" r:id="rId5"/>
  </p:sldLayoutIdLst>
  <p:txStyles>
    <p:titleStyle>
      <a:lvl1pPr algn="l" defTabSz="914327" rtl="0" eaLnBrk="1" latinLnBrk="0" hangingPunct="1">
        <a:lnSpc>
          <a:spcPct val="90000"/>
        </a:lnSpc>
        <a:spcBef>
          <a:spcPct val="0"/>
        </a:spcBef>
        <a:buNone/>
        <a:defRPr sz="2500" kern="1200" cap="all" baseline="0">
          <a:solidFill>
            <a:schemeClr val="tx1"/>
          </a:solidFill>
          <a:latin typeface="GT Standard L Extended" pitchFamily="50" charset="0"/>
          <a:ea typeface="Inter Medium" panose="02000603000000020004" pitchFamily="50" charset="0"/>
          <a:cs typeface="Inter Medium" panose="02000603000000020004" pitchFamily="50" charset="0"/>
        </a:defRPr>
      </a:lvl1pPr>
    </p:titleStyle>
    <p:bodyStyle>
      <a:lvl1pPr marL="0" indent="0" algn="l" defTabSz="914327" rtl="0" eaLnBrk="1" latinLnBrk="0" hangingPunct="1">
        <a:lnSpc>
          <a:spcPct val="100000"/>
        </a:lnSpc>
        <a:spcBef>
          <a:spcPts val="500"/>
        </a:spcBef>
        <a:spcAft>
          <a:spcPts val="333"/>
        </a:spcAft>
        <a:buFont typeface="Arial" panose="020B0604020202020204" pitchFamily="34" charset="0"/>
        <a:buNone/>
        <a:defRPr sz="1333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1pPr>
      <a:lvl2pPr marL="0" indent="0" algn="l" defTabSz="914327" rtl="0" eaLnBrk="1" latinLnBrk="0" hangingPunct="1">
        <a:lnSpc>
          <a:spcPct val="100000"/>
        </a:lnSpc>
        <a:spcBef>
          <a:spcPts val="500"/>
        </a:spcBef>
        <a:spcAft>
          <a:spcPts val="333"/>
        </a:spcAft>
        <a:buFont typeface="Arial" panose="020B0604020202020204" pitchFamily="34" charset="0"/>
        <a:buNone/>
        <a:defRPr sz="1333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2pPr>
      <a:lvl3pPr marL="190484" indent="-190484" algn="l" defTabSz="914327" rtl="0" eaLnBrk="1" latinLnBrk="0" hangingPunct="1">
        <a:lnSpc>
          <a:spcPct val="100000"/>
        </a:lnSpc>
        <a:spcBef>
          <a:spcPts val="500"/>
        </a:spcBef>
        <a:spcAft>
          <a:spcPts val="333"/>
        </a:spcAft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3pPr>
      <a:lvl4pPr marL="431237" indent="-240751" algn="l" defTabSz="914327" rtl="0" eaLnBrk="1" latinLnBrk="0" hangingPunct="1">
        <a:lnSpc>
          <a:spcPct val="100000"/>
        </a:lnSpc>
        <a:spcBef>
          <a:spcPts val="500"/>
        </a:spcBef>
        <a:spcAft>
          <a:spcPts val="333"/>
        </a:spcAft>
        <a:buFont typeface="Arial" panose="020B0604020202020204" pitchFamily="34" charset="0"/>
        <a:buChar char="–"/>
        <a:defRPr sz="1167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4pPr>
      <a:lvl5pPr marL="666697" indent="-227524" algn="l" defTabSz="914327" rtl="0" eaLnBrk="1" latinLnBrk="0" hangingPunct="1">
        <a:lnSpc>
          <a:spcPct val="100000"/>
        </a:lnSpc>
        <a:spcBef>
          <a:spcPts val="500"/>
        </a:spcBef>
        <a:spcAft>
          <a:spcPts val="333"/>
        </a:spcAft>
        <a:buFont typeface="Arial" panose="020B0604020202020204" pitchFamily="34" charset="0"/>
        <a:buChar char="–"/>
        <a:defRPr sz="1167" kern="1200">
          <a:solidFill>
            <a:schemeClr val="tx1"/>
          </a:solidFill>
          <a:latin typeface="Inter Light" panose="02000403000000020004" pitchFamily="50" charset="0"/>
          <a:ea typeface="Inter Light" panose="02000403000000020004" pitchFamily="50" charset="0"/>
          <a:cs typeface="Inter Light" panose="02000403000000020004" pitchFamily="50" charset="0"/>
        </a:defRPr>
      </a:lvl5pPr>
      <a:lvl6pPr marL="2514399" indent="-228582" algn="l" defTabSz="9143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62" indent="-228582" algn="l" defTabSz="9143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6" indent="-228582" algn="l" defTabSz="9143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90" indent="-228582" algn="l" defTabSz="91432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7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0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4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8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0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4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8" algn="l" defTabSz="91432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478">
          <p15:clr>
            <a:srgbClr val="F26B43"/>
          </p15:clr>
        </p15:guide>
        <p15:guide id="2" pos="7963">
          <p15:clr>
            <a:srgbClr val="F26B43"/>
          </p15:clr>
        </p15:guide>
        <p15:guide id="4" pos="15428">
          <p15:clr>
            <a:srgbClr val="F26B43"/>
          </p15:clr>
        </p15:guide>
        <p15:guide id="5" orient="horz" pos="664">
          <p15:clr>
            <a:srgbClr val="F26B43"/>
          </p15:clr>
        </p15:guide>
        <p15:guide id="6" orient="horz" pos="8699">
          <p15:clr>
            <a:srgbClr val="F26B43"/>
          </p15:clr>
        </p15:guide>
        <p15:guide id="7" pos="498">
          <p15:clr>
            <a:srgbClr val="F26B43"/>
          </p15:clr>
        </p15:guide>
        <p15:guide id="8" pos="3173">
          <p15:clr>
            <a:srgbClr val="F26B43"/>
          </p15:clr>
        </p15:guide>
        <p15:guide id="9" pos="3379">
          <p15:clr>
            <a:srgbClr val="F26B43"/>
          </p15:clr>
        </p15:guide>
        <p15:guide id="10" pos="6305">
          <p15:clr>
            <a:srgbClr val="F26B43"/>
          </p15:clr>
        </p15:guide>
        <p15:guide id="11" pos="6511">
          <p15:clr>
            <a:srgbClr val="F26B43"/>
          </p15:clr>
        </p15:guide>
        <p15:guide id="12" pos="9415">
          <p15:clr>
            <a:srgbClr val="F26B43"/>
          </p15:clr>
        </p15:guide>
        <p15:guide id="13" pos="9622">
          <p15:clr>
            <a:srgbClr val="F26B43"/>
          </p15:clr>
        </p15:guide>
        <p15:guide id="14" pos="12526">
          <p15:clr>
            <a:srgbClr val="F26B43"/>
          </p15:clr>
        </p15:guide>
        <p15:guide id="15" pos="12732">
          <p15:clr>
            <a:srgbClr val="F26B43"/>
          </p15:clr>
        </p15:guide>
        <p15:guide id="16" pos="290">
          <p15:clr>
            <a:srgbClr val="F26B43"/>
          </p15:clr>
        </p15:guide>
        <p15:guide id="17" pos="15636">
          <p15:clr>
            <a:srgbClr val="F26B43"/>
          </p15:clr>
        </p15:guide>
        <p15:guide id="18" orient="horz" pos="83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9" Type="http://schemas.openxmlformats.org/officeDocument/2006/relationships/image" Target="../media/image45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87F278D-B7E5-247D-BF63-A3E3FAFFF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Quick overview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A9A9BF-7221-9D0C-4F26-87604F738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TIC Solution walkthrough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B3E2D-C8F9-13D5-2302-26F99DD6986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/>
              <a:t>September 02, 2026	</a:t>
            </a:r>
          </a:p>
        </p:txBody>
      </p:sp>
    </p:spTree>
    <p:extLst>
      <p:ext uri="{BB962C8B-B14F-4D97-AF65-F5344CB8AC3E}">
        <p14:creationId xmlns:p14="http://schemas.microsoft.com/office/powerpoint/2010/main" val="396624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sz="2083">
                <a:solidFill>
                  <a:srgbClr val="0E1020"/>
                </a:solidFill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60" y="144018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144018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00" b="1">
                <a:solidFill>
                  <a:srgbClr val="0E1020"/>
                </a:solidFill>
                <a:latin typeface="Inter Medium"/>
              </a:rPr>
              <a:t>Opportunity background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3860" y="195834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3860" y="209550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09550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How TIC will evaluate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403860" y="2613659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3860" y="275082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75082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Objectives and High-Level Scope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860" y="326898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3860" y="340614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41879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TIC - E2E Cost Verification and assurance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3860" y="3924299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3860" y="406146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074111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Process flow - How the Four Work Together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3860" y="457962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3860" y="471678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4729431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Logical Architecture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3860" y="523494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3860" y="537210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5384751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Technical architecture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3860" y="589026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56960" y="144018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399" y="144018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1200" b="1">
                <a:solidFill>
                  <a:srgbClr val="0E1020"/>
                </a:solidFill>
                <a:latin typeface="Inter Medium"/>
              </a:rPr>
              <a:t>Agents in Action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56960" y="195834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56960" y="209550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399" y="209550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Automation and human-in-the-loop operating model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>
            <a:off x="6156960" y="2613659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56960" y="275082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399" y="275082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1200" b="1">
                <a:solidFill>
                  <a:srgbClr val="0E1020"/>
                </a:solidFill>
                <a:latin typeface="Inter Medium"/>
              </a:rPr>
              <a:t>Implementation approach and timeline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56960" y="326898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56960" y="340614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399" y="3427416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1200" b="1">
                <a:solidFill>
                  <a:srgbClr val="0E1020"/>
                </a:solidFill>
                <a:latin typeface="Inter Medium"/>
              </a:rPr>
              <a:t>Org Structure &amp; Governance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156960" y="3924299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56960" y="406146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399" y="408273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1200" b="1">
                <a:solidFill>
                  <a:srgbClr val="0E1020"/>
                </a:solidFill>
                <a:latin typeface="Inter Medium"/>
              </a:rPr>
              <a:t>Others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56960" y="457962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56960" y="471678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399" y="473805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1200" b="1">
                <a:solidFill>
                  <a:srgbClr val="0E1020"/>
                </a:solidFill>
                <a:latin typeface="Inter Medium"/>
              </a:rPr>
              <a:t>Others</a:t>
            </a:r>
            <a:endParaRPr sz="1200" b="1">
              <a:solidFill>
                <a:srgbClr val="0E1020"/>
              </a:solidFill>
              <a:latin typeface="Inter Medium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6156960" y="523494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156960" y="5372100"/>
            <a:ext cx="4191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7E51"/>
                </a:solidFill>
                <a:latin typeface="Inter Medium"/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399" y="5393377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1200" b="1">
                <a:solidFill>
                  <a:srgbClr val="0E1020"/>
                </a:solidFill>
                <a:latin typeface="Inter Medium"/>
              </a:rPr>
              <a:t>Others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56960" y="5890260"/>
            <a:ext cx="537210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sz="2083">
                <a:solidFill>
                  <a:srgbClr val="0E1020"/>
                </a:solidFill>
              </a:rPr>
              <a:t>Opportunity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64920"/>
            <a:ext cx="11551920" cy="1082040"/>
          </a:xfrm>
          <a:prstGeom prst="roundRect">
            <a:avLst>
              <a:gd name="adj" fmla="val 5000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" name="TextBox 5"/>
          <p:cNvSpPr txBox="1"/>
          <p:nvPr/>
        </p:nvSpPr>
        <p:spPr>
          <a:xfrm>
            <a:off x="518160" y="1386839"/>
            <a:ext cx="35052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E86C1F"/>
                </a:solidFill>
                <a:latin typeface="Inter Medium"/>
              </a:rPr>
              <a:t>WHO WE ARE BIDDING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" y="1554480"/>
            <a:ext cx="3581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Transportation Investment Corporation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" y="1828801"/>
            <a:ext cx="3581400" cy="406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92">
                <a:solidFill>
                  <a:srgbClr val="E7E9F0"/>
                </a:solidFill>
                <a:latin typeface="Inter Light"/>
              </a:rPr>
              <a:t>A B.C. provincial Crown corporation under the Transportation Investment Act, and a subsidiary of the B.C. Transportation Financing Authority since April 2018.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8640" y="1432560"/>
            <a:ext cx="0" cy="746760"/>
          </a:xfrm>
          <a:prstGeom prst="line">
            <a:avLst/>
          </a:prstGeom>
          <a:ln w="9525">
            <a:solidFill>
              <a:srgbClr val="5F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0" y="1417320"/>
            <a:ext cx="182880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2500" b="1">
                <a:solidFill>
                  <a:srgbClr val="E86C1F"/>
                </a:solidFill>
                <a:latin typeface="Inter"/>
              </a:rPr>
              <a:t>$15B+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13561"/>
            <a:ext cx="1981200" cy="267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92">
                <a:solidFill>
                  <a:srgbClr val="FFFFFF"/>
                </a:solidFill>
                <a:latin typeface="Inter Light"/>
              </a:rPr>
              <a:t>of major infrastructure to deliver for the Ministry of Transportation and Transit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1432560"/>
            <a:ext cx="0" cy="746760"/>
          </a:xfrm>
          <a:prstGeom prst="line">
            <a:avLst/>
          </a:prstGeom>
          <a:ln w="9525">
            <a:solidFill>
              <a:srgbClr val="5F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73240" y="1386839"/>
            <a:ext cx="304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E86C1F"/>
                </a:solidFill>
                <a:latin typeface="Inter Medium"/>
              </a:rPr>
              <a:t>THE MANDATE, IN THEIR 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240" y="1539241"/>
            <a:ext cx="4724400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833" b="1">
                <a:solidFill>
                  <a:srgbClr val="FFFFFF"/>
                </a:solidFill>
                <a:latin typeface="Inter Medium"/>
              </a:rPr>
              <a:t>"Enhanced oversight, management and delivery of major capital projects."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3240" y="1798320"/>
            <a:ext cx="1549400" cy="213360"/>
          </a:xfrm>
          <a:prstGeom prst="roundRect">
            <a:avLst>
              <a:gd name="adj" fmla="val 20000"/>
            </a:avLst>
          </a:prstGeom>
          <a:solidFill>
            <a:srgbClr val="E7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6918960" y="1850530"/>
            <a:ext cx="1457960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0E1020"/>
                </a:solidFill>
                <a:latin typeface="Inter Medium"/>
              </a:rPr>
              <a:t>Pattullo Bridge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98840" y="1798320"/>
            <a:ext cx="1549400" cy="213360"/>
          </a:xfrm>
          <a:prstGeom prst="roundRect">
            <a:avLst>
              <a:gd name="adj" fmla="val 20000"/>
            </a:avLst>
          </a:prstGeom>
          <a:solidFill>
            <a:srgbClr val="E7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18" name="TextBox 17"/>
          <p:cNvSpPr txBox="1"/>
          <p:nvPr/>
        </p:nvSpPr>
        <p:spPr>
          <a:xfrm>
            <a:off x="8544560" y="1850530"/>
            <a:ext cx="1457960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0E1020"/>
                </a:solidFill>
                <a:latin typeface="Inter Medium"/>
              </a:rPr>
              <a:t>Broadway Subway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24440" y="1798320"/>
            <a:ext cx="1549400" cy="213360"/>
          </a:xfrm>
          <a:prstGeom prst="roundRect">
            <a:avLst>
              <a:gd name="adj" fmla="val 20000"/>
            </a:avLst>
          </a:prstGeom>
          <a:solidFill>
            <a:srgbClr val="E7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0" name="TextBox 19"/>
          <p:cNvSpPr txBox="1"/>
          <p:nvPr/>
        </p:nvSpPr>
        <p:spPr>
          <a:xfrm>
            <a:off x="10170160" y="1850530"/>
            <a:ext cx="1457960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0E1020"/>
                </a:solidFill>
                <a:latin typeface="Inter Medium"/>
              </a:rPr>
              <a:t>Highway 99 Tunnel Program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3240" y="2042159"/>
            <a:ext cx="1549400" cy="213360"/>
          </a:xfrm>
          <a:prstGeom prst="roundRect">
            <a:avLst>
              <a:gd name="adj" fmla="val 20000"/>
            </a:avLst>
          </a:prstGeom>
          <a:solidFill>
            <a:srgbClr val="E7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2" name="TextBox 21"/>
          <p:cNvSpPr txBox="1"/>
          <p:nvPr/>
        </p:nvSpPr>
        <p:spPr>
          <a:xfrm>
            <a:off x="6918960" y="2094369"/>
            <a:ext cx="1457960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0E1020"/>
                </a:solidFill>
                <a:latin typeface="Inter Medium"/>
              </a:rPr>
              <a:t>Surrey Langley SkyTrain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98840" y="2042159"/>
            <a:ext cx="1549400" cy="213360"/>
          </a:xfrm>
          <a:prstGeom prst="roundRect">
            <a:avLst>
              <a:gd name="adj" fmla="val 20000"/>
            </a:avLst>
          </a:prstGeom>
          <a:solidFill>
            <a:srgbClr val="E7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4" name="TextBox 23"/>
          <p:cNvSpPr txBox="1"/>
          <p:nvPr/>
        </p:nvSpPr>
        <p:spPr>
          <a:xfrm>
            <a:off x="8544560" y="2094369"/>
            <a:ext cx="1457960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0E1020"/>
                </a:solidFill>
                <a:latin typeface="Inter Medium"/>
              </a:rPr>
              <a:t>Belleville Terminal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24440" y="2042159"/>
            <a:ext cx="1549400" cy="213360"/>
          </a:xfrm>
          <a:prstGeom prst="roundRect">
            <a:avLst>
              <a:gd name="adj" fmla="val 20000"/>
            </a:avLst>
          </a:prstGeom>
          <a:solidFill>
            <a:srgbClr val="E7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6" name="TextBox 25"/>
          <p:cNvSpPr txBox="1"/>
          <p:nvPr/>
        </p:nvSpPr>
        <p:spPr>
          <a:xfrm>
            <a:off x="10170160" y="2094369"/>
            <a:ext cx="1457960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0E1020"/>
                </a:solidFill>
                <a:latin typeface="Inter Medium"/>
              </a:rPr>
              <a:t>Collections and Research</a:t>
            </a:r>
          </a:p>
        </p:txBody>
      </p:sp>
      <p:grpSp>
        <p:nvGrpSpPr>
          <p:cNvPr id="33" name="col Why they are here"/>
          <p:cNvGrpSpPr/>
          <p:nvPr/>
        </p:nvGrpSpPr>
        <p:grpSpPr>
          <a:xfrm>
            <a:off x="320040" y="2423160"/>
            <a:ext cx="3749040" cy="2880360"/>
            <a:chOff x="384048" y="2907792"/>
            <a:chExt cx="4498848" cy="3456432"/>
          </a:xfrm>
        </p:grpSpPr>
        <p:sp>
          <p:nvSpPr>
            <p:cNvPr id="27" name="Rounded Rectangle 26"/>
            <p:cNvSpPr/>
            <p:nvPr/>
          </p:nvSpPr>
          <p:spPr>
            <a:xfrm>
              <a:off x="384048" y="2907792"/>
              <a:ext cx="4498848" cy="345643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4048" y="2907792"/>
              <a:ext cx="4498848" cy="82296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9" name="Oval 28"/>
            <p:cNvSpPr/>
            <p:nvPr/>
          </p:nvSpPr>
          <p:spPr>
            <a:xfrm>
              <a:off x="585216" y="3163824"/>
              <a:ext cx="310896" cy="310896"/>
            </a:xfrm>
            <a:prstGeom prst="ellipse">
              <a:avLst/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5216" y="3246938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05840" y="3230766"/>
              <a:ext cx="3675887" cy="2215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lang="en-IN" sz="1200" b="1">
                  <a:solidFill>
                    <a:srgbClr val="C0272D"/>
                  </a:solidFill>
                  <a:latin typeface="Inter Medium"/>
                </a:rPr>
                <a:t>TIC </a:t>
              </a:r>
              <a:r>
                <a:rPr sz="1200" b="1">
                  <a:solidFill>
                    <a:srgbClr val="C0272D"/>
                  </a:solidFill>
                  <a:latin typeface="Inter Medium"/>
                </a:rPr>
                <a:t>CURRENT STATE</a:t>
              </a:r>
              <a:r>
                <a:rPr lang="en-IN" sz="1200" b="1">
                  <a:solidFill>
                    <a:srgbClr val="C0272D"/>
                  </a:solidFill>
                  <a:latin typeface="Inter Medium"/>
                </a:rPr>
                <a:t> CHALLANGES</a:t>
              </a:r>
              <a:endParaRPr sz="1200" b="1">
                <a:solidFill>
                  <a:srgbClr val="C0272D"/>
                </a:solidFill>
                <a:latin typeface="Inter Medium"/>
              </a:endParaRPr>
            </a:p>
          </p:txBody>
        </p:sp>
      </p:grpSp>
      <p:sp>
        <p:nvSpPr>
          <p:cNvPr id="34" name="Rounded Rectangle 33"/>
          <p:cNvSpPr/>
          <p:nvPr/>
        </p:nvSpPr>
        <p:spPr>
          <a:xfrm>
            <a:off x="502919" y="3181350"/>
            <a:ext cx="68580" cy="68580"/>
          </a:xfrm>
          <a:prstGeom prst="roundRect">
            <a:avLst>
              <a:gd name="adj" fmla="val 2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5" name="TextBox 34"/>
          <p:cNvSpPr txBox="1"/>
          <p:nvPr/>
        </p:nvSpPr>
        <p:spPr>
          <a:xfrm>
            <a:off x="670559" y="3139440"/>
            <a:ext cx="3230880" cy="419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Verification is manual — every invoice cross-referenced against contracts, amendments, rate cards and schedules, in inconsistent formats.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19" y="3662362"/>
            <a:ext cx="68580" cy="68580"/>
          </a:xfrm>
          <a:prstGeom prst="roundRect">
            <a:avLst>
              <a:gd name="adj" fmla="val 2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7" name="TextBox 36"/>
          <p:cNvSpPr txBox="1"/>
          <p:nvPr/>
        </p:nvSpPr>
        <p:spPr>
          <a:xfrm>
            <a:off x="670559" y="3620453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Extended review cycles, and limited scalability as the programme grows.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19" y="4028757"/>
            <a:ext cx="68580" cy="68580"/>
          </a:xfrm>
          <a:prstGeom prst="roundRect">
            <a:avLst>
              <a:gd name="adj" fmla="val 2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9" name="TextBox 38"/>
          <p:cNvSpPr txBox="1"/>
          <p:nvPr/>
        </p:nvSpPr>
        <p:spPr>
          <a:xfrm>
            <a:off x="670559" y="3986847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Inconsistent outcomes — individual judgement rather than standardised controls.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19" y="4395152"/>
            <a:ext cx="68580" cy="68580"/>
          </a:xfrm>
          <a:prstGeom prst="roundRect">
            <a:avLst>
              <a:gd name="adj" fmla="val 2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1" name="TextBox 40"/>
          <p:cNvSpPr txBox="1"/>
          <p:nvPr/>
        </p:nvSpPr>
        <p:spPr>
          <a:xfrm>
            <a:off x="670559" y="4353242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Value leakage: overbilling, duplicate charges, non-compliant costs.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19" y="4761547"/>
            <a:ext cx="68580" cy="68580"/>
          </a:xfrm>
          <a:prstGeom prst="roundRect">
            <a:avLst>
              <a:gd name="adj" fmla="val 2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3" name="TextBox 42"/>
          <p:cNvSpPr txBox="1"/>
          <p:nvPr/>
        </p:nvSpPr>
        <p:spPr>
          <a:xfrm>
            <a:off x="670559" y="4719637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Systems process transactions but never validate against contract terms, and give no audit-ready traceability.</a:t>
            </a:r>
          </a:p>
        </p:txBody>
      </p:sp>
      <p:grpSp>
        <p:nvGrpSpPr>
          <p:cNvPr id="50" name="col What good looks like"/>
          <p:cNvGrpSpPr/>
          <p:nvPr/>
        </p:nvGrpSpPr>
        <p:grpSpPr>
          <a:xfrm>
            <a:off x="4221480" y="2423160"/>
            <a:ext cx="3749040" cy="2880360"/>
            <a:chOff x="5065776" y="2907792"/>
            <a:chExt cx="4498848" cy="3456432"/>
          </a:xfrm>
        </p:grpSpPr>
        <p:sp>
          <p:nvSpPr>
            <p:cNvPr id="44" name="Rounded Rectangle 43"/>
            <p:cNvSpPr/>
            <p:nvPr/>
          </p:nvSpPr>
          <p:spPr>
            <a:xfrm>
              <a:off x="5065776" y="2907792"/>
              <a:ext cx="4498848" cy="345643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065776" y="2907792"/>
              <a:ext cx="4498848" cy="8229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6" name="Oval 45"/>
            <p:cNvSpPr/>
            <p:nvPr/>
          </p:nvSpPr>
          <p:spPr>
            <a:xfrm>
              <a:off x="5266944" y="3163824"/>
              <a:ext cx="310896" cy="310896"/>
            </a:xfrm>
            <a:prstGeom prst="ellipse">
              <a:avLst/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66944" y="3246938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87569" y="3230304"/>
              <a:ext cx="3675887" cy="2215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lang="en-IN" sz="1200" b="1">
                  <a:solidFill>
                    <a:srgbClr val="004AAC"/>
                  </a:solidFill>
                  <a:latin typeface="Inter Medium"/>
                </a:rPr>
                <a:t>TIC OBJECTIVES</a:t>
              </a:r>
              <a:endParaRPr sz="1200" b="1">
                <a:solidFill>
                  <a:srgbClr val="004AAC"/>
                </a:solidFill>
                <a:latin typeface="Inter Medium"/>
              </a:endParaRPr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4404360" y="3181350"/>
            <a:ext cx="68580" cy="68580"/>
          </a:xfrm>
          <a:prstGeom prst="roundRect">
            <a:avLst>
              <a:gd name="adj" fmla="val 2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2" name="TextBox 51"/>
          <p:cNvSpPr txBox="1"/>
          <p:nvPr/>
        </p:nvSpPr>
        <p:spPr>
          <a:xfrm>
            <a:off x="4572000" y="3139440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Transparency of reported cost under a target price payment regime.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04360" y="3547745"/>
            <a:ext cx="68580" cy="68580"/>
          </a:xfrm>
          <a:prstGeom prst="roundRect">
            <a:avLst>
              <a:gd name="adj" fmla="val 2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4" name="TextBox 53"/>
          <p:cNvSpPr txBox="1"/>
          <p:nvPr/>
        </p:nvSpPr>
        <p:spPr>
          <a:xfrm>
            <a:off x="4572000" y="3505835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Reliable verification of cost actually incurred.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04360" y="3914139"/>
            <a:ext cx="68580" cy="68580"/>
          </a:xfrm>
          <a:prstGeom prst="roundRect">
            <a:avLst>
              <a:gd name="adj" fmla="val 2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6" name="TextBox 55"/>
          <p:cNvSpPr txBox="1"/>
          <p:nvPr/>
        </p:nvSpPr>
        <p:spPr>
          <a:xfrm>
            <a:off x="4572000" y="3872229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Early detection of anomalies, irregularities and emerging overruns.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04360" y="4280534"/>
            <a:ext cx="68580" cy="68580"/>
          </a:xfrm>
          <a:prstGeom prst="roundRect">
            <a:avLst>
              <a:gd name="adj" fmla="val 2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8" name="TextBox 57"/>
          <p:cNvSpPr txBox="1"/>
          <p:nvPr/>
        </p:nvSpPr>
        <p:spPr>
          <a:xfrm>
            <a:off x="4572000" y="4238624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Independent, evidence-based assurance for the governance bodies.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04360" y="4646929"/>
            <a:ext cx="68580" cy="68580"/>
          </a:xfrm>
          <a:prstGeom prst="roundRect">
            <a:avLst>
              <a:gd name="adj" fmla="val 2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0" name="TextBox 59"/>
          <p:cNvSpPr txBox="1"/>
          <p:nvPr/>
        </p:nvSpPr>
        <p:spPr>
          <a:xfrm>
            <a:off x="4572000" y="4605019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Manual effort minimised through automation, analytics and AI.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04360" y="5013324"/>
            <a:ext cx="68580" cy="68580"/>
          </a:xfrm>
          <a:prstGeom prst="roundRect">
            <a:avLst>
              <a:gd name="adj" fmla="val 2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2" name="TextBox 61"/>
          <p:cNvSpPr txBox="1"/>
          <p:nvPr/>
        </p:nvSpPr>
        <p:spPr>
          <a:xfrm>
            <a:off x="4572000" y="4971414"/>
            <a:ext cx="3230880" cy="132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Payment decisions that are timely, defensible and documented.</a:t>
            </a:r>
          </a:p>
        </p:txBody>
      </p:sp>
      <p:grpSp>
        <p:nvGrpSpPr>
          <p:cNvPr id="69" name="col What they expect from us"/>
          <p:cNvGrpSpPr/>
          <p:nvPr/>
        </p:nvGrpSpPr>
        <p:grpSpPr>
          <a:xfrm>
            <a:off x="8122920" y="2423160"/>
            <a:ext cx="3749040" cy="2880360"/>
            <a:chOff x="9747504" y="2907792"/>
            <a:chExt cx="4498848" cy="3456432"/>
          </a:xfrm>
        </p:grpSpPr>
        <p:sp>
          <p:nvSpPr>
            <p:cNvPr id="63" name="Rounded Rectangle 62"/>
            <p:cNvSpPr/>
            <p:nvPr/>
          </p:nvSpPr>
          <p:spPr>
            <a:xfrm>
              <a:off x="9747504" y="2907792"/>
              <a:ext cx="4498848" cy="345643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747504" y="2907792"/>
              <a:ext cx="4498848" cy="82296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Oval 64"/>
            <p:cNvSpPr/>
            <p:nvPr/>
          </p:nvSpPr>
          <p:spPr>
            <a:xfrm>
              <a:off x="9948672" y="3163824"/>
              <a:ext cx="310896" cy="310896"/>
            </a:xfrm>
            <a:prstGeom prst="ellipse">
              <a:avLst/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948672" y="3246938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369297" y="3206186"/>
              <a:ext cx="3675887" cy="2215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lang="en-IN" sz="1200" b="1">
                  <a:solidFill>
                    <a:srgbClr val="E86C1F"/>
                  </a:solidFill>
                  <a:latin typeface="Inter Medium"/>
                </a:rPr>
                <a:t>TIC EXPECTATION FROM DXC</a:t>
              </a:r>
              <a:endParaRPr sz="1200" b="1">
                <a:solidFill>
                  <a:srgbClr val="E86C1F"/>
                </a:solidFill>
                <a:latin typeface="Inter Medium"/>
              </a:endParaRPr>
            </a:p>
          </p:txBody>
        </p:sp>
      </p:grpSp>
      <p:sp>
        <p:nvSpPr>
          <p:cNvPr id="70" name="Rounded Rectangle 69"/>
          <p:cNvSpPr/>
          <p:nvPr/>
        </p:nvSpPr>
        <p:spPr>
          <a:xfrm>
            <a:off x="8305800" y="3181350"/>
            <a:ext cx="68580" cy="68580"/>
          </a:xfrm>
          <a:prstGeom prst="roundRect">
            <a:avLst>
              <a:gd name="adj" fmla="val 2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1" name="TextBox 70"/>
          <p:cNvSpPr txBox="1"/>
          <p:nvPr/>
        </p:nvSpPr>
        <p:spPr>
          <a:xfrm>
            <a:off x="8473440" y="3139440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The AI tool is the primary engine — expertise supports it, not the reverse.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05800" y="3547745"/>
            <a:ext cx="68580" cy="68580"/>
          </a:xfrm>
          <a:prstGeom prst="roundRect">
            <a:avLst>
              <a:gd name="adj" fmla="val 2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3" name="TextBox 72"/>
          <p:cNvSpPr txBox="1"/>
          <p:nvPr/>
        </p:nvSpPr>
        <p:spPr>
          <a:xfrm>
            <a:off x="8473440" y="3505835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A managed service: the Proponent operates the platform and tooling; TI Corp owns the data and consumes the outputs.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05800" y="4028757"/>
            <a:ext cx="68580" cy="68580"/>
          </a:xfrm>
          <a:prstGeom prst="roundRect">
            <a:avLst>
              <a:gd name="adj" fmla="val 2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5" name="TextBox 74"/>
          <p:cNvSpPr txBox="1"/>
          <p:nvPr/>
        </p:nvSpPr>
        <p:spPr>
          <a:xfrm>
            <a:off x="8473440" y="3986847"/>
            <a:ext cx="3230880" cy="4198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Major project credentials, not payment processing alone — commercial management, dispute and fraud investigation, contract interpretation.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05800" y="4624387"/>
            <a:ext cx="68580" cy="68580"/>
          </a:xfrm>
          <a:prstGeom prst="roundRect">
            <a:avLst>
              <a:gd name="adj" fmla="val 2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7" name="TextBox 76"/>
          <p:cNvSpPr txBox="1"/>
          <p:nvPr/>
        </p:nvSpPr>
        <p:spPr>
          <a:xfrm>
            <a:off x="8473440" y="4582477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Traceable AI: every output tied to its data, rules and clauses, with a readable reason for each flag.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05800" y="5105399"/>
            <a:ext cx="68580" cy="68580"/>
          </a:xfrm>
          <a:prstGeom prst="roundRect">
            <a:avLst>
              <a:gd name="adj" fmla="val 2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9" name="TextBox 78"/>
          <p:cNvSpPr txBox="1"/>
          <p:nvPr/>
        </p:nvSpPr>
        <p:spPr>
          <a:xfrm>
            <a:off x="8473440" y="5063489"/>
            <a:ext cx="3230880" cy="27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167"/>
              </a:spcAft>
            </a:pPr>
            <a:r>
              <a:rPr sz="792">
                <a:solidFill>
                  <a:srgbClr val="2B2E3B"/>
                </a:solidFill>
                <a:latin typeface="Inter Light"/>
              </a:rPr>
              <a:t>Approval, payment authorisation and contract interpretation stay with them.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" y="5379720"/>
            <a:ext cx="11551920" cy="716280"/>
          </a:xfrm>
          <a:prstGeom prst="roundRect">
            <a:avLst>
              <a:gd name="adj" fmla="val 5000"/>
            </a:avLst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1" name="Rounded Rectangle 80"/>
          <p:cNvSpPr/>
          <p:nvPr/>
        </p:nvSpPr>
        <p:spPr>
          <a:xfrm>
            <a:off x="320040" y="5379720"/>
            <a:ext cx="68580" cy="71628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2" name="TextBox 81"/>
          <p:cNvSpPr txBox="1"/>
          <p:nvPr/>
        </p:nvSpPr>
        <p:spPr>
          <a:xfrm>
            <a:off x="533400" y="5501640"/>
            <a:ext cx="1905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2E7D52"/>
                </a:solidFill>
                <a:latin typeface="Inter Medium"/>
              </a:rPr>
              <a:t>HOW IT IS WON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3400" y="5684521"/>
            <a:ext cx="19812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0E1020"/>
                </a:solidFill>
                <a:latin typeface="Inter"/>
              </a:rPr>
              <a:t>The shape of the deal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758440" y="5501640"/>
            <a:ext cx="0" cy="472440"/>
          </a:xfrm>
          <a:prstGeom prst="line">
            <a:avLst/>
          </a:prstGeom>
          <a:ln w="9525">
            <a:solidFill>
              <a:srgbClr val="D5D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stat 270 pts"/>
          <p:cNvGrpSpPr/>
          <p:nvPr/>
        </p:nvGrpSpPr>
        <p:grpSpPr>
          <a:xfrm>
            <a:off x="2956560" y="5471158"/>
            <a:ext cx="2065020" cy="538795"/>
            <a:chOff x="3547872" y="6565392"/>
            <a:chExt cx="2478024" cy="646554"/>
          </a:xfrm>
        </p:grpSpPr>
        <p:sp>
          <p:nvSpPr>
            <p:cNvPr id="85" name="TextBox 84"/>
            <p:cNvSpPr txBox="1"/>
            <p:nvPr/>
          </p:nvSpPr>
          <p:spPr>
            <a:xfrm>
              <a:off x="3547872" y="6565392"/>
              <a:ext cx="2478024" cy="292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583" b="1">
                  <a:solidFill>
                    <a:srgbClr val="004AAC"/>
                  </a:solidFill>
                  <a:latin typeface="Inter"/>
                </a:rPr>
                <a:t>270 pts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547872" y="6912864"/>
              <a:ext cx="2478024" cy="299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Stage 2 — 150 for requirements, 120 for total cost of ownership</a:t>
              </a:r>
            </a:p>
          </p:txBody>
        </p:sp>
      </p:grpSp>
      <p:grpSp>
        <p:nvGrpSpPr>
          <p:cNvPr id="90" name="stat 50 pts"/>
          <p:cNvGrpSpPr/>
          <p:nvPr/>
        </p:nvGrpSpPr>
        <p:grpSpPr>
          <a:xfrm>
            <a:off x="5189220" y="5471158"/>
            <a:ext cx="2065020" cy="538795"/>
            <a:chOff x="6227064" y="6565392"/>
            <a:chExt cx="2478024" cy="646554"/>
          </a:xfrm>
        </p:grpSpPr>
        <p:sp>
          <p:nvSpPr>
            <p:cNvPr id="88" name="TextBox 87"/>
            <p:cNvSpPr txBox="1"/>
            <p:nvPr/>
          </p:nvSpPr>
          <p:spPr>
            <a:xfrm>
              <a:off x="6227064" y="6565392"/>
              <a:ext cx="2478024" cy="292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583" b="1">
                  <a:solidFill>
                    <a:srgbClr val="7A4A2B"/>
                  </a:solidFill>
                  <a:latin typeface="Inter"/>
                </a:rPr>
                <a:t>50 pts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227064" y="6912864"/>
              <a:ext cx="2478024" cy="299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Stage 3 — in-person scenario demonstration in Vancouver</a:t>
              </a:r>
            </a:p>
          </p:txBody>
        </p:sp>
      </p:grpSp>
      <p:grpSp>
        <p:nvGrpSpPr>
          <p:cNvPr id="93" name="stat 70%"/>
          <p:cNvGrpSpPr/>
          <p:nvPr/>
        </p:nvGrpSpPr>
        <p:grpSpPr>
          <a:xfrm>
            <a:off x="7421880" y="5471158"/>
            <a:ext cx="2065020" cy="538795"/>
            <a:chOff x="8906256" y="6565392"/>
            <a:chExt cx="2478024" cy="646554"/>
          </a:xfrm>
        </p:grpSpPr>
        <p:sp>
          <p:nvSpPr>
            <p:cNvPr id="91" name="TextBox 90"/>
            <p:cNvSpPr txBox="1"/>
            <p:nvPr/>
          </p:nvSpPr>
          <p:spPr>
            <a:xfrm>
              <a:off x="8906256" y="6565392"/>
              <a:ext cx="2478024" cy="292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583" b="1">
                  <a:solidFill>
                    <a:srgbClr val="C0272D"/>
                  </a:solidFill>
                  <a:latin typeface="Inter"/>
                </a:rPr>
                <a:t>70%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8906256" y="6912864"/>
              <a:ext cx="2478024" cy="299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Minimum on both the technical and non-technical components</a:t>
              </a:r>
            </a:p>
          </p:txBody>
        </p:sp>
      </p:grpSp>
      <p:grpSp>
        <p:nvGrpSpPr>
          <p:cNvPr id="96" name="stat 1 year"/>
          <p:cNvGrpSpPr/>
          <p:nvPr/>
        </p:nvGrpSpPr>
        <p:grpSpPr>
          <a:xfrm>
            <a:off x="9654540" y="5471158"/>
            <a:ext cx="2065020" cy="538795"/>
            <a:chOff x="11585448" y="6565392"/>
            <a:chExt cx="2478024" cy="646554"/>
          </a:xfrm>
        </p:grpSpPr>
        <p:sp>
          <p:nvSpPr>
            <p:cNvPr id="94" name="TextBox 93"/>
            <p:cNvSpPr txBox="1"/>
            <p:nvPr/>
          </p:nvSpPr>
          <p:spPr>
            <a:xfrm>
              <a:off x="11585448" y="6565392"/>
              <a:ext cx="2478024" cy="2923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583" b="1">
                  <a:solidFill>
                    <a:srgbClr val="2E7D52"/>
                  </a:solidFill>
                  <a:latin typeface="Inter"/>
                </a:rPr>
                <a:t>1 year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1585448" y="6912864"/>
              <a:ext cx="2478024" cy="299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2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Initial term, priced fixed, with TI Corp holding the option to extend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281940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2400">
                <a:solidFill>
                  <a:srgbClr val="0E1020"/>
                </a:solidFill>
                <a:latin typeface="GT Standard L Expanded" pitchFamily="2" charset="0"/>
              </a:rPr>
              <a:t>How TIC will evaluate</a:t>
            </a:r>
            <a:endParaRPr sz="2400">
              <a:solidFill>
                <a:srgbClr val="0E1020"/>
              </a:solidFill>
              <a:latin typeface="GT Standard L Expanded" pitchFamily="2" charset="0"/>
            </a:endParaRPr>
          </a:p>
        </p:txBody>
      </p:sp>
      <p:grpSp>
        <p:nvGrpSpPr>
          <p:cNvPr id="10" name="stage Stage 1"/>
          <p:cNvGrpSpPr/>
          <p:nvPr/>
        </p:nvGrpSpPr>
        <p:grpSpPr>
          <a:xfrm>
            <a:off x="320040" y="762000"/>
            <a:ext cx="2682240" cy="594360"/>
            <a:chOff x="384048" y="914400"/>
            <a:chExt cx="3218688" cy="713232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914400"/>
              <a:ext cx="3218688" cy="713232"/>
            </a:xfrm>
            <a:prstGeom prst="roundRect">
              <a:avLst>
                <a:gd name="adj" fmla="val 4000"/>
              </a:avLst>
            </a:prstGeom>
            <a:solidFill>
              <a:srgbClr val="EFEDEA"/>
            </a:solidFill>
            <a:ln w="12700">
              <a:solidFill>
                <a:srgbClr val="5F63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12064" y="969264"/>
              <a:ext cx="296265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STAGE 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2064" y="1143000"/>
              <a:ext cx="2212848" cy="176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58" b="1">
                  <a:solidFill>
                    <a:srgbClr val="0E1020"/>
                  </a:solidFill>
                  <a:latin typeface="Inter Medium"/>
                </a:rPr>
                <a:t>Mandatory requirements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12064" y="1371600"/>
              <a:ext cx="22128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Pass or fail — Appendix 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70048" y="1097280"/>
              <a:ext cx="804672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250" b="1">
                  <a:solidFill>
                    <a:srgbClr val="5F6372"/>
                  </a:solidFill>
                  <a:latin typeface="Inter"/>
                </a:rPr>
                <a:t>GATE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048000" y="944880"/>
            <a:ext cx="1828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250" b="1">
                <a:solidFill>
                  <a:srgbClr val="DFDBD6"/>
                </a:solidFill>
                <a:latin typeface="Inter Medium"/>
              </a:rPr>
              <a:t>&gt;</a:t>
            </a:r>
          </a:p>
        </p:txBody>
      </p:sp>
      <p:grpSp>
        <p:nvGrpSpPr>
          <p:cNvPr id="17" name="stage Stage 2"/>
          <p:cNvGrpSpPr/>
          <p:nvPr/>
        </p:nvGrpSpPr>
        <p:grpSpPr>
          <a:xfrm>
            <a:off x="3276600" y="762000"/>
            <a:ext cx="2682240" cy="594360"/>
            <a:chOff x="3931920" y="914400"/>
            <a:chExt cx="3218688" cy="713232"/>
          </a:xfrm>
        </p:grpSpPr>
        <p:sp>
          <p:nvSpPr>
            <p:cNvPr id="12" name="Rounded Rectangle 11"/>
            <p:cNvSpPr/>
            <p:nvPr/>
          </p:nvSpPr>
          <p:spPr>
            <a:xfrm>
              <a:off x="3931920" y="914400"/>
              <a:ext cx="3218688" cy="713232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059935" y="969264"/>
              <a:ext cx="296265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04AAC"/>
                  </a:solidFill>
                  <a:latin typeface="Inter Medium"/>
                </a:rPr>
                <a:t>STAGE 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59935" y="1143000"/>
              <a:ext cx="2212848" cy="176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58" b="1">
                  <a:solidFill>
                    <a:srgbClr val="0E1020"/>
                  </a:solidFill>
                  <a:latin typeface="Inter Medium"/>
                </a:rPr>
                <a:t>Weighted criteria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59935" y="1371600"/>
              <a:ext cx="22128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270 points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217920" y="1097280"/>
              <a:ext cx="804672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250" b="1">
                  <a:solidFill>
                    <a:srgbClr val="004AAC"/>
                  </a:solidFill>
                  <a:latin typeface="Inter"/>
                </a:rPr>
                <a:t>270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004560" y="944880"/>
            <a:ext cx="1828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250" b="1">
                <a:solidFill>
                  <a:srgbClr val="DFDBD6"/>
                </a:solidFill>
                <a:latin typeface="Inter Medium"/>
              </a:rPr>
              <a:t>&gt;</a:t>
            </a:r>
          </a:p>
        </p:txBody>
      </p:sp>
      <p:grpSp>
        <p:nvGrpSpPr>
          <p:cNvPr id="24" name="stage Stage 3"/>
          <p:cNvGrpSpPr/>
          <p:nvPr/>
        </p:nvGrpSpPr>
        <p:grpSpPr>
          <a:xfrm>
            <a:off x="6233160" y="762000"/>
            <a:ext cx="2682240" cy="594360"/>
            <a:chOff x="7479792" y="914400"/>
            <a:chExt cx="3218688" cy="713232"/>
          </a:xfrm>
        </p:grpSpPr>
        <p:sp>
          <p:nvSpPr>
            <p:cNvPr id="19" name="Rounded Rectangle 18"/>
            <p:cNvSpPr/>
            <p:nvPr/>
          </p:nvSpPr>
          <p:spPr>
            <a:xfrm>
              <a:off x="7479792" y="914400"/>
              <a:ext cx="3218688" cy="713232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607808" y="969264"/>
              <a:ext cx="296265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2E7D52"/>
                  </a:solidFill>
                  <a:latin typeface="Inter Medium"/>
                </a:rPr>
                <a:t>STAGE 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07807" y="1143000"/>
              <a:ext cx="2776595" cy="176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58" b="1">
                  <a:solidFill>
                    <a:srgbClr val="0E1020"/>
                  </a:solidFill>
                  <a:latin typeface="Inter Medium"/>
                </a:rPr>
                <a:t>Demonstration</a:t>
              </a:r>
              <a:r>
                <a:rPr lang="en-IN" sz="958" b="1">
                  <a:solidFill>
                    <a:srgbClr val="0E1020"/>
                  </a:solidFill>
                  <a:latin typeface="Inter Medium"/>
                </a:rPr>
                <a:t> (Customer Orals)</a:t>
              </a:r>
              <a:endParaRPr sz="958" b="1">
                <a:solidFill>
                  <a:srgbClr val="0E1020"/>
                </a:solidFill>
                <a:latin typeface="Inter Medium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07808" y="1371600"/>
              <a:ext cx="22128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Top 3 proponents, 50 points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765792" y="1097280"/>
              <a:ext cx="804672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250" b="1">
                  <a:solidFill>
                    <a:srgbClr val="2E7D52"/>
                  </a:solidFill>
                  <a:latin typeface="Inter"/>
                </a:rPr>
                <a:t>50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8961120" y="944880"/>
            <a:ext cx="1828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250" b="1">
                <a:solidFill>
                  <a:srgbClr val="DFDBD6"/>
                </a:solidFill>
                <a:latin typeface="Inter Medium"/>
              </a:rPr>
              <a:t>&gt;</a:t>
            </a:r>
          </a:p>
        </p:txBody>
      </p:sp>
      <p:grpSp>
        <p:nvGrpSpPr>
          <p:cNvPr id="31" name="stage Stage 4"/>
          <p:cNvGrpSpPr/>
          <p:nvPr/>
        </p:nvGrpSpPr>
        <p:grpSpPr>
          <a:xfrm>
            <a:off x="9189720" y="762000"/>
            <a:ext cx="2682240" cy="594360"/>
            <a:chOff x="11027664" y="914400"/>
            <a:chExt cx="3218688" cy="713232"/>
          </a:xfrm>
        </p:grpSpPr>
        <p:sp>
          <p:nvSpPr>
            <p:cNvPr id="26" name="Rounded Rectangle 25"/>
            <p:cNvSpPr/>
            <p:nvPr/>
          </p:nvSpPr>
          <p:spPr>
            <a:xfrm>
              <a:off x="11027664" y="914400"/>
              <a:ext cx="3218688" cy="713232"/>
            </a:xfrm>
            <a:prstGeom prst="roundRect">
              <a:avLst>
                <a:gd name="adj" fmla="val 4000"/>
              </a:avLst>
            </a:prstGeom>
            <a:solidFill>
              <a:srgbClr val="F2EAE3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155680" y="969264"/>
              <a:ext cx="296265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7A4A2B"/>
                  </a:solidFill>
                  <a:latin typeface="Inter Medium"/>
                </a:rPr>
                <a:t>STAGE 4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1155680" y="1143000"/>
              <a:ext cx="2212848" cy="176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58" b="1">
                  <a:solidFill>
                    <a:srgbClr val="0E1020"/>
                  </a:solidFill>
                  <a:latin typeface="Inter Medium"/>
                </a:rPr>
                <a:t>Reference check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155680" y="1371600"/>
              <a:ext cx="22128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Proponent and named resources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3313664" y="1097280"/>
              <a:ext cx="804672" cy="2308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250" b="1">
                  <a:solidFill>
                    <a:srgbClr val="7A4A2B"/>
                  </a:solidFill>
                  <a:latin typeface="Inter"/>
                </a:rPr>
                <a:t>—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20040" y="150876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5F6372"/>
                </a:solidFill>
                <a:latin typeface="Inter Medium"/>
              </a:rPr>
              <a:t>WHERE THE 270 STAGE 2 POINTS SIT</a:t>
            </a:r>
          </a:p>
        </p:txBody>
      </p:sp>
      <p:grpSp>
        <p:nvGrpSpPr>
          <p:cNvPr id="39" name="points bar"/>
          <p:cNvGrpSpPr/>
          <p:nvPr/>
        </p:nvGrpSpPr>
        <p:grpSpPr>
          <a:xfrm>
            <a:off x="320040" y="1691640"/>
            <a:ext cx="11551920" cy="304800"/>
            <a:chOff x="384048" y="2029968"/>
            <a:chExt cx="13862304" cy="365760"/>
          </a:xfrm>
        </p:grpSpPr>
        <p:sp>
          <p:nvSpPr>
            <p:cNvPr id="33" name="Rounded Rectangle 32"/>
            <p:cNvSpPr/>
            <p:nvPr/>
          </p:nvSpPr>
          <p:spPr>
            <a:xfrm>
              <a:off x="384048" y="2029968"/>
              <a:ext cx="3850640" cy="365760"/>
            </a:xfrm>
            <a:prstGeom prst="roundRect">
              <a:avLst>
                <a:gd name="adj" fmla="val 2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12064" y="2135942"/>
              <a:ext cx="359460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Non-Technical  75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234688" y="2029968"/>
              <a:ext cx="3850640" cy="365760"/>
            </a:xfrm>
            <a:prstGeom prst="roundRect">
              <a:avLst>
                <a:gd name="adj" fmla="val 2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62704" y="2135942"/>
              <a:ext cx="359460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Technical  75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8085328" y="2029968"/>
              <a:ext cx="6161024" cy="365760"/>
            </a:xfrm>
            <a:prstGeom prst="roundRect">
              <a:avLst>
                <a:gd name="adj" fmla="val 2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13344" y="2135942"/>
              <a:ext cx="5904992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Pricing — Total Cost of Ownership  120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320040" y="2026920"/>
            <a:ext cx="11551920" cy="121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92" b="1">
                <a:solidFill>
                  <a:srgbClr val="E86C1F"/>
                </a:solidFill>
                <a:latin typeface="Inter Medium"/>
              </a:rPr>
              <a:t>Pricing alone is 44 per cent of Stage 2 — more than the whole technical response. Total cost of ownership decides this bid as much as the solution does.</a:t>
            </a:r>
          </a:p>
        </p:txBody>
      </p:sp>
      <p:grpSp>
        <p:nvGrpSpPr>
          <p:cNvPr id="69" name="col"/>
          <p:cNvGrpSpPr/>
          <p:nvPr/>
        </p:nvGrpSpPr>
        <p:grpSpPr>
          <a:xfrm>
            <a:off x="320040" y="2194561"/>
            <a:ext cx="3581400" cy="3063239"/>
            <a:chOff x="384048" y="2633472"/>
            <a:chExt cx="4297680" cy="3675887"/>
          </a:xfrm>
        </p:grpSpPr>
        <p:sp>
          <p:nvSpPr>
            <p:cNvPr id="41" name="Rounded Rectangle 40"/>
            <p:cNvSpPr/>
            <p:nvPr/>
          </p:nvSpPr>
          <p:spPr>
            <a:xfrm>
              <a:off x="384048" y="2633472"/>
              <a:ext cx="4297680" cy="367588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84048" y="2633472"/>
              <a:ext cx="4297680" cy="402336"/>
            </a:xfrm>
            <a:prstGeom prst="roundRect">
              <a:avLst>
                <a:gd name="adj" fmla="val 4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84048" y="2889504"/>
              <a:ext cx="4297680" cy="146304"/>
            </a:xfrm>
            <a:prstGeom prst="roundRect">
              <a:avLst>
                <a:gd name="adj" fmla="val 6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30352" y="2742307"/>
              <a:ext cx="3200400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00" b="1">
                  <a:solidFill>
                    <a:srgbClr val="FFFFFF"/>
                  </a:solidFill>
                  <a:latin typeface="Inter Medium"/>
                </a:rPr>
                <a:t>Non-Technical Component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675887" y="2738420"/>
              <a:ext cx="859536" cy="1924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042" b="1">
                  <a:solidFill>
                    <a:srgbClr val="FFFFFF"/>
                  </a:solidFill>
                  <a:latin typeface="Inter"/>
                </a:rPr>
                <a:t>75 pts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1792" y="3174485"/>
              <a:ext cx="2377440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Experience and Qualification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163824" y="3200400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163824" y="3200400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42816" y="3169213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25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30352" y="3419856"/>
              <a:ext cx="329184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BUSINESS REQUIREMENTS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749039" y="3410712"/>
              <a:ext cx="786384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5F6372"/>
                  </a:solidFill>
                  <a:latin typeface="Inter Medium"/>
                </a:rPr>
                <a:t>50</a:t>
              </a:r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530352" y="3621024"/>
              <a:ext cx="400507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621792" y="3683641"/>
              <a:ext cx="2377440" cy="29539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Automated, continuous cost verification and analysis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3163824" y="3785616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3163824" y="3785616"/>
              <a:ext cx="804672" cy="91440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242816" y="3754429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20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21792" y="4107173"/>
              <a:ext cx="2377440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Invoice and ledger automation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3163824" y="413308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3163824" y="4133088"/>
              <a:ext cx="603504" cy="91440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242816" y="410190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15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21792" y="4454645"/>
              <a:ext cx="2377440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Change order management and validation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3163824" y="4480560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3163824" y="4480560"/>
              <a:ext cx="402336" cy="91440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242816" y="4449373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10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21792" y="4726057"/>
              <a:ext cx="2377440" cy="29539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Monitoring of target cost against contract price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3163824" y="4828032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3163824" y="4828032"/>
              <a:ext cx="201168" cy="91440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242816" y="4796845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5</a:t>
              </a:r>
            </a:p>
          </p:txBody>
        </p:sp>
      </p:grpSp>
      <p:grpSp>
        <p:nvGrpSpPr>
          <p:cNvPr id="116" name="col"/>
          <p:cNvGrpSpPr/>
          <p:nvPr/>
        </p:nvGrpSpPr>
        <p:grpSpPr>
          <a:xfrm>
            <a:off x="4038600" y="2194561"/>
            <a:ext cx="3886200" cy="3063239"/>
            <a:chOff x="4846320" y="2633472"/>
            <a:chExt cx="4663440" cy="3675887"/>
          </a:xfrm>
        </p:grpSpPr>
        <p:sp>
          <p:nvSpPr>
            <p:cNvPr id="70" name="Rounded Rectangle 69"/>
            <p:cNvSpPr/>
            <p:nvPr/>
          </p:nvSpPr>
          <p:spPr>
            <a:xfrm>
              <a:off x="4846320" y="2633472"/>
              <a:ext cx="4663440" cy="367588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4846320" y="2633472"/>
              <a:ext cx="4663440" cy="402336"/>
            </a:xfrm>
            <a:prstGeom prst="roundRect">
              <a:avLst>
                <a:gd name="adj" fmla="val 4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4846320" y="2889504"/>
              <a:ext cx="4663440" cy="146304"/>
            </a:xfrm>
            <a:prstGeom prst="roundRect">
              <a:avLst>
                <a:gd name="adj" fmla="val 6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92624" y="2742307"/>
              <a:ext cx="3566159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00" b="1">
                  <a:solidFill>
                    <a:srgbClr val="FFFFFF"/>
                  </a:solidFill>
                  <a:latin typeface="Inter Medium"/>
                </a:rPr>
                <a:t>Technical Components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503919" y="2738420"/>
              <a:ext cx="859536" cy="1924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042" b="1">
                  <a:solidFill>
                    <a:srgbClr val="FFFFFF"/>
                  </a:solidFill>
                  <a:latin typeface="Inter"/>
                </a:rPr>
                <a:t>75 pts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992624" y="3072384"/>
              <a:ext cx="365759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PLATFORM AND OPERATIONS, TOGETHER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577072" y="3063240"/>
              <a:ext cx="786384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5F6372"/>
                  </a:solidFill>
                  <a:latin typeface="Inter Medium"/>
                </a:rPr>
                <a:t>35</a:t>
              </a:r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4992624" y="3273552"/>
              <a:ext cx="4370831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5084064" y="3375653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Platform, data and architecture</a:t>
              </a: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7991855" y="340156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7991855" y="3401568"/>
              <a:ext cx="150876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070847" y="337038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3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084064" y="3649973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User experience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7991855" y="367588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7991855" y="3675888"/>
              <a:ext cx="150876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070847" y="364470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3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084064" y="3924293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Performance and scalability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7991855" y="395020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7991855" y="3950208"/>
              <a:ext cx="251460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9070847" y="391902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5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084064" y="4198612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Maintainability and support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7991855" y="422452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7991855" y="4224528"/>
              <a:ext cx="150876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9070847" y="419334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3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5084064" y="4472932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Reliability and effectiveness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7991855" y="449884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7991855" y="4498848"/>
              <a:ext cx="301752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9070847" y="446766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6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084064" y="4747252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Auditability</a:t>
              </a:r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7991855" y="477316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7991855" y="4773168"/>
              <a:ext cx="251460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9070847" y="474198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5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084064" y="5021572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Data and configuration portability</a:t>
              </a:r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7991855" y="5047488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7991855" y="5047488"/>
              <a:ext cx="251460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9070847" y="501630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5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084064" y="5295892"/>
              <a:ext cx="2743199" cy="1432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Operational requirements</a:t>
              </a:r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7991855" y="5321807"/>
              <a:ext cx="1005840" cy="91440"/>
            </a:xfrm>
            <a:prstGeom prst="roundRect">
              <a:avLst>
                <a:gd name="adj" fmla="val 50000"/>
              </a:avLst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8" name="Rounded Rectangle 107"/>
            <p:cNvSpPr/>
            <p:nvPr/>
          </p:nvSpPr>
          <p:spPr>
            <a:xfrm>
              <a:off x="7991855" y="5321807"/>
              <a:ext cx="251460" cy="91440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9070847" y="5290621"/>
              <a:ext cx="310896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5</a:t>
              </a:r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4974336" y="5504687"/>
              <a:ext cx="4407407" cy="365760"/>
            </a:xfrm>
            <a:prstGeom prst="roundRect">
              <a:avLst>
                <a:gd name="adj" fmla="val 3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5084064" y="5606776"/>
              <a:ext cx="3566159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AI Governance Requirements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8595359" y="5587578"/>
              <a:ext cx="658368" cy="1999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083" b="1">
                  <a:solidFill>
                    <a:srgbClr val="E86C1F"/>
                  </a:solidFill>
                  <a:latin typeface="Inter"/>
                </a:rPr>
                <a:t>20</a:t>
              </a:r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4974336" y="5888735"/>
              <a:ext cx="4407407" cy="365760"/>
            </a:xfrm>
            <a:prstGeom prst="roundRect">
              <a:avLst>
                <a:gd name="adj" fmla="val 3000"/>
              </a:avLst>
            </a:prstGeom>
            <a:solidFill>
              <a:srgbClr val="FAE8E8"/>
            </a:solidFill>
            <a:ln w="12700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084064" y="5990824"/>
              <a:ext cx="3566159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Privacy and Security Requirements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8595359" y="5971626"/>
              <a:ext cx="658368" cy="1999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083" b="1">
                  <a:solidFill>
                    <a:srgbClr val="C0272D"/>
                  </a:solidFill>
                  <a:latin typeface="Inter"/>
                </a:rPr>
                <a:t>20</a:t>
              </a:r>
            </a:p>
          </p:txBody>
        </p:sp>
      </p:grpSp>
      <p:grpSp>
        <p:nvGrpSpPr>
          <p:cNvPr id="135" name="pricing column"/>
          <p:cNvGrpSpPr/>
          <p:nvPr/>
        </p:nvGrpSpPr>
        <p:grpSpPr>
          <a:xfrm>
            <a:off x="8061959" y="2194561"/>
            <a:ext cx="3810000" cy="3063239"/>
            <a:chOff x="9674351" y="2633472"/>
            <a:chExt cx="4572000" cy="3675887"/>
          </a:xfrm>
        </p:grpSpPr>
        <p:sp>
          <p:nvSpPr>
            <p:cNvPr id="117" name="Rounded Rectangle 116"/>
            <p:cNvSpPr/>
            <p:nvPr/>
          </p:nvSpPr>
          <p:spPr>
            <a:xfrm>
              <a:off x="9674351" y="2633472"/>
              <a:ext cx="4572000" cy="367588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9674351" y="2633472"/>
              <a:ext cx="4572000" cy="402336"/>
            </a:xfrm>
            <a:prstGeom prst="roundRect">
              <a:avLst>
                <a:gd name="adj" fmla="val 4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9674351" y="2889504"/>
              <a:ext cx="4572000" cy="146304"/>
            </a:xfrm>
            <a:prstGeom prst="roundRect">
              <a:avLst>
                <a:gd name="adj" fmla="val 6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820655" y="2742307"/>
              <a:ext cx="3474720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00" b="1">
                  <a:solidFill>
                    <a:srgbClr val="FFFFFF"/>
                  </a:solidFill>
                  <a:latin typeface="Inter Medium"/>
                </a:rPr>
                <a:t>Pricing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3240511" y="2738420"/>
              <a:ext cx="859536" cy="1924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1042" b="1">
                  <a:solidFill>
                    <a:srgbClr val="FFFFFF"/>
                  </a:solidFill>
                  <a:latin typeface="Inter"/>
                </a:rPr>
                <a:t>120 pts</a:t>
              </a:r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9802367" y="3145536"/>
              <a:ext cx="4315968" cy="475488"/>
            </a:xfrm>
            <a:prstGeom prst="roundRect">
              <a:avLst>
                <a:gd name="adj" fmla="val 3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9912095" y="3302489"/>
              <a:ext cx="4096512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Total Cost of Ownership — scored by formula</a:t>
              </a: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9857231" y="38130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0003535" y="3730752"/>
              <a:ext cx="4059936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Canadian dollars, inclusive of PST and fees</a:t>
              </a:r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9857231" y="416052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0003535" y="4078224"/>
              <a:ext cx="4059936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On a mathematical error, the line-item prices prevail</a:t>
              </a: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9857231" y="450799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0003535" y="4425696"/>
              <a:ext cx="4059936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Implementation, licence or subscription, support and additional services</a:t>
              </a:r>
            </a:p>
          </p:txBody>
        </p:sp>
        <p:sp>
          <p:nvSpPr>
            <p:cNvPr id="130" name="Rounded Rectangle 129"/>
            <p:cNvSpPr/>
            <p:nvPr/>
          </p:nvSpPr>
          <p:spPr>
            <a:xfrm>
              <a:off x="9857231" y="4855464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0003535" y="4773168"/>
              <a:ext cx="4059936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The single largest scoring line in the whole evaluation</a:t>
              </a:r>
            </a:p>
          </p:txBody>
        </p:sp>
        <p:cxnSp>
          <p:nvCxnSpPr>
            <p:cNvPr id="132" name="Connector 131"/>
            <p:cNvCxnSpPr/>
            <p:nvPr/>
          </p:nvCxnSpPr>
          <p:spPr>
            <a:xfrm>
              <a:off x="9820655" y="5340096"/>
              <a:ext cx="4279392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9820655" y="5431536"/>
              <a:ext cx="4279392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2E7D52"/>
                  </a:solidFill>
                  <a:latin typeface="Inter Medium"/>
                </a:rPr>
                <a:t>STAGE 3 DEMONSTRATION — 50 POINTS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820655" y="5632704"/>
              <a:ext cx="4279392" cy="4555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Top three proponents, or a fourth within five points. A real TI Corp scenario is issued in advance and scored on functionality, alignment, delivery practicality and answers to challenge questions.</a:t>
              </a:r>
            </a:p>
          </p:txBody>
        </p:sp>
      </p:grpSp>
      <p:grpSp>
        <p:nvGrpSpPr>
          <p:cNvPr id="141" name="gate 70%"/>
          <p:cNvGrpSpPr/>
          <p:nvPr/>
        </p:nvGrpSpPr>
        <p:grpSpPr>
          <a:xfrm>
            <a:off x="320040" y="5334000"/>
            <a:ext cx="3759200" cy="548640"/>
            <a:chOff x="384048" y="6400800"/>
            <a:chExt cx="4511040" cy="658368"/>
          </a:xfrm>
        </p:grpSpPr>
        <p:sp>
          <p:nvSpPr>
            <p:cNvPr id="136" name="Rounded Rectangle 135"/>
            <p:cNvSpPr/>
            <p:nvPr/>
          </p:nvSpPr>
          <p:spPr>
            <a:xfrm>
              <a:off x="384048" y="6400800"/>
              <a:ext cx="4511040" cy="658368"/>
            </a:xfrm>
            <a:prstGeom prst="roundRect">
              <a:avLst>
                <a:gd name="adj" fmla="val 4000"/>
              </a:avLst>
            </a:prstGeom>
            <a:solidFill>
              <a:srgbClr val="FAE8E8"/>
            </a:solidFill>
            <a:ln w="12700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512064" y="6510528"/>
              <a:ext cx="713232" cy="237744"/>
            </a:xfrm>
            <a:prstGeom prst="roundRect">
              <a:avLst>
                <a:gd name="adj" fmla="val 3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512064" y="6552494"/>
              <a:ext cx="713232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70%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316736" y="6455664"/>
              <a:ext cx="3450336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Two thresholds, both must clear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316736" y="6656832"/>
              <a:ext cx="3450336" cy="2796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 minimum of 70 per cent on Non-Technical AND on Technical — 52.5 of 75 each. Fail either and it stops there.</a:t>
              </a:r>
            </a:p>
          </p:txBody>
        </p:sp>
      </p:grpSp>
      <p:grpSp>
        <p:nvGrpSpPr>
          <p:cNvPr id="147" name="gate Top 3"/>
          <p:cNvGrpSpPr/>
          <p:nvPr/>
        </p:nvGrpSpPr>
        <p:grpSpPr>
          <a:xfrm>
            <a:off x="4216400" y="5334000"/>
            <a:ext cx="3759200" cy="548640"/>
            <a:chOff x="5059680" y="6400800"/>
            <a:chExt cx="4511040" cy="658368"/>
          </a:xfrm>
        </p:grpSpPr>
        <p:sp>
          <p:nvSpPr>
            <p:cNvPr id="142" name="Rounded Rectangle 141"/>
            <p:cNvSpPr/>
            <p:nvPr/>
          </p:nvSpPr>
          <p:spPr>
            <a:xfrm>
              <a:off x="5059680" y="6400800"/>
              <a:ext cx="4511040" cy="658368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3" name="Rounded Rectangle 142"/>
            <p:cNvSpPr/>
            <p:nvPr/>
          </p:nvSpPr>
          <p:spPr>
            <a:xfrm>
              <a:off x="5187696" y="6510528"/>
              <a:ext cx="713232" cy="237744"/>
            </a:xfrm>
            <a:prstGeom prst="roundRect">
              <a:avLst>
                <a:gd name="adj" fmla="val 3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187696" y="6552494"/>
              <a:ext cx="713232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Top 3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5992367" y="6455664"/>
              <a:ext cx="3450336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Only three go to demonstration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992367" y="6656832"/>
              <a:ext cx="3450336" cy="2796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Stage 2 rank decides who demonstrates. A fourth is invited only if within five points of the top-ranked proponent.</a:t>
              </a:r>
            </a:p>
          </p:txBody>
        </p:sp>
      </p:grpSp>
      <p:grpSp>
        <p:nvGrpSpPr>
          <p:cNvPr id="153" name="gate 40 pts"/>
          <p:cNvGrpSpPr/>
          <p:nvPr/>
        </p:nvGrpSpPr>
        <p:grpSpPr>
          <a:xfrm>
            <a:off x="8112760" y="5334000"/>
            <a:ext cx="3759200" cy="548640"/>
            <a:chOff x="9735312" y="6400800"/>
            <a:chExt cx="4511040" cy="658368"/>
          </a:xfrm>
        </p:grpSpPr>
        <p:sp>
          <p:nvSpPr>
            <p:cNvPr id="148" name="Rounded Rectangle 147"/>
            <p:cNvSpPr/>
            <p:nvPr/>
          </p:nvSpPr>
          <p:spPr>
            <a:xfrm>
              <a:off x="9735312" y="6400800"/>
              <a:ext cx="4511040" cy="658368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9" name="Rounded Rectangle 148"/>
            <p:cNvSpPr/>
            <p:nvPr/>
          </p:nvSpPr>
          <p:spPr>
            <a:xfrm>
              <a:off x="9863328" y="6510528"/>
              <a:ext cx="713232" cy="237744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9863328" y="6552494"/>
              <a:ext cx="713232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40 pts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0668000" y="6455664"/>
              <a:ext cx="3450336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AI Governance plus Privacy and Security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10668000" y="6656832"/>
              <a:ext cx="3450336" cy="2796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Together these carry 40 of the 75 technical points — more than the eight platform and operations criteria combined.</a:t>
              </a:r>
            </a:p>
          </p:txBody>
        </p:sp>
      </p:grpSp>
      <p:sp>
        <p:nvSpPr>
          <p:cNvPr id="160" name="Arrow: Down 159">
            <a:extLst>
              <a:ext uri="{FF2B5EF4-FFF2-40B4-BE49-F238E27FC236}">
                <a16:creationId xmlns:a16="http://schemas.microsoft.com/office/drawing/2014/main" id="{926BC22E-0918-353B-F8F6-B5E007C9F2A4}"/>
              </a:ext>
            </a:extLst>
          </p:cNvPr>
          <p:cNvSpPr/>
          <p:nvPr/>
        </p:nvSpPr>
        <p:spPr>
          <a:xfrm>
            <a:off x="4412974" y="1384853"/>
            <a:ext cx="205408" cy="27630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33" err="1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03860" y="548640"/>
            <a:ext cx="7620000" cy="167640"/>
          </a:xfrm>
        </p:spPr>
        <p:txBody>
          <a:bodyPr/>
          <a:lstStyle/>
          <a:p>
            <a:r>
              <a:rPr sz="833">
                <a:solidFill>
                  <a:srgbClr val="004AAC"/>
                </a:solidFill>
                <a:latin typeface="Inter Medium"/>
              </a:rPr>
              <a:t>NRFP27-TIC-004 · APPENDIX C — SCOPE OF WORK, SECTIONS 1 AND 5 TO 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sz="2083">
                <a:solidFill>
                  <a:srgbClr val="0E1020"/>
                </a:solidFill>
              </a:rPr>
              <a:t>Objectives and High-Level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0396728" cy="134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875">
                <a:solidFill>
                  <a:srgbClr val="2B2E3B"/>
                </a:solidFill>
                <a:latin typeface="Inter Light"/>
              </a:rPr>
              <a:t>What TI Corp wants the Solution to achieve, and everything the Proponent is scored on delivering. Points shown are the Stage 2 weighting.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34440"/>
            <a:ext cx="11551920" cy="975360"/>
          </a:xfrm>
          <a:prstGeom prst="roundRect">
            <a:avLst>
              <a:gd name="adj" fmla="val 5000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" name="TextBox 5"/>
          <p:cNvSpPr txBox="1"/>
          <p:nvPr/>
        </p:nvSpPr>
        <p:spPr>
          <a:xfrm>
            <a:off x="518160" y="133350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E86C1F"/>
                </a:solidFill>
                <a:latin typeface="Inter Medium"/>
              </a:rPr>
              <a:t>SIX OBJECTIVES, IN TI CORP’S OWN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" y="1554481"/>
            <a:ext cx="17703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" y="1684020"/>
            <a:ext cx="1770380" cy="14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17" b="1">
                <a:solidFill>
                  <a:srgbClr val="FFFFFF"/>
                </a:solidFill>
                <a:latin typeface="Inter Medium"/>
              </a:rPr>
              <a:t>Transparency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60" y="1866900"/>
            <a:ext cx="177038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of contractor-reported cost under a target price regime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220" y="1554481"/>
            <a:ext cx="17703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220" y="1684020"/>
            <a:ext cx="1770380" cy="14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17" b="1">
                <a:solidFill>
                  <a:srgbClr val="FFFFFF"/>
                </a:solidFill>
                <a:latin typeface="Inter Medium"/>
              </a:rPr>
              <a:t>Reliable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220" y="1866901"/>
            <a:ext cx="1770380" cy="116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of the cost actually incurred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2280" y="1554481"/>
            <a:ext cx="17703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2280" y="1684020"/>
            <a:ext cx="1770380" cy="14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17" b="1">
                <a:solidFill>
                  <a:srgbClr val="FFFFFF"/>
                </a:solidFill>
                <a:latin typeface="Inter Medium"/>
              </a:rPr>
              <a:t>Early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2280" y="1866900"/>
            <a:ext cx="177038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of anomalies, irregularities and emerging overruns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9340" y="1554481"/>
            <a:ext cx="17703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340" y="1684020"/>
            <a:ext cx="1770380" cy="14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17" b="1">
                <a:solidFill>
                  <a:srgbClr val="FFFFFF"/>
                </a:solidFill>
                <a:latin typeface="Inter Medium"/>
              </a:rPr>
              <a:t>Independent assurance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1866900"/>
            <a:ext cx="177038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evidence-based, for the Corporation and its governance bodies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6400" y="1554481"/>
            <a:ext cx="17703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6400" y="1684020"/>
            <a:ext cx="1770380" cy="14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17" b="1">
                <a:solidFill>
                  <a:srgbClr val="FFFFFF"/>
                </a:solidFill>
                <a:latin typeface="Inter Medium"/>
              </a:rPr>
              <a:t>Less manual effort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6400" y="1866901"/>
            <a:ext cx="177038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through automation, advanced analytics and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3460" y="1554481"/>
            <a:ext cx="17703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3460" y="1684020"/>
            <a:ext cx="1770380" cy="14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17" b="1">
                <a:solidFill>
                  <a:srgbClr val="FFFFFF"/>
                </a:solidFill>
                <a:latin typeface="Inter Medium"/>
              </a:rPr>
              <a:t>Defensible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3460" y="1866901"/>
            <a:ext cx="177038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timely, well-documented payment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2301240"/>
            <a:ext cx="11551920" cy="3855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6" name="Rounded Rectangle 25"/>
          <p:cNvSpPr/>
          <p:nvPr/>
        </p:nvSpPr>
        <p:spPr>
          <a:xfrm>
            <a:off x="320040" y="2301240"/>
            <a:ext cx="11551920" cy="259080"/>
          </a:xfrm>
          <a:prstGeom prst="roundRect">
            <a:avLst>
              <a:gd name="adj" fmla="val 4000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7" name="Rounded Rectangle 26"/>
          <p:cNvSpPr/>
          <p:nvPr/>
        </p:nvSpPr>
        <p:spPr>
          <a:xfrm>
            <a:off x="320040" y="2514600"/>
            <a:ext cx="11551920" cy="45720"/>
          </a:xfrm>
          <a:prstGeom prst="roundRect">
            <a:avLst>
              <a:gd name="adj" fmla="val 6000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8" name="TextBox 27"/>
          <p:cNvSpPr txBox="1"/>
          <p:nvPr/>
        </p:nvSpPr>
        <p:spPr>
          <a:xfrm>
            <a:off x="457200" y="2354581"/>
            <a:ext cx="5638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REF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079" y="2354581"/>
            <a:ext cx="199644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SCOPE AREA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354581"/>
            <a:ext cx="760476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SCOPE 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22280" y="2354581"/>
            <a:ext cx="99060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WEIGHTING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519" y="2590800"/>
            <a:ext cx="11490960" cy="354330"/>
          </a:xfrm>
          <a:prstGeom prst="roundRect">
            <a:avLst>
              <a:gd name="adj" fmla="val 2000"/>
            </a:avLst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3" name="Rounded Rectangle 32"/>
          <p:cNvSpPr/>
          <p:nvPr/>
        </p:nvSpPr>
        <p:spPr>
          <a:xfrm>
            <a:off x="350519" y="2628899"/>
            <a:ext cx="45720" cy="27813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4" name="TextBox 33"/>
          <p:cNvSpPr txBox="1"/>
          <p:nvPr/>
        </p:nvSpPr>
        <p:spPr>
          <a:xfrm>
            <a:off x="457200" y="2651761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004AAC"/>
                </a:solidFill>
                <a:latin typeface="Inter Medium"/>
              </a:rPr>
              <a:t>5.1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079" y="2636520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Continuous cost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2651760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Verify labour, plant and equipment, subcontractor, material, indirect, overhead and fee costs against the contractual payment conditions. Flag exceptions, anomalies and unsupported charges for human review.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22281" y="2644140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8" name="TextBox 37"/>
          <p:cNvSpPr txBox="1"/>
          <p:nvPr/>
        </p:nvSpPr>
        <p:spPr>
          <a:xfrm>
            <a:off x="10622281" y="2681110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20 pts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0519" y="3006090"/>
            <a:ext cx="45720" cy="27813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0" name="TextBox 39"/>
          <p:cNvSpPr txBox="1"/>
          <p:nvPr/>
        </p:nvSpPr>
        <p:spPr>
          <a:xfrm>
            <a:off x="457200" y="3028951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004AAC"/>
                </a:solidFill>
                <a:latin typeface="Inter Medium"/>
              </a:rPr>
              <a:t>5.2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079" y="3013710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Invoice and ledger automation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028950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Cross-check invoices, timesheets, equipment logs and supporting documents. Identify duplicates and misclassification. Reconcile to approved work packages, cost breakdown structures and earned progress.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22281" y="3021330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4" name="TextBox 43"/>
          <p:cNvSpPr txBox="1"/>
          <p:nvPr/>
        </p:nvSpPr>
        <p:spPr>
          <a:xfrm>
            <a:off x="10622281" y="3058300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15 pts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0519" y="3345179"/>
            <a:ext cx="11490960" cy="354330"/>
          </a:xfrm>
          <a:prstGeom prst="roundRect">
            <a:avLst>
              <a:gd name="adj" fmla="val 2000"/>
            </a:avLst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6" name="Rounded Rectangle 45"/>
          <p:cNvSpPr/>
          <p:nvPr/>
        </p:nvSpPr>
        <p:spPr>
          <a:xfrm>
            <a:off x="350519" y="3383279"/>
            <a:ext cx="45720" cy="27813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7" name="TextBox 46"/>
          <p:cNvSpPr txBox="1"/>
          <p:nvPr/>
        </p:nvSpPr>
        <p:spPr>
          <a:xfrm>
            <a:off x="457200" y="3406141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US" sz="708" b="1">
                <a:solidFill>
                  <a:srgbClr val="004AAC"/>
                </a:solidFill>
                <a:latin typeface="Inter Medium"/>
              </a:rPr>
              <a:t>§.3</a:t>
            </a:r>
            <a:endParaRPr sz="708" b="1">
              <a:solidFill>
                <a:srgbClr val="004AAC"/>
              </a:solidFill>
              <a:latin typeface="Inter Medium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1079" y="3390899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Change order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3406140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Automate development and review of change orders — rate application, pricing and substantiation — with written approval before execution and issue of the change certificate.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22281" y="3398520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1" name="TextBox 50"/>
          <p:cNvSpPr txBox="1"/>
          <p:nvPr/>
        </p:nvSpPr>
        <p:spPr>
          <a:xfrm>
            <a:off x="10622281" y="3435490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10 pts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0519" y="3760470"/>
            <a:ext cx="45720" cy="27813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3" name="TextBox 52"/>
          <p:cNvSpPr txBox="1"/>
          <p:nvPr/>
        </p:nvSpPr>
        <p:spPr>
          <a:xfrm>
            <a:off x="457200" y="3783331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004AAC"/>
                </a:solidFill>
                <a:latin typeface="Inter Medium"/>
              </a:rPr>
              <a:t>§5.4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079" y="3768089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Target cost vs contract price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3783330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Monitor actual cost against contract price, exposure to gainshare and painshare, and estimate-to-complete and estimate-at-completion trends, through automated dashboards.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22281" y="3775710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7" name="TextBox 56"/>
          <p:cNvSpPr txBox="1"/>
          <p:nvPr/>
        </p:nvSpPr>
        <p:spPr>
          <a:xfrm>
            <a:off x="10622281" y="3812680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5 pts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0519" y="4099560"/>
            <a:ext cx="11490960" cy="462915"/>
          </a:xfrm>
          <a:prstGeom prst="roundRect">
            <a:avLst>
              <a:gd name="adj" fmla="val 2000"/>
            </a:avLst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9" name="Rounded Rectangle 58"/>
          <p:cNvSpPr/>
          <p:nvPr/>
        </p:nvSpPr>
        <p:spPr>
          <a:xfrm>
            <a:off x="350519" y="4137660"/>
            <a:ext cx="45720" cy="386715"/>
          </a:xfrm>
          <a:prstGeom prst="roundRect">
            <a:avLst>
              <a:gd name="adj" fmla="val 50000"/>
            </a:avLst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0" name="TextBox 59"/>
          <p:cNvSpPr txBox="1"/>
          <p:nvPr/>
        </p:nvSpPr>
        <p:spPr>
          <a:xfrm>
            <a:off x="457200" y="4160521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7A4A2B"/>
                </a:solidFill>
                <a:latin typeface="Inter Medium"/>
              </a:rPr>
              <a:t>§6.1–6.5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1079" y="4145280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Technical requirements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4160520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Integration with contractor and TI Corp ERP, cost management, project controls and document repositories by API, file transfer or batch. A stated processing model — automated, rule-based, AI-assisted, human-reviewed. Azure-aligned, Power BI, service levels and support.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22281" y="4152900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4" name="TextBox 63"/>
          <p:cNvSpPr txBox="1"/>
          <p:nvPr/>
        </p:nvSpPr>
        <p:spPr>
          <a:xfrm>
            <a:off x="10622281" y="4189870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35 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0519" y="4623435"/>
            <a:ext cx="45720" cy="278130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6" name="TextBox 65"/>
          <p:cNvSpPr txBox="1"/>
          <p:nvPr/>
        </p:nvSpPr>
        <p:spPr>
          <a:xfrm>
            <a:off x="457200" y="4646296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C0272D"/>
                </a:solidFill>
                <a:latin typeface="Inter Medium"/>
              </a:rPr>
              <a:t>§6.4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1079" y="4631055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Data ownership and portability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4646295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Data stored and processed in Canada. All data, metadata, logs, outputs and derived insights remain TI Corp’s property, exportable in non-proprietary formats at no cost. No model training without written consent.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22281" y="4638675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C0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0" name="TextBox 69"/>
          <p:cNvSpPr txBox="1"/>
          <p:nvPr/>
        </p:nvSpPr>
        <p:spPr>
          <a:xfrm>
            <a:off x="10622281" y="4675645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Mandatory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50519" y="4962525"/>
            <a:ext cx="11490960" cy="354330"/>
          </a:xfrm>
          <a:prstGeom prst="roundRect">
            <a:avLst>
              <a:gd name="adj" fmla="val 2000"/>
            </a:avLst>
          </a:prstGeom>
          <a:solidFill>
            <a:srgbClr val="EF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2" name="Rounded Rectangle 71"/>
          <p:cNvSpPr/>
          <p:nvPr/>
        </p:nvSpPr>
        <p:spPr>
          <a:xfrm>
            <a:off x="350519" y="5000625"/>
            <a:ext cx="45720" cy="27813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3" name="TextBox 72"/>
          <p:cNvSpPr txBox="1"/>
          <p:nvPr/>
        </p:nvSpPr>
        <p:spPr>
          <a:xfrm>
            <a:off x="457200" y="5023486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2E7D52"/>
                </a:solidFill>
                <a:latin typeface="Inter Medium"/>
              </a:rPr>
              <a:t>§7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1079" y="5008245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AI governance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17520" y="5023485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AI capabilities described with strengths and limitations. Validation at volume on defined rules and pattern recognition. Every output traceable and reproducible, with a human-readable reason per flagged cost.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622281" y="5015865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7" name="TextBox 76"/>
          <p:cNvSpPr txBox="1"/>
          <p:nvPr/>
        </p:nvSpPr>
        <p:spPr>
          <a:xfrm>
            <a:off x="10622281" y="5052835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20 pts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50519" y="5377815"/>
            <a:ext cx="45720" cy="27813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9" name="TextBox 78"/>
          <p:cNvSpPr txBox="1"/>
          <p:nvPr/>
        </p:nvSpPr>
        <p:spPr>
          <a:xfrm>
            <a:off x="457200" y="5400676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2E7D52"/>
                </a:solidFill>
                <a:latin typeface="Inter Medium"/>
              </a:rPr>
              <a:t>Sch. H, 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1079" y="5385435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Privacy and security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17520" y="5400675"/>
            <a:ext cx="7437120" cy="121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Privacy Protection Schedule and Security Schedule apply in full — FIPPA obligations, access control, incident notification and the controls set out in Schedule I.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622281" y="5393055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3" name="TextBox 82"/>
          <p:cNvSpPr txBox="1"/>
          <p:nvPr/>
        </p:nvSpPr>
        <p:spPr>
          <a:xfrm>
            <a:off x="10622281" y="5430025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20 pts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0519" y="5716905"/>
            <a:ext cx="11490960" cy="354330"/>
          </a:xfrm>
          <a:prstGeom prst="roundRect">
            <a:avLst>
              <a:gd name="adj" fmla="val 200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5" name="Rounded Rectangle 84"/>
          <p:cNvSpPr/>
          <p:nvPr/>
        </p:nvSpPr>
        <p:spPr>
          <a:xfrm>
            <a:off x="350519" y="5755005"/>
            <a:ext cx="45720" cy="278130"/>
          </a:xfrm>
          <a:prstGeom prst="roundRect">
            <a:avLst>
              <a:gd name="adj" fmla="val 50000"/>
            </a:avLst>
          </a:prstGeom>
          <a:solidFill>
            <a:srgbClr val="5F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6" name="TextBox 85"/>
          <p:cNvSpPr txBox="1"/>
          <p:nvPr/>
        </p:nvSpPr>
        <p:spPr>
          <a:xfrm>
            <a:off x="457200" y="5777866"/>
            <a:ext cx="487680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5F6372"/>
                </a:solidFill>
                <a:latin typeface="Inter Medium"/>
              </a:rPr>
              <a:t>§5.5, §5.6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1079" y="5762625"/>
            <a:ext cx="1874520" cy="131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4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Optional — offer, do not price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7520" y="5777865"/>
            <a:ext cx="7437120" cy="253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Predictive analytics — probabilistic forecasts, contingency draw, early-warning alerts. Procurement and subcontract review — pricing pattern analysis and market benchmarking. Not scored, but keep room for them.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622281" y="5770245"/>
            <a:ext cx="868679" cy="182880"/>
          </a:xfrm>
          <a:prstGeom prst="roundRect">
            <a:avLst>
              <a:gd name="adj" fmla="val 30000"/>
            </a:avLst>
          </a:prstGeom>
          <a:solidFill>
            <a:srgbClr val="5F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90" name="TextBox 89"/>
          <p:cNvSpPr txBox="1"/>
          <p:nvPr/>
        </p:nvSpPr>
        <p:spPr>
          <a:xfrm>
            <a:off x="10622281" y="5807215"/>
            <a:ext cx="868679" cy="108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708" b="1">
                <a:solidFill>
                  <a:srgbClr val="FFFFFF"/>
                </a:solidFill>
                <a:latin typeface="Inter Medium"/>
              </a:rPr>
              <a:t>Not evaluated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3860" y="6278881"/>
            <a:ext cx="11384280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833">
                <a:solidFill>
                  <a:srgbClr val="6B6E7E"/>
                </a:solidFill>
                <a:latin typeface="Inter Light"/>
              </a:rPr>
              <a:t>Business requirements carry 50 of the 150 requirement points; pricing carries a further 120, and the in-person demonstration 50. Optional items are excluded from evaluation but should be architected for.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0F30-DB96-8305-87DF-A9711CD2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01E5B5-8E14-666B-2763-13EA75781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400">
                <a:solidFill>
                  <a:srgbClr val="0E1020"/>
                </a:solidFill>
              </a:rPr>
              <a:t>Technical solution</a:t>
            </a:r>
          </a:p>
        </p:txBody>
      </p:sp>
    </p:spTree>
    <p:extLst>
      <p:ext uri="{BB962C8B-B14F-4D97-AF65-F5344CB8AC3E}">
        <p14:creationId xmlns:p14="http://schemas.microsoft.com/office/powerpoint/2010/main" val="166443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03860" y="548640"/>
            <a:ext cx="7620000" cy="167640"/>
          </a:xfrm>
        </p:spPr>
        <p:txBody>
          <a:bodyPr/>
          <a:lstStyle/>
          <a:p>
            <a:r>
              <a:rPr sz="833">
                <a:solidFill>
                  <a:srgbClr val="004AAC"/>
                </a:solidFill>
                <a:latin typeface="Inter Medium"/>
              </a:rPr>
              <a:t>ONE LOOP · TWELVE CHECKS · EVERY CLAIM, EVERY DOLLAR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IN" sz="2083">
                <a:solidFill>
                  <a:srgbClr val="0E1020"/>
                </a:solidFill>
              </a:rPr>
              <a:t>TIC - E2E Cost Verification and assurance</a:t>
            </a:r>
            <a:endParaRPr sz="2083">
              <a:solidFill>
                <a:srgbClr val="0E1020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2240279" y="2042160"/>
            <a:ext cx="7711440" cy="3505200"/>
          </a:xfrm>
          <a:prstGeom prst="ellipse">
            <a:avLst/>
          </a:prstGeom>
          <a:noFill/>
          <a:ln w="9525">
            <a:solidFill>
              <a:srgbClr val="DFDBD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" name="Oval 4"/>
          <p:cNvSpPr/>
          <p:nvPr/>
        </p:nvSpPr>
        <p:spPr>
          <a:xfrm>
            <a:off x="3368040" y="2484120"/>
            <a:ext cx="5455920" cy="2621280"/>
          </a:xfrm>
          <a:prstGeom prst="ellipse">
            <a:avLst/>
          </a:prstGeom>
          <a:noFill/>
          <a:ln w="9525">
            <a:solidFill>
              <a:srgbClr val="DFDBD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" name="Oval 5"/>
          <p:cNvSpPr/>
          <p:nvPr/>
        </p:nvSpPr>
        <p:spPr>
          <a:xfrm>
            <a:off x="4206240" y="2880360"/>
            <a:ext cx="3779520" cy="1828800"/>
          </a:xfrm>
          <a:prstGeom prst="ellipse">
            <a:avLst/>
          </a:prstGeom>
          <a:solidFill>
            <a:srgbClr val="0E1020"/>
          </a:solidFill>
          <a:ln w="19050">
            <a:solidFill>
              <a:srgbClr val="0E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" name="TextBox 6"/>
          <p:cNvSpPr txBox="1"/>
          <p:nvPr/>
        </p:nvSpPr>
        <p:spPr>
          <a:xfrm>
            <a:off x="4495800" y="3337560"/>
            <a:ext cx="3200400" cy="121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792" b="1">
                <a:solidFill>
                  <a:srgbClr val="E86C1F"/>
                </a:solidFill>
                <a:latin typeface="Inter Medium"/>
              </a:rPr>
              <a:t>CONTINUOUS OVERSIGHT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800" y="3566160"/>
            <a:ext cx="3200400" cy="179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167" b="1">
                <a:solidFill>
                  <a:srgbClr val="FFFFFF"/>
                </a:solidFill>
                <a:latin typeface="Inter"/>
              </a:rPr>
              <a:t>Rules run · agents </a:t>
            </a:r>
            <a:r>
              <a:rPr lang="en-IN" sz="1167" b="1">
                <a:solidFill>
                  <a:srgbClr val="FFFFFF"/>
                </a:solidFill>
                <a:latin typeface="Inter"/>
              </a:rPr>
              <a:t> Recommend</a:t>
            </a:r>
            <a:endParaRPr sz="1167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95800" y="3802380"/>
            <a:ext cx="3200400" cy="179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lang="en-IN" sz="1167" b="1">
                <a:solidFill>
                  <a:srgbClr val="FFFFFF"/>
                </a:solidFill>
                <a:latin typeface="Inter"/>
              </a:rPr>
              <a:t>P</a:t>
            </a:r>
            <a:r>
              <a:rPr sz="1167" b="1" err="1">
                <a:solidFill>
                  <a:srgbClr val="FFFFFF"/>
                </a:solidFill>
                <a:latin typeface="Inter"/>
              </a:rPr>
              <a:t>eople</a:t>
            </a:r>
            <a:r>
              <a:rPr sz="1167" b="1">
                <a:solidFill>
                  <a:srgbClr val="FFFFFF"/>
                </a:solidFill>
                <a:latin typeface="Inter"/>
              </a:rPr>
              <a:t> certify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99561"/>
            <a:ext cx="3048000" cy="116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167"/>
              </a:spcAft>
            </a:pPr>
            <a:r>
              <a:rPr sz="750">
                <a:solidFill>
                  <a:srgbClr val="E7E9F0"/>
                </a:solidFill>
                <a:latin typeface="Inter Light"/>
              </a:rPr>
              <a:t>Every test evidenced. Nothing released without a person.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6096000" y="1981200"/>
            <a:ext cx="0" cy="335280"/>
          </a:xfrm>
          <a:prstGeom prst="line">
            <a:avLst/>
          </a:prstGeom>
          <a:ln w="15875">
            <a:solidFill>
              <a:srgbClr val="004AA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734300" y="2224171"/>
            <a:ext cx="358140" cy="290361"/>
          </a:xfrm>
          <a:prstGeom prst="line">
            <a:avLst/>
          </a:prstGeom>
          <a:ln w="15875">
            <a:solidFill>
              <a:srgbClr val="004AA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933618" y="2887980"/>
            <a:ext cx="620317" cy="167640"/>
          </a:xfrm>
          <a:prstGeom prst="line">
            <a:avLst/>
          </a:prstGeom>
          <a:ln w="15875">
            <a:solidFill>
              <a:srgbClr val="004AA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72600" y="3794760"/>
            <a:ext cx="716280" cy="0"/>
          </a:xfrm>
          <a:prstGeom prst="line">
            <a:avLst/>
          </a:prstGeom>
          <a:ln w="15875">
            <a:solidFill>
              <a:srgbClr val="004AA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933618" y="4533900"/>
            <a:ext cx="620317" cy="167640"/>
          </a:xfrm>
          <a:prstGeom prst="line">
            <a:avLst/>
          </a:prstGeom>
          <a:ln w="15875">
            <a:solidFill>
              <a:srgbClr val="004AA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34300" y="5074988"/>
            <a:ext cx="358140" cy="290361"/>
          </a:xfrm>
          <a:prstGeom prst="line">
            <a:avLst/>
          </a:prstGeom>
          <a:ln w="15875">
            <a:solidFill>
              <a:srgbClr val="004AA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999" y="5273040"/>
            <a:ext cx="0" cy="335280"/>
          </a:xfrm>
          <a:prstGeom prst="line">
            <a:avLst/>
          </a:prstGeom>
          <a:ln w="15875">
            <a:solidFill>
              <a:srgbClr val="E86C1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099559" y="5074988"/>
            <a:ext cx="358140" cy="290361"/>
          </a:xfrm>
          <a:prstGeom prst="line">
            <a:avLst/>
          </a:prstGeom>
          <a:ln w="15875">
            <a:solidFill>
              <a:srgbClr val="E86C1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638064" y="4533900"/>
            <a:ext cx="620317" cy="167640"/>
          </a:xfrm>
          <a:prstGeom prst="line">
            <a:avLst/>
          </a:prstGeom>
          <a:ln w="15875">
            <a:solidFill>
              <a:srgbClr val="7A4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103120" y="3794760"/>
            <a:ext cx="716280" cy="0"/>
          </a:xfrm>
          <a:prstGeom prst="line">
            <a:avLst/>
          </a:prstGeom>
          <a:ln w="15875">
            <a:solidFill>
              <a:srgbClr val="7A4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638064" y="2887980"/>
            <a:ext cx="620317" cy="167640"/>
          </a:xfrm>
          <a:prstGeom prst="line">
            <a:avLst/>
          </a:prstGeom>
          <a:ln w="15875">
            <a:solidFill>
              <a:srgbClr val="2E7D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099560" y="2224171"/>
            <a:ext cx="358140" cy="290361"/>
          </a:xfrm>
          <a:prstGeom prst="line">
            <a:avLst/>
          </a:prstGeom>
          <a:ln w="15875">
            <a:solidFill>
              <a:srgbClr val="2E7D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Direct cost validation"/>
          <p:cNvGrpSpPr/>
          <p:nvPr/>
        </p:nvGrpSpPr>
        <p:grpSpPr>
          <a:xfrm>
            <a:off x="7946147" y="3242181"/>
            <a:ext cx="1569720" cy="426720"/>
            <a:chOff x="9535376" y="3890617"/>
            <a:chExt cx="1883664" cy="512064"/>
          </a:xfrm>
        </p:grpSpPr>
        <p:sp>
          <p:nvSpPr>
            <p:cNvPr id="23" name="Rounded Rectangle 22"/>
            <p:cNvSpPr/>
            <p:nvPr/>
          </p:nvSpPr>
          <p:spPr>
            <a:xfrm>
              <a:off x="9535376" y="3890617"/>
              <a:ext cx="1883664" cy="512064"/>
            </a:xfrm>
            <a:prstGeom prst="roundRect">
              <a:avLst>
                <a:gd name="adj" fmla="val 28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26816" y="3936337"/>
              <a:ext cx="1700784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Direct cost validation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626816" y="4174081"/>
              <a:ext cx="170078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>
                  <a:solidFill>
                    <a:srgbClr val="FFFFFF"/>
                  </a:solidFill>
                  <a:latin typeface="Inter Medium"/>
                </a:rPr>
                <a:t>Six checks · 01–06</a:t>
              </a:r>
            </a:p>
          </p:txBody>
        </p:sp>
      </p:grpSp>
      <p:grpSp>
        <p:nvGrpSpPr>
          <p:cNvPr id="30" name="Billing integrity"/>
          <p:cNvGrpSpPr/>
          <p:nvPr/>
        </p:nvGrpSpPr>
        <p:grpSpPr>
          <a:xfrm>
            <a:off x="4605092" y="4847381"/>
            <a:ext cx="1569720" cy="426720"/>
            <a:chOff x="5526110" y="5816857"/>
            <a:chExt cx="1883664" cy="512064"/>
          </a:xfrm>
        </p:grpSpPr>
        <p:sp>
          <p:nvSpPr>
            <p:cNvPr id="27" name="Rounded Rectangle 26"/>
            <p:cNvSpPr/>
            <p:nvPr/>
          </p:nvSpPr>
          <p:spPr>
            <a:xfrm>
              <a:off x="5526110" y="5816857"/>
              <a:ext cx="1883664" cy="512064"/>
            </a:xfrm>
            <a:prstGeom prst="roundRect">
              <a:avLst>
                <a:gd name="adj" fmla="val 28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17550" y="5862577"/>
              <a:ext cx="1700784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Billing integrity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17550" y="6100321"/>
              <a:ext cx="170078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>
                  <a:solidFill>
                    <a:srgbClr val="FFFFFF"/>
                  </a:solidFill>
                  <a:latin typeface="Inter Medium"/>
                </a:rPr>
                <a:t>Two checks · 07–08</a:t>
              </a:r>
            </a:p>
          </p:txBody>
        </p:sp>
      </p:grpSp>
      <p:grpSp>
        <p:nvGrpSpPr>
          <p:cNvPr id="34" name="Contract control"/>
          <p:cNvGrpSpPr/>
          <p:nvPr/>
        </p:nvGrpSpPr>
        <p:grpSpPr>
          <a:xfrm>
            <a:off x="2676133" y="3920618"/>
            <a:ext cx="1569720" cy="426720"/>
            <a:chOff x="3211359" y="4704742"/>
            <a:chExt cx="1883664" cy="512064"/>
          </a:xfrm>
        </p:grpSpPr>
        <p:sp>
          <p:nvSpPr>
            <p:cNvPr id="31" name="Rounded Rectangle 30"/>
            <p:cNvSpPr/>
            <p:nvPr/>
          </p:nvSpPr>
          <p:spPr>
            <a:xfrm>
              <a:off x="3211359" y="4704742"/>
              <a:ext cx="1883664" cy="512064"/>
            </a:xfrm>
            <a:prstGeom prst="roundRect">
              <a:avLst>
                <a:gd name="adj" fmla="val 28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302799" y="4750462"/>
              <a:ext cx="1700784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Contract control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302799" y="4988206"/>
              <a:ext cx="170078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>
                  <a:solidFill>
                    <a:srgbClr val="FFFFFF"/>
                  </a:solidFill>
                  <a:latin typeface="Inter Medium"/>
                </a:rPr>
                <a:t>Two checks · 09–10</a:t>
              </a:r>
            </a:p>
          </p:txBody>
        </p:sp>
      </p:grpSp>
      <p:grpSp>
        <p:nvGrpSpPr>
          <p:cNvPr id="38" name="Commercial assurance"/>
          <p:cNvGrpSpPr/>
          <p:nvPr/>
        </p:nvGrpSpPr>
        <p:grpSpPr>
          <a:xfrm>
            <a:off x="3382181" y="2654638"/>
            <a:ext cx="1569720" cy="426720"/>
            <a:chOff x="4058617" y="3185565"/>
            <a:chExt cx="1883664" cy="512064"/>
          </a:xfrm>
        </p:grpSpPr>
        <p:sp>
          <p:nvSpPr>
            <p:cNvPr id="35" name="Rounded Rectangle 34"/>
            <p:cNvSpPr/>
            <p:nvPr/>
          </p:nvSpPr>
          <p:spPr>
            <a:xfrm>
              <a:off x="4058617" y="3185565"/>
              <a:ext cx="1883664" cy="512064"/>
            </a:xfrm>
            <a:prstGeom prst="roundRect">
              <a:avLst>
                <a:gd name="adj" fmla="val 28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50057" y="3231285"/>
              <a:ext cx="1700784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Commercial assurance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50057" y="3469029"/>
              <a:ext cx="170078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>
                  <a:solidFill>
                    <a:srgbClr val="FFFFFF"/>
                  </a:solidFill>
                  <a:latin typeface="Inter Medium"/>
                </a:rPr>
                <a:t>Two checks · 11–12</a:t>
              </a:r>
            </a:p>
          </p:txBody>
        </p:sp>
      </p:grpSp>
      <p:grpSp>
        <p:nvGrpSpPr>
          <p:cNvPr id="43" name="Validate labour costs"/>
          <p:cNvGrpSpPr/>
          <p:nvPr/>
        </p:nvGrpSpPr>
        <p:grpSpPr>
          <a:xfrm>
            <a:off x="5212080" y="1402080"/>
            <a:ext cx="1767840" cy="518160"/>
            <a:chOff x="6254496" y="1682496"/>
            <a:chExt cx="2121408" cy="621792"/>
          </a:xfrm>
        </p:grpSpPr>
        <p:sp>
          <p:nvSpPr>
            <p:cNvPr id="39" name="Rounded Rectangle 38"/>
            <p:cNvSpPr/>
            <p:nvPr/>
          </p:nvSpPr>
          <p:spPr>
            <a:xfrm>
              <a:off x="6254496" y="168249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6254496" y="168249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19088" y="172821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19088" y="1874520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Validate labour costs</a:t>
              </a:r>
            </a:p>
          </p:txBody>
        </p:sp>
      </p:grpSp>
      <p:grpSp>
        <p:nvGrpSpPr>
          <p:cNvPr id="48" name="Validate equipment costs"/>
          <p:cNvGrpSpPr/>
          <p:nvPr/>
        </p:nvGrpSpPr>
        <p:grpSpPr>
          <a:xfrm>
            <a:off x="7559040" y="1687928"/>
            <a:ext cx="1767840" cy="518160"/>
            <a:chOff x="9070848" y="2025513"/>
            <a:chExt cx="2121408" cy="621792"/>
          </a:xfrm>
        </p:grpSpPr>
        <p:sp>
          <p:nvSpPr>
            <p:cNvPr id="44" name="Rounded Rectangle 43"/>
            <p:cNvSpPr/>
            <p:nvPr/>
          </p:nvSpPr>
          <p:spPr>
            <a:xfrm>
              <a:off x="9070848" y="2025513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070848" y="2025513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235440" y="2071233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235440" y="2217537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Validate equipment costs</a:t>
              </a:r>
            </a:p>
          </p:txBody>
        </p:sp>
      </p:grpSp>
      <p:grpSp>
        <p:nvGrpSpPr>
          <p:cNvPr id="53" name="Validate subcontractor costs"/>
          <p:cNvGrpSpPr/>
          <p:nvPr/>
        </p:nvGrpSpPr>
        <p:grpSpPr>
          <a:xfrm>
            <a:off x="9277133" y="2468880"/>
            <a:ext cx="1767840" cy="518160"/>
            <a:chOff x="11132560" y="2962656"/>
            <a:chExt cx="2121408" cy="621792"/>
          </a:xfrm>
        </p:grpSpPr>
        <p:sp>
          <p:nvSpPr>
            <p:cNvPr id="49" name="Rounded Rectangle 48"/>
            <p:cNvSpPr/>
            <p:nvPr/>
          </p:nvSpPr>
          <p:spPr>
            <a:xfrm>
              <a:off x="11132560" y="296265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11132560" y="296265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1297152" y="300837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297152" y="3154680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Validate subcontractor costs</a:t>
              </a:r>
            </a:p>
          </p:txBody>
        </p:sp>
      </p:grpSp>
      <p:grpSp>
        <p:nvGrpSpPr>
          <p:cNvPr id="58" name="Validate material costs"/>
          <p:cNvGrpSpPr/>
          <p:nvPr/>
        </p:nvGrpSpPr>
        <p:grpSpPr>
          <a:xfrm>
            <a:off x="9906000" y="3535680"/>
            <a:ext cx="1767840" cy="518160"/>
            <a:chOff x="11887200" y="4242816"/>
            <a:chExt cx="2121408" cy="621792"/>
          </a:xfrm>
        </p:grpSpPr>
        <p:sp>
          <p:nvSpPr>
            <p:cNvPr id="54" name="Rounded Rectangle 53"/>
            <p:cNvSpPr/>
            <p:nvPr/>
          </p:nvSpPr>
          <p:spPr>
            <a:xfrm>
              <a:off x="11887200" y="424281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1887200" y="424281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2051792" y="428853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04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051792" y="4434840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Validate material costs</a:t>
              </a:r>
            </a:p>
          </p:txBody>
        </p:sp>
      </p:grpSp>
      <p:grpSp>
        <p:nvGrpSpPr>
          <p:cNvPr id="63" name="Validate indirect costs"/>
          <p:cNvGrpSpPr/>
          <p:nvPr/>
        </p:nvGrpSpPr>
        <p:grpSpPr>
          <a:xfrm>
            <a:off x="9277133" y="4602480"/>
            <a:ext cx="1767840" cy="518160"/>
            <a:chOff x="11132560" y="5522976"/>
            <a:chExt cx="2121408" cy="621792"/>
          </a:xfrm>
        </p:grpSpPr>
        <p:sp>
          <p:nvSpPr>
            <p:cNvPr id="59" name="Rounded Rectangle 58"/>
            <p:cNvSpPr/>
            <p:nvPr/>
          </p:nvSpPr>
          <p:spPr>
            <a:xfrm>
              <a:off x="11132560" y="552297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1132560" y="552297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1297152" y="556869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05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297152" y="5715000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Validate indirect costs</a:t>
              </a:r>
            </a:p>
          </p:txBody>
        </p:sp>
      </p:grpSp>
      <p:grpSp>
        <p:nvGrpSpPr>
          <p:cNvPr id="68" name="Validate overhead and fee"/>
          <p:cNvGrpSpPr/>
          <p:nvPr/>
        </p:nvGrpSpPr>
        <p:grpSpPr>
          <a:xfrm>
            <a:off x="7559040" y="5383432"/>
            <a:ext cx="1767840" cy="518160"/>
            <a:chOff x="9070848" y="6460118"/>
            <a:chExt cx="2121408" cy="621792"/>
          </a:xfrm>
        </p:grpSpPr>
        <p:sp>
          <p:nvSpPr>
            <p:cNvPr id="64" name="Rounded Rectangle 63"/>
            <p:cNvSpPr/>
            <p:nvPr/>
          </p:nvSpPr>
          <p:spPr>
            <a:xfrm>
              <a:off x="9070848" y="6460118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9070848" y="6460118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235440" y="6505838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06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235440" y="6652142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Validate overhead and fee</a:t>
              </a:r>
            </a:p>
          </p:txBody>
        </p:sp>
      </p:grpSp>
      <p:grpSp>
        <p:nvGrpSpPr>
          <p:cNvPr id="73" name="Detect duplicate billing"/>
          <p:cNvGrpSpPr/>
          <p:nvPr/>
        </p:nvGrpSpPr>
        <p:grpSpPr>
          <a:xfrm>
            <a:off x="5212079" y="5669280"/>
            <a:ext cx="1767840" cy="518160"/>
            <a:chOff x="6254495" y="6803136"/>
            <a:chExt cx="2121408" cy="621792"/>
          </a:xfrm>
        </p:grpSpPr>
        <p:sp>
          <p:nvSpPr>
            <p:cNvPr id="69" name="Rounded Rectangle 68"/>
            <p:cNvSpPr/>
            <p:nvPr/>
          </p:nvSpPr>
          <p:spPr>
            <a:xfrm>
              <a:off x="6254495" y="680313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6254495" y="680313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419087" y="684885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E86C1F"/>
                  </a:solidFill>
                  <a:latin typeface="Inter Medium"/>
                </a:rPr>
                <a:t>07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419087" y="6995160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Detect duplicate billing</a:t>
              </a:r>
            </a:p>
          </p:txBody>
        </p:sp>
      </p:grpSp>
      <p:grpSp>
        <p:nvGrpSpPr>
          <p:cNvPr id="78" name="Detect unsupported charges"/>
          <p:cNvGrpSpPr/>
          <p:nvPr/>
        </p:nvGrpSpPr>
        <p:grpSpPr>
          <a:xfrm>
            <a:off x="2865119" y="5383432"/>
            <a:ext cx="1767840" cy="518160"/>
            <a:chOff x="3438143" y="6460118"/>
            <a:chExt cx="2121408" cy="621792"/>
          </a:xfrm>
        </p:grpSpPr>
        <p:sp>
          <p:nvSpPr>
            <p:cNvPr id="74" name="Rounded Rectangle 73"/>
            <p:cNvSpPr/>
            <p:nvPr/>
          </p:nvSpPr>
          <p:spPr>
            <a:xfrm>
              <a:off x="3438143" y="6460118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3438143" y="6460118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602735" y="6505838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E86C1F"/>
                  </a:solidFill>
                  <a:latin typeface="Inter Medium"/>
                </a:rPr>
                <a:t>08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602735" y="6652142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Detect unsupported charges</a:t>
              </a:r>
            </a:p>
          </p:txBody>
        </p:sp>
      </p:grpSp>
      <p:grpSp>
        <p:nvGrpSpPr>
          <p:cNvPr id="83" name="Cross-reference contract clauses"/>
          <p:cNvGrpSpPr/>
          <p:nvPr/>
        </p:nvGrpSpPr>
        <p:grpSpPr>
          <a:xfrm>
            <a:off x="1147026" y="4602480"/>
            <a:ext cx="1767840" cy="518160"/>
            <a:chOff x="1376431" y="5522976"/>
            <a:chExt cx="2121408" cy="621792"/>
          </a:xfrm>
        </p:grpSpPr>
        <p:sp>
          <p:nvSpPr>
            <p:cNvPr id="79" name="Rounded Rectangle 78"/>
            <p:cNvSpPr/>
            <p:nvPr/>
          </p:nvSpPr>
          <p:spPr>
            <a:xfrm>
              <a:off x="1376431" y="552297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1376431" y="552297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541023" y="556869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7A4A2B"/>
                  </a:solidFill>
                  <a:latin typeface="Inter Medium"/>
                </a:rPr>
                <a:t>09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541023" y="5715000"/>
              <a:ext cx="1847088" cy="2953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Cross-reference contract clauses</a:t>
              </a:r>
            </a:p>
          </p:txBody>
        </p:sp>
      </p:grpSp>
      <p:grpSp>
        <p:nvGrpSpPr>
          <p:cNvPr id="88" name="Review change orders"/>
          <p:cNvGrpSpPr/>
          <p:nvPr/>
        </p:nvGrpSpPr>
        <p:grpSpPr>
          <a:xfrm>
            <a:off x="518160" y="3535680"/>
            <a:ext cx="1767840" cy="518160"/>
            <a:chOff x="621792" y="4242816"/>
            <a:chExt cx="2121408" cy="621792"/>
          </a:xfrm>
        </p:grpSpPr>
        <p:sp>
          <p:nvSpPr>
            <p:cNvPr id="84" name="Rounded Rectangle 83"/>
            <p:cNvSpPr/>
            <p:nvPr/>
          </p:nvSpPr>
          <p:spPr>
            <a:xfrm>
              <a:off x="621792" y="424281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621792" y="424281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786383" y="428853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7A4A2B"/>
                  </a:solidFill>
                  <a:latin typeface="Inter Medium"/>
                </a:rPr>
                <a:t>10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86383" y="4434840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Review change orders</a:t>
              </a:r>
            </a:p>
          </p:txBody>
        </p:sp>
      </p:grpSp>
      <p:grpSp>
        <p:nvGrpSpPr>
          <p:cNvPr id="93" name="Monitor target-cost performance"/>
          <p:cNvGrpSpPr/>
          <p:nvPr/>
        </p:nvGrpSpPr>
        <p:grpSpPr>
          <a:xfrm>
            <a:off x="1147026" y="2468880"/>
            <a:ext cx="1767840" cy="518160"/>
            <a:chOff x="1376431" y="2962656"/>
            <a:chExt cx="2121408" cy="621792"/>
          </a:xfrm>
        </p:grpSpPr>
        <p:sp>
          <p:nvSpPr>
            <p:cNvPr id="89" name="Rounded Rectangle 88"/>
            <p:cNvSpPr/>
            <p:nvPr/>
          </p:nvSpPr>
          <p:spPr>
            <a:xfrm>
              <a:off x="1376431" y="2962656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1376431" y="2962656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541023" y="3008376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2E7D52"/>
                  </a:solidFill>
                  <a:latin typeface="Inter Medium"/>
                </a:rPr>
                <a:t>11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541023" y="3154680"/>
              <a:ext cx="1847088" cy="2953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Monitor target-cost performance</a:t>
              </a:r>
            </a:p>
          </p:txBody>
        </p:sp>
      </p:grpSp>
      <p:grpSp>
        <p:nvGrpSpPr>
          <p:cNvPr id="98" name="Audit-ready evidence packs"/>
          <p:cNvGrpSpPr/>
          <p:nvPr/>
        </p:nvGrpSpPr>
        <p:grpSpPr>
          <a:xfrm>
            <a:off x="2865120" y="1687928"/>
            <a:ext cx="1767840" cy="518160"/>
            <a:chOff x="3438144" y="2025513"/>
            <a:chExt cx="2121408" cy="621792"/>
          </a:xfrm>
        </p:grpSpPr>
        <p:sp>
          <p:nvSpPr>
            <p:cNvPr id="94" name="Rounded Rectangle 93"/>
            <p:cNvSpPr/>
            <p:nvPr/>
          </p:nvSpPr>
          <p:spPr>
            <a:xfrm>
              <a:off x="3438144" y="2025513"/>
              <a:ext cx="2121408" cy="621792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587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3438144" y="2025513"/>
              <a:ext cx="64008" cy="621792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602736" y="2071233"/>
              <a:ext cx="45720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2E7D52"/>
                  </a:solidFill>
                  <a:latin typeface="Inter Medium"/>
                </a:rPr>
                <a:t>12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602736" y="2217537"/>
              <a:ext cx="1847088" cy="1432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Audit-ready evidence packs</a:t>
              </a:r>
            </a:p>
          </p:txBody>
        </p:sp>
      </p:grpSp>
      <p:grpSp>
        <p:nvGrpSpPr>
          <p:cNvPr id="102" name="note left"/>
          <p:cNvGrpSpPr/>
          <p:nvPr/>
        </p:nvGrpSpPr>
        <p:grpSpPr>
          <a:xfrm>
            <a:off x="320040" y="1310640"/>
            <a:ext cx="1783080" cy="472440"/>
            <a:chOff x="384048" y="1572768"/>
            <a:chExt cx="2139696" cy="566928"/>
          </a:xfrm>
        </p:grpSpPr>
        <p:sp>
          <p:nvSpPr>
            <p:cNvPr id="99" name="Rounded Rectangle 98"/>
            <p:cNvSpPr/>
            <p:nvPr/>
          </p:nvSpPr>
          <p:spPr>
            <a:xfrm>
              <a:off x="384048" y="1572768"/>
              <a:ext cx="2139696" cy="566928"/>
            </a:xfrm>
            <a:prstGeom prst="roundRect">
              <a:avLst>
                <a:gd name="adj" fmla="val 10000"/>
              </a:avLst>
            </a:prstGeom>
            <a:solidFill>
              <a:srgbClr val="E3ECFA"/>
            </a:solidFill>
            <a:ln w="952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93776" y="1627632"/>
              <a:ext cx="192024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004AAC"/>
                  </a:solidFill>
                  <a:latin typeface="Inter Medium"/>
                </a:rPr>
                <a:t>WHAT DRIVES IT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93776" y="1792224"/>
              <a:ext cx="1938528" cy="2686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08">
                  <a:solidFill>
                    <a:srgbClr val="2B2E3B"/>
                  </a:solidFill>
                  <a:latin typeface="Inter Light"/>
                </a:rPr>
                <a:t>Three rule levels — generic, contract type, contract</a:t>
              </a:r>
            </a:p>
          </p:txBody>
        </p:sp>
      </p:grpSp>
      <p:grpSp>
        <p:nvGrpSpPr>
          <p:cNvPr id="106" name="note right"/>
          <p:cNvGrpSpPr/>
          <p:nvPr/>
        </p:nvGrpSpPr>
        <p:grpSpPr>
          <a:xfrm>
            <a:off x="10088880" y="1310640"/>
            <a:ext cx="1783080" cy="472440"/>
            <a:chOff x="12106656" y="1572768"/>
            <a:chExt cx="2139696" cy="566928"/>
          </a:xfrm>
        </p:grpSpPr>
        <p:sp>
          <p:nvSpPr>
            <p:cNvPr id="103" name="Rounded Rectangle 102"/>
            <p:cNvSpPr/>
            <p:nvPr/>
          </p:nvSpPr>
          <p:spPr>
            <a:xfrm>
              <a:off x="12106656" y="1572768"/>
              <a:ext cx="2139696" cy="566928"/>
            </a:xfrm>
            <a:prstGeom prst="roundRect">
              <a:avLst>
                <a:gd name="adj" fmla="val 10000"/>
              </a:avLst>
            </a:prstGeom>
            <a:solidFill>
              <a:srgbClr val="E5F1EA"/>
            </a:solidFill>
            <a:ln w="952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2216384" y="1627632"/>
              <a:ext cx="1920240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667" b="1">
                  <a:solidFill>
                    <a:srgbClr val="2E7D52"/>
                  </a:solidFill>
                  <a:latin typeface="Inter Medium"/>
                </a:rPr>
                <a:t>WHAT COMES OUT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12216384" y="1792224"/>
              <a:ext cx="1938528" cy="2686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08">
                  <a:solidFill>
                    <a:srgbClr val="2B2E3B"/>
                  </a:solidFill>
                  <a:latin typeface="Inter Light"/>
                </a:rPr>
                <a:t>A cleared position, a flagged exception, or a question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03860" y="548640"/>
            <a:ext cx="7620000" cy="167640"/>
          </a:xfrm>
        </p:spPr>
        <p:txBody>
          <a:bodyPr/>
          <a:lstStyle/>
          <a:p>
            <a:r>
              <a:rPr sz="833">
                <a:solidFill>
                  <a:srgbClr val="004AAC"/>
                </a:solidFill>
                <a:latin typeface="Inter Medium"/>
              </a:rPr>
              <a:t>SEQUENCE, DEPENDENCIES, AND THE ONE RULE THAT FIXES THE ORDER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IN" sz="2083">
                <a:solidFill>
                  <a:srgbClr val="0E1020"/>
                </a:solidFill>
              </a:rPr>
              <a:t>Process flow - </a:t>
            </a:r>
            <a:r>
              <a:rPr sz="2083">
                <a:solidFill>
                  <a:srgbClr val="0E1020"/>
                </a:solidFill>
              </a:rPr>
              <a:t>How the Four</a:t>
            </a:r>
            <a:r>
              <a:rPr lang="en-IN" sz="2083">
                <a:solidFill>
                  <a:srgbClr val="0E1020"/>
                </a:solidFill>
              </a:rPr>
              <a:t> </a:t>
            </a:r>
            <a:r>
              <a:rPr sz="2083">
                <a:solidFill>
                  <a:srgbClr val="0E1020"/>
                </a:solidFill>
              </a:rPr>
              <a:t>Work Together</a:t>
            </a:r>
          </a:p>
        </p:txBody>
      </p:sp>
      <p:grpSp>
        <p:nvGrpSpPr>
          <p:cNvPr id="10" name="cap change order"/>
          <p:cNvGrpSpPr/>
          <p:nvPr/>
        </p:nvGrpSpPr>
        <p:grpSpPr>
          <a:xfrm>
            <a:off x="3307080" y="1203960"/>
            <a:ext cx="5745480" cy="777240"/>
            <a:chOff x="3968496" y="1444752"/>
            <a:chExt cx="6894576" cy="932688"/>
          </a:xfrm>
        </p:grpSpPr>
        <p:sp>
          <p:nvSpPr>
            <p:cNvPr id="4" name="Rounded Rectangle 3"/>
            <p:cNvSpPr/>
            <p:nvPr/>
          </p:nvSpPr>
          <p:spPr>
            <a:xfrm>
              <a:off x="3968496" y="1444752"/>
              <a:ext cx="6894576" cy="932688"/>
            </a:xfrm>
            <a:prstGeom prst="roundRect">
              <a:avLst>
                <a:gd name="adj" fmla="val 5000"/>
              </a:avLst>
            </a:prstGeom>
            <a:solidFill>
              <a:srgbClr val="FDEEE0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187952" y="1627632"/>
              <a:ext cx="329184" cy="256032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87952" y="1682513"/>
              <a:ext cx="3291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08576" y="1591056"/>
              <a:ext cx="3840480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125" b="1">
                  <a:solidFill>
                    <a:srgbClr val="0E1020"/>
                  </a:solidFill>
                  <a:latin typeface="Inter"/>
                </a:rPr>
                <a:t>Change order validation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87952" y="1975104"/>
              <a:ext cx="6455664" cy="3210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Approved change moves the contract itself — rates, caps, scope and the target price. It runs first, because everything downstream is tested against terms it has re-based.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28431" y="1627632"/>
              <a:ext cx="261518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THE GOVERNING CAPABILITY</a:t>
              </a:r>
            </a:p>
          </p:txBody>
        </p:sp>
      </p:grpSp>
      <p:grpSp>
        <p:nvGrpSpPr>
          <p:cNvPr id="22" name="cap Invoice and ledger automation"/>
          <p:cNvGrpSpPr/>
          <p:nvPr/>
        </p:nvGrpSpPr>
        <p:grpSpPr>
          <a:xfrm>
            <a:off x="320040" y="2621281"/>
            <a:ext cx="2758440" cy="1737359"/>
            <a:chOff x="384048" y="3145536"/>
            <a:chExt cx="3310128" cy="2084831"/>
          </a:xfrm>
        </p:grpSpPr>
        <p:sp>
          <p:nvSpPr>
            <p:cNvPr id="11" name="Rounded Rectangle 10"/>
            <p:cNvSpPr/>
            <p:nvPr/>
          </p:nvSpPr>
          <p:spPr>
            <a:xfrm>
              <a:off x="384048" y="3145536"/>
              <a:ext cx="3310128" cy="2084831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84048" y="3145536"/>
              <a:ext cx="3310128" cy="82296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85216" y="3364991"/>
              <a:ext cx="329184" cy="256032"/>
            </a:xfrm>
            <a:prstGeom prst="roundRect">
              <a:avLst>
                <a:gd name="adj" fmla="val 3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85216" y="3419870"/>
              <a:ext cx="3291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5840" y="3328416"/>
              <a:ext cx="2487168" cy="419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1125" b="1">
                  <a:solidFill>
                    <a:srgbClr val="0E1020"/>
                  </a:solidFill>
                  <a:latin typeface="Inter"/>
                </a:rPr>
                <a:t>Invoice and ledger automation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5216" y="3767328"/>
              <a:ext cx="2907792" cy="4957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6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Reads the claim, matches it to timesheets, dockets and the ledger, and clears duplicates before anything is priced.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85216" y="4370831"/>
              <a:ext cx="2907792" cy="0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85216" y="4443983"/>
              <a:ext cx="74980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5F6372"/>
                  </a:solidFill>
                  <a:latin typeface="Inter Medium"/>
                </a:rPr>
                <a:t>NEEDS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35024" y="4425696"/>
              <a:ext cx="215798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The claim and its evidence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5216" y="4773168"/>
              <a:ext cx="74980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2E7D52"/>
                  </a:solidFill>
                  <a:latin typeface="Inter Medium"/>
                </a:rPr>
                <a:t>GIVES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35024" y="4754879"/>
              <a:ext cx="215798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2E7D52"/>
                  </a:solidFill>
                  <a:latin typeface="Inter Medium"/>
                </a:rPr>
                <a:t>Clean, reconciled lines</a:t>
              </a:r>
            </a:p>
          </p:txBody>
        </p:sp>
      </p:grpSp>
      <p:grpSp>
        <p:nvGrpSpPr>
          <p:cNvPr id="34" name="cap Continuous cost verification"/>
          <p:cNvGrpSpPr/>
          <p:nvPr/>
        </p:nvGrpSpPr>
        <p:grpSpPr>
          <a:xfrm>
            <a:off x="3307080" y="2621281"/>
            <a:ext cx="2758440" cy="1737359"/>
            <a:chOff x="3968496" y="3145536"/>
            <a:chExt cx="3310128" cy="2084831"/>
          </a:xfrm>
        </p:grpSpPr>
        <p:sp>
          <p:nvSpPr>
            <p:cNvPr id="23" name="Rounded Rectangle 22"/>
            <p:cNvSpPr/>
            <p:nvPr/>
          </p:nvSpPr>
          <p:spPr>
            <a:xfrm>
              <a:off x="3968496" y="3145536"/>
              <a:ext cx="3310128" cy="2084831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968496" y="3145536"/>
              <a:ext cx="3310128" cy="8229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169663" y="3364991"/>
              <a:ext cx="329184" cy="256032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69663" y="3419870"/>
              <a:ext cx="3291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590288" y="3328416"/>
              <a:ext cx="2487168" cy="2034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1125" b="1">
                  <a:solidFill>
                    <a:srgbClr val="0E1020"/>
                  </a:solidFill>
                  <a:latin typeface="Inter"/>
                </a:rPr>
                <a:t>Continuous cost verification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169663" y="3767328"/>
              <a:ext cx="2907792" cy="4957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6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Tests every remaining line against the payment terms then in force — rates, caps, allowable cost and substantiation.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4169663" y="4370831"/>
              <a:ext cx="2907793" cy="0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4169663" y="4443983"/>
              <a:ext cx="74980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5F6372"/>
                  </a:solidFill>
                  <a:latin typeface="Inter Medium"/>
                </a:rPr>
                <a:t>NEEDS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19472" y="4425696"/>
              <a:ext cx="215798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Clean lines, and current rules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69663" y="4773168"/>
              <a:ext cx="74980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004AAC"/>
                  </a:solidFill>
                  <a:latin typeface="Inter Medium"/>
                </a:rPr>
                <a:t>GIVES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19472" y="4754879"/>
              <a:ext cx="215798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04AAC"/>
                  </a:solidFill>
                  <a:latin typeface="Inter Medium"/>
                </a:rPr>
                <a:t>Verified cost and exceptions</a:t>
              </a:r>
            </a:p>
          </p:txBody>
        </p:sp>
      </p:grpSp>
      <p:grpSp>
        <p:nvGrpSpPr>
          <p:cNvPr id="46" name="cap Target cost and price monitoring"/>
          <p:cNvGrpSpPr/>
          <p:nvPr/>
        </p:nvGrpSpPr>
        <p:grpSpPr>
          <a:xfrm>
            <a:off x="6294120" y="2621281"/>
            <a:ext cx="2758440" cy="1737359"/>
            <a:chOff x="7552944" y="3145536"/>
            <a:chExt cx="3310128" cy="2084831"/>
          </a:xfrm>
        </p:grpSpPr>
        <p:sp>
          <p:nvSpPr>
            <p:cNvPr id="35" name="Rounded Rectangle 34"/>
            <p:cNvSpPr/>
            <p:nvPr/>
          </p:nvSpPr>
          <p:spPr>
            <a:xfrm>
              <a:off x="7552944" y="3145536"/>
              <a:ext cx="3310128" cy="2084831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552944" y="3145536"/>
              <a:ext cx="3310128" cy="82296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754112" y="3364991"/>
              <a:ext cx="329184" cy="256032"/>
            </a:xfrm>
            <a:prstGeom prst="roundRect">
              <a:avLst>
                <a:gd name="adj" fmla="val 3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754112" y="3419870"/>
              <a:ext cx="3291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04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74736" y="3328416"/>
              <a:ext cx="2487168" cy="419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4000"/>
                </a:lnSpc>
                <a:spcAft>
                  <a:spcPts val="167"/>
                </a:spcAft>
              </a:pPr>
              <a:r>
                <a:rPr sz="1125" b="1">
                  <a:solidFill>
                    <a:srgbClr val="0E1020"/>
                  </a:solidFill>
                  <a:latin typeface="Inter"/>
                </a:rPr>
                <a:t>Target cost and price monitoring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54112" y="3767328"/>
              <a:ext cx="2907792" cy="4957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6000"/>
                </a:lnSpc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Recomputes the commercial position from cost that has been verified — never from cost that has merely been claimed.</a:t>
              </a: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7754112" y="4370831"/>
              <a:ext cx="2907791" cy="0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7754112" y="4443983"/>
              <a:ext cx="74980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5F6372"/>
                  </a:solidFill>
                  <a:latin typeface="Inter Medium"/>
                </a:rPr>
                <a:t>NEEDS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503920" y="4425696"/>
              <a:ext cx="215798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Verified cost, current target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54112" y="4773168"/>
              <a:ext cx="74980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7A4A2B"/>
                  </a:solidFill>
                  <a:latin typeface="Inter Medium"/>
                </a:rPr>
                <a:t>GIVES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503920" y="4754879"/>
              <a:ext cx="215798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7A4A2B"/>
                  </a:solidFill>
                  <a:latin typeface="Inter Medium"/>
                </a:rPr>
                <a:t>Position, exposure, forecast</a:t>
              </a:r>
            </a:p>
          </p:txBody>
        </p:sp>
      </p:grpSp>
      <p:sp>
        <p:nvSpPr>
          <p:cNvPr id="47" name="Right Arrow 46"/>
          <p:cNvSpPr/>
          <p:nvPr/>
        </p:nvSpPr>
        <p:spPr>
          <a:xfrm>
            <a:off x="3101340" y="3406140"/>
            <a:ext cx="182880" cy="167640"/>
          </a:xfrm>
          <a:prstGeom prst="rightArrow">
            <a:avLst/>
          </a:prstGeom>
          <a:solidFill>
            <a:srgbClr val="D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8" name="Right Arrow 47"/>
          <p:cNvSpPr/>
          <p:nvPr/>
        </p:nvSpPr>
        <p:spPr>
          <a:xfrm>
            <a:off x="6088380" y="3406140"/>
            <a:ext cx="182880" cy="167640"/>
          </a:xfrm>
          <a:prstGeom prst="rightArrow">
            <a:avLst/>
          </a:prstGeom>
          <a:solidFill>
            <a:srgbClr val="D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49" name="Right Arrow 48"/>
          <p:cNvSpPr/>
          <p:nvPr/>
        </p:nvSpPr>
        <p:spPr>
          <a:xfrm>
            <a:off x="9075419" y="3406140"/>
            <a:ext cx="182880" cy="167640"/>
          </a:xfrm>
          <a:prstGeom prst="rightArrow">
            <a:avLst/>
          </a:prstGeom>
          <a:solidFill>
            <a:srgbClr val="D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0" name="Down Arrow 49"/>
          <p:cNvSpPr/>
          <p:nvPr/>
        </p:nvSpPr>
        <p:spPr>
          <a:xfrm>
            <a:off x="4602480" y="2011681"/>
            <a:ext cx="167640" cy="579119"/>
          </a:xfrm>
          <a:prstGeom prst="downArrow">
            <a:avLst/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1" name="TextBox 50"/>
          <p:cNvSpPr txBox="1"/>
          <p:nvPr/>
        </p:nvSpPr>
        <p:spPr>
          <a:xfrm>
            <a:off x="4823460" y="2179320"/>
            <a:ext cx="12954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E86C1F"/>
                </a:solidFill>
                <a:latin typeface="Inter Medium"/>
              </a:rPr>
              <a:t>Rules re-based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7589520" y="2011681"/>
            <a:ext cx="167640" cy="579119"/>
          </a:xfrm>
          <a:prstGeom prst="downArrow">
            <a:avLst/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53" name="TextBox 52"/>
          <p:cNvSpPr txBox="1"/>
          <p:nvPr/>
        </p:nvSpPr>
        <p:spPr>
          <a:xfrm>
            <a:off x="7810500" y="2179320"/>
            <a:ext cx="12954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E86C1F"/>
                </a:solidFill>
                <a:latin typeface="Inter Medium"/>
              </a:rPr>
              <a:t>Target re-based</a:t>
            </a:r>
          </a:p>
        </p:txBody>
      </p:sp>
      <p:grpSp>
        <p:nvGrpSpPr>
          <p:cNvPr id="65" name="outcome"/>
          <p:cNvGrpSpPr/>
          <p:nvPr/>
        </p:nvGrpSpPr>
        <p:grpSpPr>
          <a:xfrm>
            <a:off x="9281160" y="2621281"/>
            <a:ext cx="2590800" cy="1737359"/>
            <a:chOff x="11137392" y="3145536"/>
            <a:chExt cx="3108960" cy="2084831"/>
          </a:xfrm>
        </p:grpSpPr>
        <p:sp>
          <p:nvSpPr>
            <p:cNvPr id="54" name="Rounded Rectangle 53"/>
            <p:cNvSpPr/>
            <p:nvPr/>
          </p:nvSpPr>
          <p:spPr>
            <a:xfrm>
              <a:off x="11137392" y="3145536"/>
              <a:ext cx="3108960" cy="2084831"/>
            </a:xfrm>
            <a:prstGeom prst="roundRect">
              <a:avLst>
                <a:gd name="adj" fmla="val 5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356848" y="3346704"/>
              <a:ext cx="2670048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WHAT TI</a:t>
              </a:r>
              <a:r>
                <a:rPr lang="en-IN" sz="708" b="1">
                  <a:solidFill>
                    <a:srgbClr val="E86C1F"/>
                  </a:solidFill>
                  <a:latin typeface="Inter Medium"/>
                </a:rPr>
                <a:t>C </a:t>
              </a:r>
              <a:r>
                <a:rPr sz="708" b="1">
                  <a:solidFill>
                    <a:srgbClr val="E86C1F"/>
                  </a:solidFill>
                  <a:latin typeface="Inter Medium"/>
                </a:rPr>
                <a:t>GETS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1356848" y="3566160"/>
              <a:ext cx="2670048" cy="2155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167" b="1">
                  <a:solidFill>
                    <a:srgbClr val="FFFFFF"/>
                  </a:solidFill>
                  <a:latin typeface="Inter"/>
                </a:rPr>
                <a:t>One current picture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1375136" y="4023359"/>
              <a:ext cx="73152" cy="7315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1539728" y="3968496"/>
              <a:ext cx="2487168" cy="149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92">
                  <a:solidFill>
                    <a:srgbClr val="E7E9F0"/>
                  </a:solidFill>
                  <a:latin typeface="Inter Light"/>
                </a:rPr>
                <a:t>A certified position, line by line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1375136" y="4334255"/>
              <a:ext cx="73152" cy="7315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1539728" y="4279392"/>
              <a:ext cx="2487168" cy="149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92">
                  <a:solidFill>
                    <a:srgbClr val="E7E9F0"/>
                  </a:solidFill>
                  <a:latin typeface="Inter Light"/>
                </a:rPr>
                <a:t>Exceptions with clause and evidence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1375136" y="4645151"/>
              <a:ext cx="73152" cy="7315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539728" y="4590288"/>
              <a:ext cx="2487168" cy="149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92">
                  <a:solidFill>
                    <a:srgbClr val="E7E9F0"/>
                  </a:solidFill>
                  <a:latin typeface="Inter Light"/>
                </a:rPr>
                <a:t>A forecast built on verified cost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1375136" y="4956047"/>
              <a:ext cx="73152" cy="7315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539728" y="4901183"/>
              <a:ext cx="2487168" cy="149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92">
                  <a:solidFill>
                    <a:srgbClr val="E7E9F0"/>
                  </a:solidFill>
                  <a:latin typeface="Inter Light"/>
                </a:rPr>
                <a:t>An audit trail for every determination</a:t>
              </a:r>
            </a:p>
          </p:txBody>
        </p:sp>
      </p:grpSp>
      <p:cxnSp>
        <p:nvCxnSpPr>
          <p:cNvPr id="66" name="Connector 65"/>
          <p:cNvCxnSpPr/>
          <p:nvPr/>
        </p:nvCxnSpPr>
        <p:spPr>
          <a:xfrm>
            <a:off x="7673340" y="4373880"/>
            <a:ext cx="0" cy="190501"/>
          </a:xfrm>
          <a:prstGeom prst="line">
            <a:avLst/>
          </a:prstGeom>
          <a:ln w="15875">
            <a:solidFill>
              <a:srgbClr val="7A4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Left Arrow 66"/>
          <p:cNvSpPr/>
          <p:nvPr/>
        </p:nvSpPr>
        <p:spPr>
          <a:xfrm>
            <a:off x="1607820" y="4480560"/>
            <a:ext cx="6065520" cy="167640"/>
          </a:xfrm>
          <a:prstGeom prst="leftArrow">
            <a:avLst/>
          </a:prstGeom>
          <a:solidFill>
            <a:srgbClr val="7A4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68" name="TextBox 67"/>
          <p:cNvSpPr txBox="1"/>
          <p:nvPr/>
        </p:nvSpPr>
        <p:spPr>
          <a:xfrm>
            <a:off x="1927860" y="4663440"/>
            <a:ext cx="5029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7A4A2B"/>
                </a:solidFill>
                <a:latin typeface="Inter Medium"/>
              </a:rPr>
              <a:t>What the position reveals feeds back — recurring findings become new rules, and rules that keep being overridden are retuned.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20040" y="4907280"/>
            <a:ext cx="11551920" cy="350520"/>
          </a:xfrm>
          <a:prstGeom prst="roundRect">
            <a:avLst>
              <a:gd name="adj" fmla="val 5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0" name="TextBox 69"/>
          <p:cNvSpPr txBox="1"/>
          <p:nvPr/>
        </p:nvSpPr>
        <p:spPr>
          <a:xfrm>
            <a:off x="502919" y="5008834"/>
            <a:ext cx="11186160" cy="1474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67"/>
              </a:spcAft>
            </a:pPr>
            <a:r>
              <a:rPr sz="958" b="1">
                <a:solidFill>
                  <a:srgbClr val="FFFFFF"/>
                </a:solidFill>
                <a:latin typeface="Inter Medium"/>
              </a:rPr>
              <a:t>The order is not arbitrary — cost cannot be verified against terms a change order has already moved. Change flows first, always.</a:t>
            </a:r>
          </a:p>
        </p:txBody>
      </p:sp>
      <p:grpSp>
        <p:nvGrpSpPr>
          <p:cNvPr id="77" name="step Change approved"/>
          <p:cNvGrpSpPr/>
          <p:nvPr/>
        </p:nvGrpSpPr>
        <p:grpSpPr>
          <a:xfrm>
            <a:off x="320040" y="5349240"/>
            <a:ext cx="1377315" cy="777240"/>
            <a:chOff x="384048" y="6419088"/>
            <a:chExt cx="1652778" cy="932688"/>
          </a:xfrm>
        </p:grpSpPr>
        <p:sp>
          <p:nvSpPr>
            <p:cNvPr id="71" name="Rounded Rectangle 70"/>
            <p:cNvSpPr/>
            <p:nvPr/>
          </p:nvSpPr>
          <p:spPr>
            <a:xfrm>
              <a:off x="384048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384048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493776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3776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1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68096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Change approved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93776" y="6949440"/>
              <a:ext cx="1433322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Entitlement and pricing validated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1689735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85" name="step Rules re-base"/>
          <p:cNvGrpSpPr/>
          <p:nvPr/>
        </p:nvGrpSpPr>
        <p:grpSpPr>
          <a:xfrm>
            <a:off x="1773555" y="5349240"/>
            <a:ext cx="1377315" cy="777240"/>
            <a:chOff x="2128266" y="6419088"/>
            <a:chExt cx="1652778" cy="932688"/>
          </a:xfrm>
        </p:grpSpPr>
        <p:sp>
          <p:nvSpPr>
            <p:cNvPr id="79" name="Rounded Rectangle 78"/>
            <p:cNvSpPr/>
            <p:nvPr/>
          </p:nvSpPr>
          <p:spPr>
            <a:xfrm>
              <a:off x="2128266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2128266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2237994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2237994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2512314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Rules re-base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2237994" y="6949440"/>
              <a:ext cx="1433322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Amended terms become the test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3143250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93" name="step Claim arrives"/>
          <p:cNvGrpSpPr/>
          <p:nvPr/>
        </p:nvGrpSpPr>
        <p:grpSpPr>
          <a:xfrm>
            <a:off x="3227070" y="5349240"/>
            <a:ext cx="1377315" cy="777240"/>
            <a:chOff x="3872484" y="6419088"/>
            <a:chExt cx="1652778" cy="932688"/>
          </a:xfrm>
        </p:grpSpPr>
        <p:sp>
          <p:nvSpPr>
            <p:cNvPr id="87" name="Rounded Rectangle 86"/>
            <p:cNvSpPr/>
            <p:nvPr/>
          </p:nvSpPr>
          <p:spPr>
            <a:xfrm>
              <a:off x="3872484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3872484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3982212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982212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3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256532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Claim arrives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982212" y="6949440"/>
              <a:ext cx="1433322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With timesheets and dockets</a:t>
              </a:r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4596765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101" name="step Lines matched"/>
          <p:cNvGrpSpPr/>
          <p:nvPr/>
        </p:nvGrpSpPr>
        <p:grpSpPr>
          <a:xfrm>
            <a:off x="4680585" y="5349240"/>
            <a:ext cx="1377315" cy="777240"/>
            <a:chOff x="5616702" y="6419088"/>
            <a:chExt cx="1652778" cy="932688"/>
          </a:xfrm>
        </p:grpSpPr>
        <p:sp>
          <p:nvSpPr>
            <p:cNvPr id="95" name="Rounded Rectangle 94"/>
            <p:cNvSpPr/>
            <p:nvPr/>
          </p:nvSpPr>
          <p:spPr>
            <a:xfrm>
              <a:off x="5616702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5616702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5726430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726430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4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000750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Lines matched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726430" y="6949440"/>
              <a:ext cx="1433322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To evidence and the ledger</a:t>
              </a: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6050280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109" name="step Duplicates out"/>
          <p:cNvGrpSpPr/>
          <p:nvPr/>
        </p:nvGrpSpPr>
        <p:grpSpPr>
          <a:xfrm>
            <a:off x="6134100" y="5349240"/>
            <a:ext cx="1377315" cy="777240"/>
            <a:chOff x="7360920" y="6419088"/>
            <a:chExt cx="1652778" cy="932688"/>
          </a:xfrm>
        </p:grpSpPr>
        <p:sp>
          <p:nvSpPr>
            <p:cNvPr id="103" name="Rounded Rectangle 102"/>
            <p:cNvSpPr/>
            <p:nvPr/>
          </p:nvSpPr>
          <p:spPr>
            <a:xfrm>
              <a:off x="7360920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7360920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7470648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470648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5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7744968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Duplicates out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7470648" y="6949440"/>
              <a:ext cx="1433322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Nothing priced twice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7503795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117" name="step Terms tested"/>
          <p:cNvGrpSpPr/>
          <p:nvPr/>
        </p:nvGrpSpPr>
        <p:grpSpPr>
          <a:xfrm>
            <a:off x="7587615" y="5349240"/>
            <a:ext cx="1377315" cy="777240"/>
            <a:chOff x="9105138" y="6419088"/>
            <a:chExt cx="1652778" cy="932688"/>
          </a:xfrm>
        </p:grpSpPr>
        <p:sp>
          <p:nvSpPr>
            <p:cNvPr id="111" name="Rounded Rectangle 110"/>
            <p:cNvSpPr/>
            <p:nvPr/>
          </p:nvSpPr>
          <p:spPr>
            <a:xfrm>
              <a:off x="9105138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9105138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9214866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9214866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6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9489186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Terms tested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9214866" y="6949440"/>
              <a:ext cx="1433322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Against conditions in force</a:t>
              </a: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8957310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125" name="step People decide"/>
          <p:cNvGrpSpPr/>
          <p:nvPr/>
        </p:nvGrpSpPr>
        <p:grpSpPr>
          <a:xfrm>
            <a:off x="9041130" y="5349240"/>
            <a:ext cx="1377315" cy="777240"/>
            <a:chOff x="10849356" y="6419088"/>
            <a:chExt cx="1652778" cy="932688"/>
          </a:xfrm>
        </p:grpSpPr>
        <p:sp>
          <p:nvSpPr>
            <p:cNvPr id="119" name="Rounded Rectangle 118"/>
            <p:cNvSpPr/>
            <p:nvPr/>
          </p:nvSpPr>
          <p:spPr>
            <a:xfrm>
              <a:off x="10849356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10849356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1" name="Rounded Rectangle 120"/>
            <p:cNvSpPr/>
            <p:nvPr/>
          </p:nvSpPr>
          <p:spPr>
            <a:xfrm>
              <a:off x="10959084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0959084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7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1233404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People decide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0959084" y="6949440"/>
              <a:ext cx="1433322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Exceptions reviewed and cleared</a:t>
              </a:r>
            </a:p>
          </p:txBody>
        </p:sp>
      </p:grpSp>
      <p:sp>
        <p:nvSpPr>
          <p:cNvPr id="126" name="TextBox 125"/>
          <p:cNvSpPr txBox="1"/>
          <p:nvPr/>
        </p:nvSpPr>
        <p:spPr>
          <a:xfrm>
            <a:off x="10410825" y="5623561"/>
            <a:ext cx="9144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83" b="1">
                <a:solidFill>
                  <a:srgbClr val="DFDBD6"/>
                </a:solidFill>
                <a:latin typeface="Inter Medium"/>
              </a:rPr>
              <a:t>›</a:t>
            </a:r>
          </a:p>
        </p:txBody>
      </p:sp>
      <p:grpSp>
        <p:nvGrpSpPr>
          <p:cNvPr id="133" name="step Position updated"/>
          <p:cNvGrpSpPr/>
          <p:nvPr/>
        </p:nvGrpSpPr>
        <p:grpSpPr>
          <a:xfrm>
            <a:off x="10494645" y="5349240"/>
            <a:ext cx="1377315" cy="777240"/>
            <a:chOff x="12593574" y="6419088"/>
            <a:chExt cx="1652778" cy="932688"/>
          </a:xfrm>
        </p:grpSpPr>
        <p:sp>
          <p:nvSpPr>
            <p:cNvPr id="127" name="Rounded Rectangle 126"/>
            <p:cNvSpPr/>
            <p:nvPr/>
          </p:nvSpPr>
          <p:spPr>
            <a:xfrm>
              <a:off x="12593574" y="6419088"/>
              <a:ext cx="1652778" cy="93268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12593574" y="6419088"/>
              <a:ext cx="1652778" cy="54864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9" name="Rounded Rectangle 128"/>
            <p:cNvSpPr/>
            <p:nvPr/>
          </p:nvSpPr>
          <p:spPr>
            <a:xfrm>
              <a:off x="12703302" y="6547103"/>
              <a:ext cx="219456" cy="201168"/>
            </a:xfrm>
            <a:prstGeom prst="roundRect">
              <a:avLst>
                <a:gd name="adj" fmla="val 3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2703302" y="6582323"/>
              <a:ext cx="219456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FFFFFF"/>
                  </a:solidFill>
                  <a:latin typeface="Inter Medium"/>
                </a:rPr>
                <a:t>8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12977622" y="6528816"/>
              <a:ext cx="1177290" cy="14111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Position updated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2703302" y="6949440"/>
              <a:ext cx="1433322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Actual against target</a:t>
              </a:r>
            </a:p>
          </p:txBody>
        </p:sp>
      </p:grpSp>
      <p:sp>
        <p:nvSpPr>
          <p:cNvPr id="134" name="TextBox 133"/>
          <p:cNvSpPr txBox="1"/>
          <p:nvPr/>
        </p:nvSpPr>
        <p:spPr>
          <a:xfrm>
            <a:off x="403860" y="6278881"/>
            <a:ext cx="11384280" cy="128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833">
                <a:solidFill>
                  <a:srgbClr val="6B6E7E"/>
                </a:solidFill>
                <a:latin typeface="Inter Light"/>
              </a:rPr>
              <a:t>Each capability stands on its own, and each is stronger for the others. Run in this order they compound; run out of order they contradict.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7A47EFD-4924-45BA-D455-513208DAE2F0}"/>
              </a:ext>
            </a:extLst>
          </p:cNvPr>
          <p:cNvSpPr txBox="1"/>
          <p:nvPr/>
        </p:nvSpPr>
        <p:spPr>
          <a:xfrm>
            <a:off x="9713343" y="88960"/>
            <a:ext cx="1889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400" b="1">
                <a:solidFill>
                  <a:srgbClr val="FF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Needs Revision</a:t>
            </a:r>
            <a:endParaRPr lang="en-US" sz="1400" b="1">
              <a:solidFill>
                <a:srgbClr val="FF0000"/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575623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sz="2083">
                <a:solidFill>
                  <a:srgbClr val="0E1020"/>
                </a:solidFill>
              </a:rPr>
              <a:t>Logical Architecture</a:t>
            </a:r>
          </a:p>
        </p:txBody>
      </p:sp>
      <p:grpSp>
        <p:nvGrpSpPr>
          <p:cNvPr id="7" name="Access and API Layer"/>
          <p:cNvGrpSpPr/>
          <p:nvPr/>
        </p:nvGrpSpPr>
        <p:grpSpPr>
          <a:xfrm>
            <a:off x="4991100" y="1305464"/>
            <a:ext cx="2209800" cy="320040"/>
            <a:chOff x="5989320" y="1463040"/>
            <a:chExt cx="2651760" cy="384048"/>
          </a:xfrm>
        </p:grpSpPr>
        <p:sp>
          <p:nvSpPr>
            <p:cNvPr id="5" name="Rounded Rectangle 4"/>
            <p:cNvSpPr/>
            <p:nvPr/>
          </p:nvSpPr>
          <p:spPr>
            <a:xfrm>
              <a:off x="5989320" y="1463040"/>
              <a:ext cx="2651760" cy="384048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053328" y="1573696"/>
              <a:ext cx="2523744" cy="16273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Access and API Layer</a:t>
              </a:r>
            </a:p>
          </p:txBody>
        </p:sp>
      </p:grpSp>
      <p:cxnSp>
        <p:nvCxnSpPr>
          <p:cNvPr id="8" name="Connector 7"/>
          <p:cNvCxnSpPr/>
          <p:nvPr/>
        </p:nvCxnSpPr>
        <p:spPr>
          <a:xfrm>
            <a:off x="6096000" y="1625504"/>
            <a:ext cx="0" cy="91440"/>
          </a:xfrm>
          <a:prstGeom prst="line">
            <a:avLst/>
          </a:prstGeom>
          <a:ln w="12700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Orchestration Controller"/>
          <p:cNvGrpSpPr/>
          <p:nvPr/>
        </p:nvGrpSpPr>
        <p:grpSpPr>
          <a:xfrm>
            <a:off x="4648200" y="1716944"/>
            <a:ext cx="2895600" cy="502920"/>
            <a:chOff x="5577840" y="1956816"/>
            <a:chExt cx="3474720" cy="603504"/>
          </a:xfrm>
        </p:grpSpPr>
        <p:sp>
          <p:nvSpPr>
            <p:cNvPr id="9" name="Rounded Rectangle 8"/>
            <p:cNvSpPr/>
            <p:nvPr/>
          </p:nvSpPr>
          <p:spPr>
            <a:xfrm>
              <a:off x="5577840" y="1956816"/>
              <a:ext cx="3474720" cy="603504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41848" y="2029968"/>
              <a:ext cx="3346703" cy="18081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1000" b="1">
                  <a:solidFill>
                    <a:srgbClr val="0E1020"/>
                  </a:solidFill>
                  <a:latin typeface="Inter Medium"/>
                </a:rPr>
                <a:t>Orchestration Controller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41848" y="2258568"/>
              <a:ext cx="3346703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Deterministic — sets the sequence, not the outcome</a:t>
              </a:r>
            </a:p>
          </p:txBody>
        </p:sp>
      </p:grpSp>
      <p:cxnSp>
        <p:nvCxnSpPr>
          <p:cNvPr id="13" name="Connector 12"/>
          <p:cNvCxnSpPr/>
          <p:nvPr/>
        </p:nvCxnSpPr>
        <p:spPr>
          <a:xfrm>
            <a:off x="6096000" y="2219864"/>
            <a:ext cx="0" cy="76200"/>
          </a:xfrm>
          <a:prstGeom prst="line">
            <a:avLst/>
          </a:prstGeom>
          <a:ln w="12700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85900" y="2296064"/>
            <a:ext cx="9220200" cy="1485900"/>
          </a:xfrm>
          <a:prstGeom prst="roundRect">
            <a:avLst>
              <a:gd name="adj" fmla="val 2000"/>
            </a:avLst>
          </a:prstGeom>
          <a:solidFill>
            <a:srgbClr val="E3ECFA"/>
          </a:solidFill>
          <a:ln w="15875">
            <a:solidFill>
              <a:srgbClr val="004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1485900" y="2341785"/>
            <a:ext cx="9220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67"/>
              </a:spcAft>
            </a:pPr>
            <a:r>
              <a:rPr sz="1000" b="1">
                <a:solidFill>
                  <a:srgbClr val="004AAC"/>
                </a:solidFill>
                <a:latin typeface="Inter Medium"/>
              </a:rPr>
              <a:t>Agentic Execution Layer</a:t>
            </a:r>
          </a:p>
        </p:txBody>
      </p:sp>
      <p:grpSp>
        <p:nvGrpSpPr>
          <p:cNvPr id="20" name="Intake and Classification Agent"/>
          <p:cNvGrpSpPr/>
          <p:nvPr/>
        </p:nvGrpSpPr>
        <p:grpSpPr>
          <a:xfrm>
            <a:off x="1600200" y="2585624"/>
            <a:ext cx="1005840" cy="1104900"/>
            <a:chOff x="1920240" y="2999232"/>
            <a:chExt cx="1714499" cy="1325880"/>
          </a:xfrm>
        </p:grpSpPr>
        <p:sp>
          <p:nvSpPr>
            <p:cNvPr id="16" name="Rounded Rectangle 15"/>
            <p:cNvSpPr/>
            <p:nvPr/>
          </p:nvSpPr>
          <p:spPr>
            <a:xfrm>
              <a:off x="1920240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984247" y="3108960"/>
              <a:ext cx="1586484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US" sz="900" b="1">
                  <a:solidFill>
                    <a:srgbClr val="0E1020"/>
                  </a:solidFill>
                  <a:latin typeface="Inter Medium"/>
                </a:rPr>
                <a:t>Intake Agent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84247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Classify and check</a:t>
              </a:r>
            </a:p>
          </p:txBody>
        </p:sp>
      </p:grpSp>
      <p:grpSp>
        <p:nvGrpSpPr>
          <p:cNvPr id="25" name="Extraction Agent"/>
          <p:cNvGrpSpPr/>
          <p:nvPr/>
        </p:nvGrpSpPr>
        <p:grpSpPr>
          <a:xfrm>
            <a:off x="2745932" y="2600864"/>
            <a:ext cx="1005840" cy="1104900"/>
            <a:chOff x="3735324" y="2999232"/>
            <a:chExt cx="1714499" cy="1325880"/>
          </a:xfrm>
        </p:grpSpPr>
        <p:sp>
          <p:nvSpPr>
            <p:cNvPr id="21" name="Rounded Rectangle 20"/>
            <p:cNvSpPr/>
            <p:nvPr/>
          </p:nvSpPr>
          <p:spPr>
            <a:xfrm>
              <a:off x="3735324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799331" y="3108960"/>
              <a:ext cx="1586484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Extraction Agent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799331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Extract and score</a:t>
              </a:r>
            </a:p>
          </p:txBody>
        </p:sp>
      </p:grpSp>
      <p:grpSp>
        <p:nvGrpSpPr>
          <p:cNvPr id="30" name="Rule Evaluation Agent"/>
          <p:cNvGrpSpPr/>
          <p:nvPr/>
        </p:nvGrpSpPr>
        <p:grpSpPr>
          <a:xfrm>
            <a:off x="3891664" y="2600864"/>
            <a:ext cx="1005840" cy="1104900"/>
            <a:chOff x="5550408" y="2999232"/>
            <a:chExt cx="1714499" cy="1325880"/>
          </a:xfrm>
        </p:grpSpPr>
        <p:sp>
          <p:nvSpPr>
            <p:cNvPr id="26" name="Rounded Rectangle 25"/>
            <p:cNvSpPr/>
            <p:nvPr/>
          </p:nvSpPr>
          <p:spPr>
            <a:xfrm>
              <a:off x="5550408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14415" y="3108960"/>
              <a:ext cx="1586484" cy="5083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US" sz="900" b="1">
                  <a:solidFill>
                    <a:srgbClr val="0E1020"/>
                  </a:solidFill>
                  <a:latin typeface="Inter Medium"/>
                </a:rPr>
                <a:t>Contract Intelligence Agent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14415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Author the rules</a:t>
              </a:r>
            </a:p>
          </p:txBody>
        </p:sp>
      </p:grpSp>
      <p:grpSp>
        <p:nvGrpSpPr>
          <p:cNvPr id="35" name="Reconciliation Agent"/>
          <p:cNvGrpSpPr/>
          <p:nvPr/>
        </p:nvGrpSpPr>
        <p:grpSpPr>
          <a:xfrm>
            <a:off x="5037396" y="2585624"/>
            <a:ext cx="1005840" cy="1104900"/>
            <a:chOff x="7365492" y="2999232"/>
            <a:chExt cx="1714499" cy="1325880"/>
          </a:xfrm>
        </p:grpSpPr>
        <p:sp>
          <p:nvSpPr>
            <p:cNvPr id="31" name="Rounded Rectangle 30"/>
            <p:cNvSpPr/>
            <p:nvPr/>
          </p:nvSpPr>
          <p:spPr>
            <a:xfrm>
              <a:off x="7365492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29499" y="3108960"/>
              <a:ext cx="1586484" cy="3355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Reconciliation Agent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429499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Match and de-dup</a:t>
              </a:r>
            </a:p>
          </p:txBody>
        </p:sp>
      </p:grpSp>
      <p:grpSp>
        <p:nvGrpSpPr>
          <p:cNvPr id="40" name="Exception and Anomaly Agent"/>
          <p:cNvGrpSpPr/>
          <p:nvPr/>
        </p:nvGrpSpPr>
        <p:grpSpPr>
          <a:xfrm>
            <a:off x="6183128" y="2574194"/>
            <a:ext cx="1005840" cy="1104900"/>
            <a:chOff x="9180576" y="2999232"/>
            <a:chExt cx="1714499" cy="1325880"/>
          </a:xfrm>
        </p:grpSpPr>
        <p:sp>
          <p:nvSpPr>
            <p:cNvPr id="36" name="Rounded Rectangle 35"/>
            <p:cNvSpPr/>
            <p:nvPr/>
          </p:nvSpPr>
          <p:spPr>
            <a:xfrm>
              <a:off x="9180576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244583" y="3108960"/>
              <a:ext cx="1586484" cy="5083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US" sz="900" b="1">
                  <a:solidFill>
                    <a:srgbClr val="0E1020"/>
                  </a:solidFill>
                  <a:latin typeface="Inter Medium"/>
                </a:rPr>
                <a:t>Cost Verification Agent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244583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Run cost checks</a:t>
              </a:r>
            </a:p>
          </p:txBody>
        </p:sp>
      </p:grpSp>
      <p:grpSp>
        <p:nvGrpSpPr>
          <p:cNvPr id="45" name="Commercial Position Agent"/>
          <p:cNvGrpSpPr/>
          <p:nvPr/>
        </p:nvGrpSpPr>
        <p:grpSpPr>
          <a:xfrm>
            <a:off x="7328860" y="2574194"/>
            <a:ext cx="1005840" cy="1104900"/>
            <a:chOff x="10995659" y="2999232"/>
            <a:chExt cx="1714499" cy="1325880"/>
          </a:xfrm>
        </p:grpSpPr>
        <p:sp>
          <p:nvSpPr>
            <p:cNvPr id="41" name="Rounded Rectangle 40"/>
            <p:cNvSpPr/>
            <p:nvPr/>
          </p:nvSpPr>
          <p:spPr>
            <a:xfrm>
              <a:off x="10995659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059666" y="3108960"/>
              <a:ext cx="1586484" cy="3355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US" sz="900" b="1">
                  <a:solidFill>
                    <a:srgbClr val="0E1020"/>
                  </a:solidFill>
                  <a:latin typeface="Inter Medium"/>
                </a:rPr>
                <a:t>Change Steward Agent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1059666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Re-base the rules</a:t>
              </a:r>
            </a:p>
          </p:txBody>
        </p:sp>
      </p:grpSp>
      <p:grpSp>
        <p:nvGrpSpPr>
          <p:cNvPr id="58" name="Source Systems"/>
          <p:cNvGrpSpPr/>
          <p:nvPr/>
        </p:nvGrpSpPr>
        <p:grpSpPr>
          <a:xfrm>
            <a:off x="320639" y="3583840"/>
            <a:ext cx="1066800" cy="808054"/>
            <a:chOff x="12966192" y="1463040"/>
            <a:chExt cx="1280160" cy="969665"/>
          </a:xfrm>
        </p:grpSpPr>
        <p:sp>
          <p:nvSpPr>
            <p:cNvPr id="55" name="Rounded Rectangle 54"/>
            <p:cNvSpPr/>
            <p:nvPr/>
          </p:nvSpPr>
          <p:spPr>
            <a:xfrm>
              <a:off x="12966192" y="1463040"/>
              <a:ext cx="1280160" cy="969264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3030200" y="1536192"/>
              <a:ext cx="1152143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Source Systems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3030200" y="1815998"/>
              <a:ext cx="1152143" cy="6167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Contracts · rate cards · ledger · contractor submissions</a:t>
              </a:r>
            </a:p>
          </p:txBody>
        </p:sp>
      </p:grpSp>
      <p:cxnSp>
        <p:nvCxnSpPr>
          <p:cNvPr id="59" name="Connector 58"/>
          <p:cNvCxnSpPr/>
          <p:nvPr/>
        </p:nvCxnSpPr>
        <p:spPr>
          <a:xfrm>
            <a:off x="854039" y="4391561"/>
            <a:ext cx="0" cy="182880"/>
          </a:xfrm>
          <a:prstGeom prst="line">
            <a:avLst/>
          </a:prstGeom>
          <a:ln w="12700">
            <a:solidFill>
              <a:srgbClr val="7A4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Integration Services"/>
          <p:cNvGrpSpPr/>
          <p:nvPr/>
        </p:nvGrpSpPr>
        <p:grpSpPr>
          <a:xfrm>
            <a:off x="320644" y="4574444"/>
            <a:ext cx="1081436" cy="618745"/>
            <a:chOff x="12966192" y="2651760"/>
            <a:chExt cx="1297723" cy="742493"/>
          </a:xfrm>
        </p:grpSpPr>
        <p:sp>
          <p:nvSpPr>
            <p:cNvPr id="60" name="Rounded Rectangle 59"/>
            <p:cNvSpPr/>
            <p:nvPr/>
          </p:nvSpPr>
          <p:spPr>
            <a:xfrm>
              <a:off x="12966192" y="2651760"/>
              <a:ext cx="1280160" cy="7315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3030200" y="2724912"/>
              <a:ext cx="1152143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IN" sz="900" b="1">
                  <a:solidFill>
                    <a:srgbClr val="0E1020"/>
                  </a:solidFill>
                  <a:latin typeface="Inter Medium"/>
                </a:rPr>
                <a:t>Ingestion</a:t>
              </a:r>
              <a:endParaRPr sz="900" b="1">
                <a:solidFill>
                  <a:srgbClr val="0E1020"/>
                </a:solidFill>
                <a:latin typeface="Inter Medium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3111772" y="3090708"/>
              <a:ext cx="1152143" cy="3035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Interface · file · batch · event</a:t>
              </a:r>
            </a:p>
          </p:txBody>
        </p:sp>
      </p:grpSp>
      <p:grpSp>
        <p:nvGrpSpPr>
          <p:cNvPr id="68" name="Security, Identity and Governance"/>
          <p:cNvGrpSpPr/>
          <p:nvPr/>
        </p:nvGrpSpPr>
        <p:grpSpPr>
          <a:xfrm>
            <a:off x="10805160" y="3873404"/>
            <a:ext cx="1066800" cy="2057400"/>
            <a:chOff x="12966192" y="4544568"/>
            <a:chExt cx="1280160" cy="2468880"/>
          </a:xfrm>
        </p:grpSpPr>
        <p:sp>
          <p:nvSpPr>
            <p:cNvPr id="65" name="Rounded Rectangle 64"/>
            <p:cNvSpPr/>
            <p:nvPr/>
          </p:nvSpPr>
          <p:spPr>
            <a:xfrm>
              <a:off x="12966192" y="4544568"/>
              <a:ext cx="1280160" cy="2468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3030200" y="4617720"/>
              <a:ext cx="1152143" cy="3355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Security, Identity and Governance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030200" y="5407396"/>
              <a:ext cx="1152143" cy="92987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Authentication · least privilege · data residency · retention · monitoring · policy and assurance</a:t>
              </a:r>
            </a:p>
          </p:txBody>
        </p:sp>
      </p:grpSp>
      <p:sp>
        <p:nvSpPr>
          <p:cNvPr id="69" name="Rounded Rectangle 68"/>
          <p:cNvSpPr/>
          <p:nvPr/>
        </p:nvSpPr>
        <p:spPr>
          <a:xfrm>
            <a:off x="1485900" y="3873404"/>
            <a:ext cx="9220200" cy="701040"/>
          </a:xfrm>
          <a:prstGeom prst="roundRect">
            <a:avLst>
              <a:gd name="adj" fmla="val 2000"/>
            </a:avLst>
          </a:prstGeom>
          <a:solidFill>
            <a:srgbClr val="FDEEE0"/>
          </a:solidFill>
          <a:ln w="15875">
            <a:solidFill>
              <a:srgbClr val="E86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600"/>
          </a:p>
        </p:txBody>
      </p:sp>
      <p:sp>
        <p:nvSpPr>
          <p:cNvPr id="70" name="TextBox 69"/>
          <p:cNvSpPr txBox="1"/>
          <p:nvPr/>
        </p:nvSpPr>
        <p:spPr>
          <a:xfrm>
            <a:off x="1592579" y="3919124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900" b="1">
                <a:solidFill>
                  <a:srgbClr val="E86C1F"/>
                </a:solidFill>
                <a:latin typeface="Inter Medium"/>
              </a:rPr>
              <a:t>Human Decision Layer</a:t>
            </a:r>
          </a:p>
        </p:txBody>
      </p:sp>
      <p:grpSp>
        <p:nvGrpSpPr>
          <p:cNvPr id="74" name="Exception Review"/>
          <p:cNvGrpSpPr/>
          <p:nvPr/>
        </p:nvGrpSpPr>
        <p:grpSpPr>
          <a:xfrm>
            <a:off x="3924300" y="3941984"/>
            <a:ext cx="2174240" cy="563880"/>
            <a:chOff x="4709160" y="4626864"/>
            <a:chExt cx="2609088" cy="676656"/>
          </a:xfrm>
        </p:grpSpPr>
        <p:sp>
          <p:nvSpPr>
            <p:cNvPr id="71" name="Rounded Rectangle 70"/>
            <p:cNvSpPr/>
            <p:nvPr/>
          </p:nvSpPr>
          <p:spPr>
            <a:xfrm>
              <a:off x="4709160" y="4626864"/>
              <a:ext cx="2609088" cy="676656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773168" y="4700016"/>
              <a:ext cx="2481072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Exception Review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773168" y="4991710"/>
              <a:ext cx="2481072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Claim line, term, test and evidence together</a:t>
              </a:r>
            </a:p>
          </p:txBody>
        </p:sp>
      </p:grpSp>
      <p:grpSp>
        <p:nvGrpSpPr>
          <p:cNvPr id="78" name="Rule Authoring and Ratification"/>
          <p:cNvGrpSpPr/>
          <p:nvPr/>
        </p:nvGrpSpPr>
        <p:grpSpPr>
          <a:xfrm>
            <a:off x="6189980" y="3941984"/>
            <a:ext cx="2174240" cy="563880"/>
            <a:chOff x="7427976" y="4626864"/>
            <a:chExt cx="2609088" cy="676656"/>
          </a:xfrm>
        </p:grpSpPr>
        <p:sp>
          <p:nvSpPr>
            <p:cNvPr id="75" name="Rounded Rectangle 74"/>
            <p:cNvSpPr/>
            <p:nvPr/>
          </p:nvSpPr>
          <p:spPr>
            <a:xfrm>
              <a:off x="7427976" y="4626864"/>
              <a:ext cx="2609088" cy="676656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491984" y="4700016"/>
              <a:ext cx="2481072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Rule Authoring and Ratification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91984" y="4991710"/>
              <a:ext cx="2481072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Business defines and approves every rule</a:t>
              </a:r>
            </a:p>
          </p:txBody>
        </p:sp>
      </p:grpSp>
      <p:grpSp>
        <p:nvGrpSpPr>
          <p:cNvPr id="82" name="Override and Certification"/>
          <p:cNvGrpSpPr/>
          <p:nvPr/>
        </p:nvGrpSpPr>
        <p:grpSpPr>
          <a:xfrm>
            <a:off x="8455660" y="3941984"/>
            <a:ext cx="2174240" cy="563880"/>
            <a:chOff x="10146792" y="4626864"/>
            <a:chExt cx="2609088" cy="676656"/>
          </a:xfrm>
        </p:grpSpPr>
        <p:sp>
          <p:nvSpPr>
            <p:cNvPr id="79" name="Rounded Rectangle 78"/>
            <p:cNvSpPr/>
            <p:nvPr/>
          </p:nvSpPr>
          <p:spPr>
            <a:xfrm>
              <a:off x="10146792" y="4626864"/>
              <a:ext cx="2609088" cy="676656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0210800" y="4700016"/>
              <a:ext cx="2481072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Override and Certification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0210800" y="4991710"/>
              <a:ext cx="2481072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Reason captured; a person releases money</a:t>
              </a:r>
            </a:p>
          </p:txBody>
        </p:sp>
      </p:grpSp>
      <p:cxnSp>
        <p:nvCxnSpPr>
          <p:cNvPr id="83" name="Connector 82"/>
          <p:cNvCxnSpPr/>
          <p:nvPr/>
        </p:nvCxnSpPr>
        <p:spPr>
          <a:xfrm>
            <a:off x="2314575" y="3781964"/>
            <a:ext cx="0" cy="91440"/>
          </a:xfrm>
          <a:prstGeom prst="line">
            <a:avLst/>
          </a:prstGeom>
          <a:ln w="9525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827145" y="3781964"/>
            <a:ext cx="0" cy="91440"/>
          </a:xfrm>
          <a:prstGeom prst="line">
            <a:avLst/>
          </a:prstGeom>
          <a:ln w="9525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339715" y="3781964"/>
            <a:ext cx="0" cy="91440"/>
          </a:xfrm>
          <a:prstGeom prst="line">
            <a:avLst/>
          </a:prstGeom>
          <a:ln w="9525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852285" y="3781964"/>
            <a:ext cx="0" cy="91440"/>
          </a:xfrm>
          <a:prstGeom prst="line">
            <a:avLst/>
          </a:prstGeom>
          <a:ln w="9525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4855" y="3781964"/>
            <a:ext cx="0" cy="91440"/>
          </a:xfrm>
          <a:prstGeom prst="line">
            <a:avLst/>
          </a:prstGeom>
          <a:ln w="9525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877424" y="3781964"/>
            <a:ext cx="0" cy="91440"/>
          </a:xfrm>
          <a:prstGeom prst="line">
            <a:avLst/>
          </a:prstGeom>
          <a:ln w="9525">
            <a:solidFill>
              <a:srgbClr val="004AAC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Clause and Knowledge Index"/>
          <p:cNvGrpSpPr/>
          <p:nvPr/>
        </p:nvGrpSpPr>
        <p:grpSpPr>
          <a:xfrm>
            <a:off x="1485900" y="4665884"/>
            <a:ext cx="4564380" cy="381000"/>
            <a:chOff x="1783080" y="5495544"/>
            <a:chExt cx="5477256" cy="457200"/>
          </a:xfrm>
        </p:grpSpPr>
        <p:sp>
          <p:nvSpPr>
            <p:cNvPr id="89" name="Rounded Rectangle 88"/>
            <p:cNvSpPr/>
            <p:nvPr/>
          </p:nvSpPr>
          <p:spPr>
            <a:xfrm>
              <a:off x="1783080" y="5495544"/>
              <a:ext cx="5477256" cy="4572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847088" y="5568696"/>
              <a:ext cx="5349240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Clause and Knowledge Index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847088" y="5739688"/>
              <a:ext cx="5349240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Contract language encoded for meaning-based retrieval</a:t>
              </a:r>
            </a:p>
          </p:txBody>
        </p:sp>
      </p:grpSp>
      <p:grpSp>
        <p:nvGrpSpPr>
          <p:cNvPr id="96" name="Canonical Data Model"/>
          <p:cNvGrpSpPr/>
          <p:nvPr/>
        </p:nvGrpSpPr>
        <p:grpSpPr>
          <a:xfrm>
            <a:off x="6141720" y="4665884"/>
            <a:ext cx="4564380" cy="381000"/>
            <a:chOff x="7370064" y="5495544"/>
            <a:chExt cx="5477256" cy="457200"/>
          </a:xfrm>
        </p:grpSpPr>
        <p:sp>
          <p:nvSpPr>
            <p:cNvPr id="93" name="Rounded Rectangle 92"/>
            <p:cNvSpPr/>
            <p:nvPr/>
          </p:nvSpPr>
          <p:spPr>
            <a:xfrm>
              <a:off x="7370064" y="5495544"/>
              <a:ext cx="5477256" cy="4572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434072" y="5568696"/>
              <a:ext cx="5349240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Canonical Data Model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434072" y="5739688"/>
              <a:ext cx="5349240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One shape every claim, contract and ledger line lands in</a:t>
              </a:r>
            </a:p>
          </p:txBody>
        </p:sp>
      </p:grpSp>
      <p:grpSp>
        <p:nvGrpSpPr>
          <p:cNvPr id="100" name="Document and Evidence Store"/>
          <p:cNvGrpSpPr/>
          <p:nvPr/>
        </p:nvGrpSpPr>
        <p:grpSpPr>
          <a:xfrm>
            <a:off x="1485900" y="5107844"/>
            <a:ext cx="4564380" cy="381000"/>
            <a:chOff x="1783080" y="6025896"/>
            <a:chExt cx="5477256" cy="457200"/>
          </a:xfrm>
        </p:grpSpPr>
        <p:sp>
          <p:nvSpPr>
            <p:cNvPr id="97" name="Rounded Rectangle 96"/>
            <p:cNvSpPr/>
            <p:nvPr/>
          </p:nvSpPr>
          <p:spPr>
            <a:xfrm>
              <a:off x="1783080" y="6025896"/>
              <a:ext cx="5477256" cy="4572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847088" y="6099048"/>
              <a:ext cx="5349240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Document and Evidence Store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847088" y="6270040"/>
              <a:ext cx="5349240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Every submission held immutably as received</a:t>
              </a:r>
            </a:p>
          </p:txBody>
        </p:sp>
      </p:grpSp>
      <p:grpSp>
        <p:nvGrpSpPr>
          <p:cNvPr id="104" name="Rule Set"/>
          <p:cNvGrpSpPr/>
          <p:nvPr/>
        </p:nvGrpSpPr>
        <p:grpSpPr>
          <a:xfrm>
            <a:off x="6141720" y="5107844"/>
            <a:ext cx="4564380" cy="381000"/>
            <a:chOff x="7370064" y="6025896"/>
            <a:chExt cx="5477256" cy="457200"/>
          </a:xfrm>
        </p:grpSpPr>
        <p:sp>
          <p:nvSpPr>
            <p:cNvPr id="101" name="Rounded Rectangle 100"/>
            <p:cNvSpPr/>
            <p:nvPr/>
          </p:nvSpPr>
          <p:spPr>
            <a:xfrm>
              <a:off x="7370064" y="6025896"/>
              <a:ext cx="5477256" cy="4572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7434072" y="6099048"/>
              <a:ext cx="5349240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Rule </a:t>
              </a:r>
              <a:r>
                <a:rPr lang="en-IN" sz="900" b="1">
                  <a:solidFill>
                    <a:srgbClr val="0E1020"/>
                  </a:solidFill>
                  <a:latin typeface="Inter Medium"/>
                </a:rPr>
                <a:t>Ledger</a:t>
              </a:r>
              <a:endParaRPr sz="900" b="1">
                <a:solidFill>
                  <a:srgbClr val="0E1020"/>
                </a:solidFill>
                <a:latin typeface="Inter Medium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434072" y="6270040"/>
              <a:ext cx="5349240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Generic, contract type and contract rules, versioned and dated</a:t>
              </a:r>
            </a:p>
          </p:txBody>
        </p:sp>
      </p:grpSp>
      <p:grpSp>
        <p:nvGrpSpPr>
          <p:cNvPr id="108" name="Audit and Decision Ledger"/>
          <p:cNvGrpSpPr/>
          <p:nvPr/>
        </p:nvGrpSpPr>
        <p:grpSpPr>
          <a:xfrm>
            <a:off x="1485900" y="5549804"/>
            <a:ext cx="9220200" cy="381000"/>
            <a:chOff x="1783080" y="6556248"/>
            <a:chExt cx="11064240" cy="457200"/>
          </a:xfrm>
        </p:grpSpPr>
        <p:sp>
          <p:nvSpPr>
            <p:cNvPr id="105" name="Rounded Rectangle 104"/>
            <p:cNvSpPr/>
            <p:nvPr/>
          </p:nvSpPr>
          <p:spPr>
            <a:xfrm>
              <a:off x="1783080" y="6556248"/>
              <a:ext cx="11064240" cy="4572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1847088" y="6629400"/>
              <a:ext cx="10936224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Audit and Decision Ledger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847088" y="6800392"/>
              <a:ext cx="1093622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Every determination, the rule and version behind it, the evidence and the human action</a:t>
              </a:r>
            </a:p>
          </p:txBody>
        </p:sp>
      </p:grpSp>
      <p:cxnSp>
        <p:nvCxnSpPr>
          <p:cNvPr id="109" name="Connector 108"/>
          <p:cNvCxnSpPr/>
          <p:nvPr/>
        </p:nvCxnSpPr>
        <p:spPr>
          <a:xfrm>
            <a:off x="5339715" y="4574444"/>
            <a:ext cx="0" cy="91440"/>
          </a:xfrm>
          <a:prstGeom prst="line">
            <a:avLst/>
          </a:prstGeom>
          <a:ln w="9525">
            <a:solidFill>
              <a:srgbClr val="0E102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364855" y="4574444"/>
            <a:ext cx="0" cy="91440"/>
          </a:xfrm>
          <a:prstGeom prst="line">
            <a:avLst/>
          </a:prstGeom>
          <a:ln w="9525">
            <a:solidFill>
              <a:srgbClr val="0E102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402080" y="4963064"/>
            <a:ext cx="83820" cy="0"/>
          </a:xfrm>
          <a:prstGeom prst="line">
            <a:avLst/>
          </a:prstGeom>
          <a:ln w="12700">
            <a:solidFill>
              <a:srgbClr val="7A4A2B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706100" y="4963064"/>
            <a:ext cx="99061" cy="0"/>
          </a:xfrm>
          <a:prstGeom prst="line">
            <a:avLst/>
          </a:prstGeom>
          <a:ln w="12700">
            <a:solidFill>
              <a:srgbClr val="2E7D52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Exception and Anomaly Agent">
            <a:extLst>
              <a:ext uri="{FF2B5EF4-FFF2-40B4-BE49-F238E27FC236}">
                <a16:creationId xmlns:a16="http://schemas.microsoft.com/office/drawing/2014/main" id="{35958FE1-B84E-FDA0-B604-12B40F2BD373}"/>
              </a:ext>
            </a:extLst>
          </p:cNvPr>
          <p:cNvGrpSpPr/>
          <p:nvPr/>
        </p:nvGrpSpPr>
        <p:grpSpPr>
          <a:xfrm>
            <a:off x="8474592" y="2574194"/>
            <a:ext cx="1005840" cy="1104900"/>
            <a:chOff x="9180576" y="2999232"/>
            <a:chExt cx="1714499" cy="1325880"/>
          </a:xfrm>
        </p:grpSpPr>
        <p:sp>
          <p:nvSpPr>
            <p:cNvPr id="119" name="Rounded Rectangle 35">
              <a:extLst>
                <a:ext uri="{FF2B5EF4-FFF2-40B4-BE49-F238E27FC236}">
                  <a16:creationId xmlns:a16="http://schemas.microsoft.com/office/drawing/2014/main" id="{13EC55A5-C996-7F03-9BDB-CF456015E883}"/>
                </a:ext>
              </a:extLst>
            </p:cNvPr>
            <p:cNvSpPr/>
            <p:nvPr/>
          </p:nvSpPr>
          <p:spPr>
            <a:xfrm>
              <a:off x="9180576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49FD891-2DA9-31AF-D0E7-4FD83A6E8E05}"/>
                </a:ext>
              </a:extLst>
            </p:cNvPr>
            <p:cNvSpPr txBox="1"/>
            <p:nvPr/>
          </p:nvSpPr>
          <p:spPr>
            <a:xfrm>
              <a:off x="9244583" y="3108960"/>
              <a:ext cx="1586484" cy="3355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US" sz="900" b="1">
                  <a:solidFill>
                    <a:srgbClr val="0E1020"/>
                  </a:solidFill>
                  <a:latin typeface="Inter Medium"/>
                </a:rPr>
                <a:t>Target Watch Agent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5B0FCBE-5D0D-ED72-FA90-D203BE0B9FED}"/>
                </a:ext>
              </a:extLst>
            </p:cNvPr>
            <p:cNvSpPr txBox="1"/>
            <p:nvPr/>
          </p:nvSpPr>
          <p:spPr>
            <a:xfrm>
              <a:off x="9244583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Watch the target</a:t>
              </a:r>
            </a:p>
          </p:txBody>
        </p:sp>
      </p:grpSp>
      <p:grpSp>
        <p:nvGrpSpPr>
          <p:cNvPr id="123" name="Commercial Position Agent">
            <a:extLst>
              <a:ext uri="{FF2B5EF4-FFF2-40B4-BE49-F238E27FC236}">
                <a16:creationId xmlns:a16="http://schemas.microsoft.com/office/drawing/2014/main" id="{06A95CEF-EB91-6077-0B1D-A5B68FCB2DD3}"/>
              </a:ext>
            </a:extLst>
          </p:cNvPr>
          <p:cNvGrpSpPr/>
          <p:nvPr/>
        </p:nvGrpSpPr>
        <p:grpSpPr>
          <a:xfrm>
            <a:off x="9620325" y="2574194"/>
            <a:ext cx="1005840" cy="1104900"/>
            <a:chOff x="10995659" y="2999232"/>
            <a:chExt cx="1714499" cy="1325880"/>
          </a:xfrm>
        </p:grpSpPr>
        <p:sp>
          <p:nvSpPr>
            <p:cNvPr id="124" name="Rounded Rectangle 40">
              <a:extLst>
                <a:ext uri="{FF2B5EF4-FFF2-40B4-BE49-F238E27FC236}">
                  <a16:creationId xmlns:a16="http://schemas.microsoft.com/office/drawing/2014/main" id="{69750A79-88F9-4781-A04B-199EDB9288B9}"/>
                </a:ext>
              </a:extLst>
            </p:cNvPr>
            <p:cNvSpPr/>
            <p:nvPr/>
          </p:nvSpPr>
          <p:spPr>
            <a:xfrm>
              <a:off x="10995659" y="2999232"/>
              <a:ext cx="1714499" cy="132588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5003281-AAA6-8C29-9996-C7D22A8608F9}"/>
                </a:ext>
              </a:extLst>
            </p:cNvPr>
            <p:cNvSpPr txBox="1"/>
            <p:nvPr/>
          </p:nvSpPr>
          <p:spPr>
            <a:xfrm>
              <a:off x="11059666" y="3108960"/>
              <a:ext cx="1586484" cy="3355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US" sz="900" b="1">
                  <a:solidFill>
                    <a:srgbClr val="0E1020"/>
                  </a:solidFill>
                  <a:latin typeface="Inter Medium"/>
                </a:rPr>
                <a:t>Evaluation Agents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906421A-9C81-ECFD-1852-E1AF1731FEA9}"/>
                </a:ext>
              </a:extLst>
            </p:cNvPr>
            <p:cNvSpPr txBox="1"/>
            <p:nvPr/>
          </p:nvSpPr>
          <p:spPr>
            <a:xfrm>
              <a:off x="11059666" y="3626968"/>
              <a:ext cx="1586484" cy="1469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lang="en-US" sz="800">
                  <a:solidFill>
                    <a:srgbClr val="5F6372"/>
                  </a:solidFill>
                  <a:latin typeface="Inter Light"/>
                </a:rPr>
                <a:t>Context Adherence</a:t>
              </a:r>
            </a:p>
          </p:txBody>
        </p:sp>
      </p:grpSp>
      <p:cxnSp>
        <p:nvCxnSpPr>
          <p:cNvPr id="27" name="Connector 49">
            <a:extLst>
              <a:ext uri="{FF2B5EF4-FFF2-40B4-BE49-F238E27FC236}">
                <a16:creationId xmlns:a16="http://schemas.microsoft.com/office/drawing/2014/main" id="{504D8412-8502-5662-BCE0-1AB9198EC63D}"/>
              </a:ext>
            </a:extLst>
          </p:cNvPr>
          <p:cNvCxnSpPr>
            <a:cxnSpLocks/>
          </p:cNvCxnSpPr>
          <p:nvPr/>
        </p:nvCxnSpPr>
        <p:spPr>
          <a:xfrm>
            <a:off x="10746223" y="2896524"/>
            <a:ext cx="113697" cy="1592"/>
          </a:xfrm>
          <a:prstGeom prst="line">
            <a:avLst/>
          </a:prstGeom>
          <a:ln w="12700">
            <a:solidFill>
              <a:srgbClr val="7A4A2B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Source Systems">
            <a:extLst>
              <a:ext uri="{FF2B5EF4-FFF2-40B4-BE49-F238E27FC236}">
                <a16:creationId xmlns:a16="http://schemas.microsoft.com/office/drawing/2014/main" id="{2EB0CAA5-AA6F-05EB-12E2-CEEC45AFB1EA}"/>
              </a:ext>
            </a:extLst>
          </p:cNvPr>
          <p:cNvGrpSpPr/>
          <p:nvPr/>
        </p:nvGrpSpPr>
        <p:grpSpPr>
          <a:xfrm>
            <a:off x="10877776" y="1596547"/>
            <a:ext cx="1066800" cy="808054"/>
            <a:chOff x="12966192" y="1463040"/>
            <a:chExt cx="1280160" cy="969665"/>
          </a:xfrm>
        </p:grpSpPr>
        <p:sp>
          <p:nvSpPr>
            <p:cNvPr id="128" name="Rounded Rectangle 54">
              <a:extLst>
                <a:ext uri="{FF2B5EF4-FFF2-40B4-BE49-F238E27FC236}">
                  <a16:creationId xmlns:a16="http://schemas.microsoft.com/office/drawing/2014/main" id="{AF0463C7-B51B-D7A0-0D64-EBB14FCFFF10}"/>
                </a:ext>
              </a:extLst>
            </p:cNvPr>
            <p:cNvSpPr/>
            <p:nvPr/>
          </p:nvSpPr>
          <p:spPr>
            <a:xfrm>
              <a:off x="12966192" y="1463040"/>
              <a:ext cx="1280160" cy="969264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9768CDD-ABD4-F1BA-01B4-B413980EE125}"/>
                </a:ext>
              </a:extLst>
            </p:cNvPr>
            <p:cNvSpPr txBox="1"/>
            <p:nvPr/>
          </p:nvSpPr>
          <p:spPr>
            <a:xfrm>
              <a:off x="13030200" y="1536192"/>
              <a:ext cx="1152143" cy="1627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lang="en-IN" sz="900" b="1">
                  <a:solidFill>
                    <a:srgbClr val="0E1020"/>
                  </a:solidFill>
                  <a:latin typeface="Inter Medium"/>
                </a:rPr>
                <a:t>Downstream</a:t>
              </a:r>
              <a:endParaRPr sz="900" b="1">
                <a:solidFill>
                  <a:srgbClr val="0E1020"/>
                </a:solidFill>
                <a:latin typeface="Inter Medium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0536739-B501-6406-76B4-A769A2C1E569}"/>
                </a:ext>
              </a:extLst>
            </p:cNvPr>
            <p:cNvSpPr txBox="1"/>
            <p:nvPr/>
          </p:nvSpPr>
          <p:spPr>
            <a:xfrm>
              <a:off x="13030200" y="1815998"/>
              <a:ext cx="1152143" cy="61670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Contracts · rate cards · ledger · contractor submissions</a:t>
              </a:r>
            </a:p>
          </p:txBody>
        </p:sp>
      </p:grpSp>
      <p:cxnSp>
        <p:nvCxnSpPr>
          <p:cNvPr id="131" name="Connector 58">
            <a:extLst>
              <a:ext uri="{FF2B5EF4-FFF2-40B4-BE49-F238E27FC236}">
                <a16:creationId xmlns:a16="http://schemas.microsoft.com/office/drawing/2014/main" id="{55DDE373-1ADE-3327-0E01-2E6F0A57BFEC}"/>
              </a:ext>
            </a:extLst>
          </p:cNvPr>
          <p:cNvCxnSpPr/>
          <p:nvPr/>
        </p:nvCxnSpPr>
        <p:spPr>
          <a:xfrm>
            <a:off x="11411176" y="2404268"/>
            <a:ext cx="0" cy="182880"/>
          </a:xfrm>
          <a:prstGeom prst="line">
            <a:avLst/>
          </a:prstGeom>
          <a:ln w="12700">
            <a:solidFill>
              <a:srgbClr val="7A4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2" name="Integration Services">
            <a:extLst>
              <a:ext uri="{FF2B5EF4-FFF2-40B4-BE49-F238E27FC236}">
                <a16:creationId xmlns:a16="http://schemas.microsoft.com/office/drawing/2014/main" id="{767EE85F-EB92-3A77-FE85-21E8381E8CB6}"/>
              </a:ext>
            </a:extLst>
          </p:cNvPr>
          <p:cNvGrpSpPr/>
          <p:nvPr/>
        </p:nvGrpSpPr>
        <p:grpSpPr>
          <a:xfrm>
            <a:off x="10877781" y="2587151"/>
            <a:ext cx="1081436" cy="618745"/>
            <a:chOff x="12966192" y="2651760"/>
            <a:chExt cx="1297723" cy="742493"/>
          </a:xfrm>
        </p:grpSpPr>
        <p:sp>
          <p:nvSpPr>
            <p:cNvPr id="133" name="Rounded Rectangle 59">
              <a:extLst>
                <a:ext uri="{FF2B5EF4-FFF2-40B4-BE49-F238E27FC236}">
                  <a16:creationId xmlns:a16="http://schemas.microsoft.com/office/drawing/2014/main" id="{08D47AB8-6DF7-6211-5CF7-02CDE1C62AA3}"/>
                </a:ext>
              </a:extLst>
            </p:cNvPr>
            <p:cNvSpPr/>
            <p:nvPr/>
          </p:nvSpPr>
          <p:spPr>
            <a:xfrm>
              <a:off x="12966192" y="2651760"/>
              <a:ext cx="1280160" cy="7315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60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563EFCC-47B0-F8C6-F25E-154D1AEC5CE4}"/>
                </a:ext>
              </a:extLst>
            </p:cNvPr>
            <p:cNvSpPr txBox="1"/>
            <p:nvPr/>
          </p:nvSpPr>
          <p:spPr>
            <a:xfrm>
              <a:off x="13030200" y="2724912"/>
              <a:ext cx="1152143" cy="3355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Aft>
                  <a:spcPts val="167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Integration Services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D1BF1B2-88AA-E601-7379-01A239FC019F}"/>
                </a:ext>
              </a:extLst>
            </p:cNvPr>
            <p:cNvSpPr txBox="1"/>
            <p:nvPr/>
          </p:nvSpPr>
          <p:spPr>
            <a:xfrm>
              <a:off x="13111772" y="3090708"/>
              <a:ext cx="1152143" cy="30354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6000"/>
                </a:lnSpc>
                <a:spcAft>
                  <a:spcPts val="167"/>
                </a:spcAft>
              </a:pPr>
              <a:r>
                <a:rPr sz="800">
                  <a:solidFill>
                    <a:srgbClr val="5F6372"/>
                  </a:solidFill>
                  <a:latin typeface="Inter Light"/>
                </a:rPr>
                <a:t>Interface · file · batch · event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A7BE7-EAC5-2333-9466-029F28F0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12A2C-BA1B-27DC-6C3A-686DBE74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" y="593499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IN" sz="2083">
                <a:solidFill>
                  <a:srgbClr val="0E1020"/>
                </a:solidFill>
              </a:rPr>
              <a:t>Technical</a:t>
            </a:r>
            <a:r>
              <a:rPr sz="2083">
                <a:solidFill>
                  <a:srgbClr val="0E1020"/>
                </a:solidFill>
              </a:rPr>
              <a:t> Architecture</a:t>
            </a:r>
          </a:p>
        </p:txBody>
      </p:sp>
      <p:grpSp>
        <p:nvGrpSpPr>
          <p:cNvPr id="2" name="panel Sources"/>
          <p:cNvGrpSpPr/>
          <p:nvPr/>
        </p:nvGrpSpPr>
        <p:grpSpPr>
          <a:xfrm>
            <a:off x="403860" y="1222880"/>
            <a:ext cx="996153" cy="5138928"/>
            <a:chOff x="403890" y="1335024"/>
            <a:chExt cx="1325880" cy="5138928"/>
          </a:xfrm>
        </p:grpSpPr>
        <p:sp>
          <p:nvSpPr>
            <p:cNvPr id="4" name="Rectangle 3"/>
            <p:cNvSpPr/>
            <p:nvPr/>
          </p:nvSpPr>
          <p:spPr>
            <a:xfrm>
              <a:off x="403890" y="1335024"/>
              <a:ext cx="1325880" cy="5138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49610" y="1380744"/>
              <a:ext cx="1234439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SOURCES</a:t>
              </a:r>
            </a:p>
          </p:txBody>
        </p:sp>
      </p:grpSp>
      <p:sp>
        <p:nvSpPr>
          <p:cNvPr id="6" name="Rectangle 5"/>
          <p:cNvSpPr/>
          <p:nvPr/>
        </p:nvSpPr>
        <p:spPr>
          <a:xfrm>
            <a:off x="458820" y="1460624"/>
            <a:ext cx="886233" cy="201168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170" y="1506344"/>
            <a:ext cx="81753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TIC Systems</a:t>
            </a:r>
          </a:p>
        </p:txBody>
      </p:sp>
      <p:grpSp>
        <p:nvGrpSpPr>
          <p:cNvPr id="11" name="row Contracts and change orders"/>
          <p:cNvGrpSpPr/>
          <p:nvPr/>
        </p:nvGrpSpPr>
        <p:grpSpPr>
          <a:xfrm>
            <a:off x="500040" y="1734944"/>
            <a:ext cx="803793" cy="384048"/>
            <a:chOff x="531906" y="1847088"/>
            <a:chExt cx="1069848" cy="384048"/>
          </a:xfrm>
        </p:grpSpPr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906" y="1961388"/>
              <a:ext cx="155448" cy="155448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742218" y="1847088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Contracts and change orders</a:t>
              </a:r>
            </a:p>
          </p:txBody>
        </p:sp>
      </p:grpSp>
      <p:grpSp>
        <p:nvGrpSpPr>
          <p:cNvPr id="14" name="row Cost and controls"/>
          <p:cNvGrpSpPr/>
          <p:nvPr/>
        </p:nvGrpSpPr>
        <p:grpSpPr>
          <a:xfrm>
            <a:off x="500040" y="2137280"/>
            <a:ext cx="803793" cy="384048"/>
            <a:chOff x="531906" y="2249424"/>
            <a:chExt cx="1069848" cy="384048"/>
          </a:xfrm>
        </p:grpSpPr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906" y="2363724"/>
              <a:ext cx="155448" cy="15544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42218" y="2249424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Cost and controls</a:t>
              </a:r>
            </a:p>
          </p:txBody>
        </p:sp>
      </p:grpSp>
      <p:grpSp>
        <p:nvGrpSpPr>
          <p:cNvPr id="17" name="row Finance / ERP ledger"/>
          <p:cNvGrpSpPr/>
          <p:nvPr/>
        </p:nvGrpSpPr>
        <p:grpSpPr>
          <a:xfrm>
            <a:off x="500040" y="2539616"/>
            <a:ext cx="803793" cy="384048"/>
            <a:chOff x="531906" y="2651760"/>
            <a:chExt cx="1069848" cy="384048"/>
          </a:xfrm>
        </p:grpSpPr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1906" y="2766060"/>
              <a:ext cx="155448" cy="155448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42218" y="2651760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Finance / ERP ledger</a:t>
              </a:r>
            </a:p>
          </p:txBody>
        </p:sp>
      </p:grpSp>
      <p:grpSp>
        <p:nvGrpSpPr>
          <p:cNvPr id="20" name="row Payment and AP"/>
          <p:cNvGrpSpPr/>
          <p:nvPr/>
        </p:nvGrpSpPr>
        <p:grpSpPr>
          <a:xfrm>
            <a:off x="500040" y="2941952"/>
            <a:ext cx="803793" cy="384048"/>
            <a:chOff x="531906" y="3054096"/>
            <a:chExt cx="1069848" cy="384048"/>
          </a:xfrm>
        </p:grpSpPr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906" y="3168396"/>
              <a:ext cx="155448" cy="15544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742218" y="3054096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Payment and AP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58820" y="3563743"/>
            <a:ext cx="886233" cy="164592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170" y="3609463"/>
            <a:ext cx="81753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Contractor</a:t>
            </a:r>
          </a:p>
        </p:txBody>
      </p:sp>
      <p:grpSp>
        <p:nvGrpSpPr>
          <p:cNvPr id="26" name="row Portal uploads"/>
          <p:cNvGrpSpPr/>
          <p:nvPr/>
        </p:nvGrpSpPr>
        <p:grpSpPr>
          <a:xfrm>
            <a:off x="500040" y="3838063"/>
            <a:ext cx="803793" cy="384048"/>
            <a:chOff x="531906" y="3950207"/>
            <a:chExt cx="1069848" cy="384048"/>
          </a:xfrm>
        </p:grpSpPr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1906" y="4064507"/>
              <a:ext cx="155448" cy="155448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742218" y="3950207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Portal uploads</a:t>
              </a:r>
            </a:p>
          </p:txBody>
        </p:sp>
      </p:grpSp>
      <p:grpSp>
        <p:nvGrpSpPr>
          <p:cNvPr id="29" name="row Contractor teams"/>
          <p:cNvGrpSpPr/>
          <p:nvPr/>
        </p:nvGrpSpPr>
        <p:grpSpPr>
          <a:xfrm>
            <a:off x="500040" y="4240400"/>
            <a:ext cx="803793" cy="384048"/>
            <a:chOff x="531906" y="4352544"/>
            <a:chExt cx="1069848" cy="384048"/>
          </a:xfrm>
        </p:grpSpPr>
        <p:pic>
          <p:nvPicPr>
            <p:cNvPr id="27" name="Picture 26" descr="users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1906" y="4466844"/>
              <a:ext cx="155448" cy="155448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742218" y="4352544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Contractor teams</a:t>
              </a:r>
            </a:p>
          </p:txBody>
        </p:sp>
      </p:grpSp>
      <p:grpSp>
        <p:nvGrpSpPr>
          <p:cNvPr id="32" name="row Invoices and backup"/>
          <p:cNvGrpSpPr/>
          <p:nvPr/>
        </p:nvGrpSpPr>
        <p:grpSpPr>
          <a:xfrm>
            <a:off x="500040" y="4642736"/>
            <a:ext cx="803793" cy="384048"/>
            <a:chOff x="531906" y="4754880"/>
            <a:chExt cx="1069848" cy="384048"/>
          </a:xfrm>
        </p:grpSpPr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1906" y="4869180"/>
              <a:ext cx="155448" cy="155448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742218" y="4754880"/>
              <a:ext cx="859536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Medium"/>
                </a:rPr>
                <a:t>Invoices and backup</a:t>
              </a:r>
            </a:p>
          </p:txBody>
        </p:sp>
      </p:grpSp>
      <p:grpSp>
        <p:nvGrpSpPr>
          <p:cNvPr id="36" name="note Connectivity"/>
          <p:cNvGrpSpPr/>
          <p:nvPr/>
        </p:nvGrpSpPr>
        <p:grpSpPr>
          <a:xfrm>
            <a:off x="458820" y="5351656"/>
            <a:ext cx="886233" cy="872504"/>
            <a:chOff x="477042" y="5463800"/>
            <a:chExt cx="1179576" cy="872504"/>
          </a:xfrm>
        </p:grpSpPr>
        <p:sp>
          <p:nvSpPr>
            <p:cNvPr id="33" name="Rectangle 32"/>
            <p:cNvSpPr/>
            <p:nvPr/>
          </p:nvSpPr>
          <p:spPr>
            <a:xfrm>
              <a:off x="477042" y="5463800"/>
              <a:ext cx="1179576" cy="872504"/>
            </a:xfrm>
            <a:prstGeom prst="rect">
              <a:avLst/>
            </a:prstGeom>
            <a:solidFill>
              <a:srgbClr val="EFEDEA"/>
            </a:solidFill>
            <a:ln w="9525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1050" y="5525403"/>
              <a:ext cx="1069848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7A4A2B"/>
                  </a:solidFill>
                  <a:latin typeface="Inter Medium"/>
                </a:rPr>
                <a:t>CONNECTIVITY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41050" y="5766476"/>
              <a:ext cx="1069848" cy="3767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2B2E3B"/>
                  </a:solidFill>
                  <a:latin typeface="Inter Light"/>
                </a:rPr>
                <a:t>ExpressRoute for TI Corp. HTTPS and WAF for contractors.</a:t>
              </a:r>
            </a:p>
          </p:txBody>
        </p:sp>
      </p:grpSp>
      <p:grpSp>
        <p:nvGrpSpPr>
          <p:cNvPr id="39" name="panel Ingest"/>
          <p:cNvGrpSpPr/>
          <p:nvPr/>
        </p:nvGrpSpPr>
        <p:grpSpPr>
          <a:xfrm>
            <a:off x="1555090" y="1222880"/>
            <a:ext cx="1044098" cy="5138928"/>
            <a:chOff x="1802922" y="1335024"/>
            <a:chExt cx="1097280" cy="5138928"/>
          </a:xfrm>
        </p:grpSpPr>
        <p:sp>
          <p:nvSpPr>
            <p:cNvPr id="37" name="Rectangle 36"/>
            <p:cNvSpPr/>
            <p:nvPr/>
          </p:nvSpPr>
          <p:spPr>
            <a:xfrm>
              <a:off x="1802922" y="1335024"/>
              <a:ext cx="1097280" cy="5138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848642" y="1380744"/>
              <a:ext cx="1005839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0E1020"/>
                  </a:solidFill>
                  <a:latin typeface="Inter Medium"/>
                </a:rPr>
                <a:t>INGEST</a:t>
              </a:r>
            </a:p>
          </p:txBody>
        </p:sp>
      </p:grpSp>
      <p:sp>
        <p:nvSpPr>
          <p:cNvPr id="40" name="Rectangle 39"/>
          <p:cNvSpPr/>
          <p:nvPr/>
        </p:nvSpPr>
        <p:spPr>
          <a:xfrm>
            <a:off x="1642267" y="1460624"/>
            <a:ext cx="864524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1649" y="1506344"/>
            <a:ext cx="166255" cy="18288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1154" y="1506344"/>
            <a:ext cx="166255" cy="1828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92143" y="1725800"/>
            <a:ext cx="76477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SFTP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2143" y="1862960"/>
            <a:ext cx="764771" cy="248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Blob SFTP endpoint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42267" y="3106544"/>
            <a:ext cx="864524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1649" y="3152264"/>
            <a:ext cx="166255" cy="18288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1154" y="3152264"/>
            <a:ext cx="166255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692143" y="3371720"/>
            <a:ext cx="76477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92143" y="3508880"/>
            <a:ext cx="764771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APIM</a:t>
            </a:r>
            <a:r>
              <a:rPr lang="en-US" sz="800" b="0">
                <a:solidFill>
                  <a:srgbClr val="5F6372"/>
                </a:solidFill>
                <a:latin typeface="Inter Light"/>
              </a:rPr>
              <a:t> with WAF and Entra ID OAuth for contractor systems</a:t>
            </a:r>
            <a:endParaRPr sz="800" b="0">
              <a:solidFill>
                <a:srgbClr val="5F6372"/>
              </a:solidFill>
              <a:latin typeface="Inter Light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642267" y="4752464"/>
            <a:ext cx="864524" cy="155448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1649" y="4798184"/>
            <a:ext cx="166255" cy="18288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1154" y="4798184"/>
            <a:ext cx="166255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92143" y="5017640"/>
            <a:ext cx="76477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BATCH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2143" y="5154800"/>
            <a:ext cx="764771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Data Factory pulls and Event Grid triggers</a:t>
            </a:r>
          </a:p>
        </p:txBody>
      </p:sp>
      <p:grpSp>
        <p:nvGrpSpPr>
          <p:cNvPr id="60" name="panel UI / UX"/>
          <p:cNvGrpSpPr/>
          <p:nvPr/>
        </p:nvGrpSpPr>
        <p:grpSpPr>
          <a:xfrm>
            <a:off x="2826748" y="1222880"/>
            <a:ext cx="6163056" cy="637550"/>
            <a:chOff x="2991642" y="1335024"/>
            <a:chExt cx="6163056" cy="637550"/>
          </a:xfrm>
        </p:grpSpPr>
        <p:sp>
          <p:nvSpPr>
            <p:cNvPr id="58" name="Rectangle 57"/>
            <p:cNvSpPr/>
            <p:nvPr/>
          </p:nvSpPr>
          <p:spPr>
            <a:xfrm>
              <a:off x="2991642" y="1335024"/>
              <a:ext cx="6163056" cy="6375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37362" y="1380744"/>
              <a:ext cx="6071616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004AAC"/>
                  </a:solidFill>
                  <a:latin typeface="Inter Medium"/>
                </a:rPr>
                <a:t>UI / UX</a:t>
              </a:r>
            </a:p>
          </p:txBody>
        </p:sp>
      </p:grpSp>
      <p:sp>
        <p:nvSpPr>
          <p:cNvPr id="61" name="Rectangle 60"/>
          <p:cNvSpPr/>
          <p:nvPr/>
        </p:nvSpPr>
        <p:spPr>
          <a:xfrm>
            <a:off x="2936476" y="1424048"/>
            <a:ext cx="2221992" cy="37112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91340" y="1478912"/>
            <a:ext cx="155448" cy="155448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74220" y="1478912"/>
            <a:ext cx="155448" cy="15544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384532" y="1469767"/>
            <a:ext cx="1764822" cy="1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Review </a:t>
            </a:r>
            <a:r>
              <a:rPr lang="en-IN" sz="800" b="1">
                <a:solidFill>
                  <a:srgbClr val="0E1020"/>
                </a:solidFill>
                <a:latin typeface="Inter Medium"/>
              </a:rPr>
              <a:t>&amp;</a:t>
            </a:r>
            <a:r>
              <a:rPr sz="800" b="1">
                <a:solidFill>
                  <a:srgbClr val="0E1020"/>
                </a:solidFill>
                <a:latin typeface="Inter Medium"/>
              </a:rPr>
              <a:t> Assurance Workbench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91340" y="1674561"/>
            <a:ext cx="1591056" cy="120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App Service · Entra ID SSO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73036" y="1424048"/>
            <a:ext cx="1595359" cy="37112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79062" y="1478912"/>
            <a:ext cx="155448" cy="1554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66953" y="1469768"/>
            <a:ext cx="109295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Executive Insights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6183" y="1667155"/>
            <a:ext cx="112418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Power BI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59836" y="1424048"/>
            <a:ext cx="1920240" cy="371123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14700" y="1478912"/>
            <a:ext cx="155448" cy="15544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225012" y="1469768"/>
            <a:ext cx="1600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Rule Admin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14700" y="1674561"/>
            <a:ext cx="1444752" cy="120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Rule release and versioning</a:t>
            </a:r>
          </a:p>
        </p:txBody>
      </p:sp>
      <p:grpSp>
        <p:nvGrpSpPr>
          <p:cNvPr id="79" name="panel AI / Intelligence"/>
          <p:cNvGrpSpPr/>
          <p:nvPr/>
        </p:nvGrpSpPr>
        <p:grpSpPr>
          <a:xfrm>
            <a:off x="2826748" y="1954399"/>
            <a:ext cx="6163056" cy="2560320"/>
            <a:chOff x="2991642" y="2066543"/>
            <a:chExt cx="6163056" cy="2560320"/>
          </a:xfrm>
        </p:grpSpPr>
        <p:sp>
          <p:nvSpPr>
            <p:cNvPr id="77" name="Rectangle 76"/>
            <p:cNvSpPr/>
            <p:nvPr/>
          </p:nvSpPr>
          <p:spPr>
            <a:xfrm>
              <a:off x="2991642" y="2066543"/>
              <a:ext cx="6163056" cy="25603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037362" y="2112263"/>
              <a:ext cx="6071616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004AAC"/>
                  </a:solidFill>
                  <a:latin typeface="Inter Medium"/>
                </a:rPr>
                <a:t>AI / INTELLIGENCE</a:t>
              </a:r>
            </a:p>
          </p:txBody>
        </p:sp>
      </p:grpSp>
      <p:grpSp>
        <p:nvGrpSpPr>
          <p:cNvPr id="86" name="box Orchestrator"/>
          <p:cNvGrpSpPr/>
          <p:nvPr/>
        </p:nvGrpSpPr>
        <p:grpSpPr>
          <a:xfrm>
            <a:off x="2936476" y="2155568"/>
            <a:ext cx="5943600" cy="256032"/>
            <a:chOff x="3101370" y="2267712"/>
            <a:chExt cx="5943600" cy="256032"/>
          </a:xfrm>
        </p:grpSpPr>
        <p:sp>
          <p:nvSpPr>
            <p:cNvPr id="80" name="Rectangle 79"/>
            <p:cNvSpPr/>
            <p:nvPr/>
          </p:nvSpPr>
          <p:spPr>
            <a:xfrm>
              <a:off x="3101370" y="2267712"/>
              <a:ext cx="5943600" cy="256032"/>
            </a:xfrm>
            <a:prstGeom prst="rect">
              <a:avLst/>
            </a:prstGeom>
            <a:solidFill>
              <a:srgbClr val="E3ECFA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pic>
          <p:nvPicPr>
            <p:cNvPr id="81" name="Picture 80" descr="imag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165378" y="2313432"/>
              <a:ext cx="164592" cy="164592"/>
            </a:xfrm>
            <a:prstGeom prst="rect">
              <a:avLst/>
            </a:prstGeom>
          </p:spPr>
        </p:pic>
        <p:pic>
          <p:nvPicPr>
            <p:cNvPr id="82" name="Picture 81" descr="image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357402" y="2313432"/>
              <a:ext cx="164592" cy="164592"/>
            </a:xfrm>
            <a:prstGeom prst="rect">
              <a:avLst/>
            </a:prstGeom>
          </p:spPr>
        </p:pic>
        <p:pic>
          <p:nvPicPr>
            <p:cNvPr id="83" name="Picture 82" descr="image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549426" y="2313432"/>
              <a:ext cx="164592" cy="164592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3778026" y="2276856"/>
              <a:ext cx="118872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Orchestrator</a:t>
              </a:r>
            </a:p>
          </p:txBody>
        </p:sp>
      </p:grpSp>
      <p:grpSp>
        <p:nvGrpSpPr>
          <p:cNvPr id="94" name="agent Intake Agent"/>
          <p:cNvGrpSpPr/>
          <p:nvPr/>
        </p:nvGrpSpPr>
        <p:grpSpPr>
          <a:xfrm>
            <a:off x="2936476" y="2448176"/>
            <a:ext cx="1431036" cy="896112"/>
            <a:chOff x="3101370" y="2560320"/>
            <a:chExt cx="1431036" cy="896112"/>
          </a:xfrm>
        </p:grpSpPr>
        <p:sp>
          <p:nvSpPr>
            <p:cNvPr id="87" name="Rectangle 86"/>
            <p:cNvSpPr/>
            <p:nvPr/>
          </p:nvSpPr>
          <p:spPr>
            <a:xfrm>
              <a:off x="3101370" y="2560320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3147090" y="2606039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147090" y="2606039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375690" y="2587751"/>
              <a:ext cx="11018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Intake Agent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3156234" y="2980944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Logic Apps · Container Apps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3174522" y="3255263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3156234" y="3282696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Classify and check</a:t>
              </a:r>
            </a:p>
          </p:txBody>
        </p:sp>
      </p:grpSp>
      <p:grpSp>
        <p:nvGrpSpPr>
          <p:cNvPr id="102" name="agent Extraction Agent"/>
          <p:cNvGrpSpPr/>
          <p:nvPr/>
        </p:nvGrpSpPr>
        <p:grpSpPr>
          <a:xfrm>
            <a:off x="4440664" y="2448176"/>
            <a:ext cx="1431036" cy="896112"/>
            <a:chOff x="4605558" y="2560320"/>
            <a:chExt cx="1431036" cy="896112"/>
          </a:xfrm>
        </p:grpSpPr>
        <p:sp>
          <p:nvSpPr>
            <p:cNvPr id="95" name="Rectangle 94"/>
            <p:cNvSpPr/>
            <p:nvPr/>
          </p:nvSpPr>
          <p:spPr>
            <a:xfrm>
              <a:off x="4605558" y="2560320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4651278" y="2606039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651278" y="2606039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4879878" y="2587751"/>
              <a:ext cx="11018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Extraction Agent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4660422" y="2980944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AI Content Understanding</a:t>
              </a:r>
            </a:p>
          </p:txBody>
        </p:sp>
        <p:cxnSp>
          <p:nvCxnSpPr>
            <p:cNvPr id="100" name="Connector 99"/>
            <p:cNvCxnSpPr/>
            <p:nvPr/>
          </p:nvCxnSpPr>
          <p:spPr>
            <a:xfrm>
              <a:off x="4678710" y="3255263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/>
            <p:cNvSpPr txBox="1"/>
            <p:nvPr/>
          </p:nvSpPr>
          <p:spPr>
            <a:xfrm>
              <a:off x="4660422" y="3282696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Extract and score</a:t>
              </a:r>
            </a:p>
          </p:txBody>
        </p:sp>
      </p:grpSp>
      <p:grpSp>
        <p:nvGrpSpPr>
          <p:cNvPr id="110" name="agent Contract Intelligence Agent"/>
          <p:cNvGrpSpPr/>
          <p:nvPr/>
        </p:nvGrpSpPr>
        <p:grpSpPr>
          <a:xfrm>
            <a:off x="5944852" y="2448176"/>
            <a:ext cx="1431036" cy="896112"/>
            <a:chOff x="6109746" y="2560320"/>
            <a:chExt cx="1431036" cy="896112"/>
          </a:xfrm>
        </p:grpSpPr>
        <p:sp>
          <p:nvSpPr>
            <p:cNvPr id="103" name="Rectangle 102"/>
            <p:cNvSpPr/>
            <p:nvPr/>
          </p:nvSpPr>
          <p:spPr>
            <a:xfrm>
              <a:off x="6109746" y="2560320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04" name="Rounded Rectangle 103"/>
            <p:cNvSpPr/>
            <p:nvPr/>
          </p:nvSpPr>
          <p:spPr>
            <a:xfrm>
              <a:off x="6155466" y="2606039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155466" y="2606039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6384066" y="2587751"/>
              <a:ext cx="1101852" cy="2442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Contract Intelligence Agent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164610" y="2980944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AI Search · Azure OpenAI</a:t>
              </a:r>
            </a:p>
          </p:txBody>
        </p:sp>
        <p:cxnSp>
          <p:nvCxnSpPr>
            <p:cNvPr id="108" name="Connector 107"/>
            <p:cNvCxnSpPr/>
            <p:nvPr/>
          </p:nvCxnSpPr>
          <p:spPr>
            <a:xfrm>
              <a:off x="6182898" y="3255263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6164610" y="3282696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Author the rules</a:t>
              </a:r>
            </a:p>
          </p:txBody>
        </p:sp>
      </p:grpSp>
      <p:grpSp>
        <p:nvGrpSpPr>
          <p:cNvPr id="118" name="agent Reconciliation Agent"/>
          <p:cNvGrpSpPr/>
          <p:nvPr/>
        </p:nvGrpSpPr>
        <p:grpSpPr>
          <a:xfrm>
            <a:off x="7449040" y="2448176"/>
            <a:ext cx="1431036" cy="896112"/>
            <a:chOff x="7613934" y="2560320"/>
            <a:chExt cx="1431036" cy="896112"/>
          </a:xfrm>
        </p:grpSpPr>
        <p:sp>
          <p:nvSpPr>
            <p:cNvPr id="111" name="Rectangle 110"/>
            <p:cNvSpPr/>
            <p:nvPr/>
          </p:nvSpPr>
          <p:spPr>
            <a:xfrm>
              <a:off x="7613934" y="2560320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7659654" y="2606039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7659654" y="2606039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04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888254" y="2587751"/>
              <a:ext cx="11018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Reconciliation Agent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668798" y="2980944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Container Apps · Azure SQL</a:t>
              </a:r>
            </a:p>
          </p:txBody>
        </p:sp>
        <p:cxnSp>
          <p:nvCxnSpPr>
            <p:cNvPr id="116" name="Connector 115"/>
            <p:cNvCxnSpPr/>
            <p:nvPr/>
          </p:nvCxnSpPr>
          <p:spPr>
            <a:xfrm>
              <a:off x="7687086" y="3255263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/>
            <p:cNvSpPr txBox="1"/>
            <p:nvPr/>
          </p:nvSpPr>
          <p:spPr>
            <a:xfrm>
              <a:off x="7668798" y="3282696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Match and de-dup</a:t>
              </a:r>
            </a:p>
          </p:txBody>
        </p:sp>
      </p:grpSp>
      <p:grpSp>
        <p:nvGrpSpPr>
          <p:cNvPr id="126" name="agent Cost Verification Agent"/>
          <p:cNvGrpSpPr/>
          <p:nvPr/>
        </p:nvGrpSpPr>
        <p:grpSpPr>
          <a:xfrm>
            <a:off x="2936476" y="3380864"/>
            <a:ext cx="1431036" cy="896112"/>
            <a:chOff x="3101370" y="3493008"/>
            <a:chExt cx="1431036" cy="896112"/>
          </a:xfrm>
        </p:grpSpPr>
        <p:sp>
          <p:nvSpPr>
            <p:cNvPr id="119" name="Rectangle 118"/>
            <p:cNvSpPr/>
            <p:nvPr/>
          </p:nvSpPr>
          <p:spPr>
            <a:xfrm>
              <a:off x="3101370" y="3493008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3147090" y="3538727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3147090" y="3538727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05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75690" y="3520439"/>
              <a:ext cx="11018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Cost Verification Agent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156234" y="3913632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Azure Functions · rules ledger</a:t>
              </a:r>
            </a:p>
          </p:txBody>
        </p:sp>
        <p:cxnSp>
          <p:nvCxnSpPr>
            <p:cNvPr id="124" name="Connector 123"/>
            <p:cNvCxnSpPr/>
            <p:nvPr/>
          </p:nvCxnSpPr>
          <p:spPr>
            <a:xfrm>
              <a:off x="3174522" y="4187952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3156234" y="4215383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Run cost checks</a:t>
              </a:r>
            </a:p>
          </p:txBody>
        </p:sp>
      </p:grpSp>
      <p:grpSp>
        <p:nvGrpSpPr>
          <p:cNvPr id="134" name="agent Change Steward Agent"/>
          <p:cNvGrpSpPr/>
          <p:nvPr/>
        </p:nvGrpSpPr>
        <p:grpSpPr>
          <a:xfrm>
            <a:off x="4440664" y="3380864"/>
            <a:ext cx="1431036" cy="896112"/>
            <a:chOff x="4605558" y="3493008"/>
            <a:chExt cx="1431036" cy="896112"/>
          </a:xfrm>
        </p:grpSpPr>
        <p:sp>
          <p:nvSpPr>
            <p:cNvPr id="127" name="Rectangle 126"/>
            <p:cNvSpPr/>
            <p:nvPr/>
          </p:nvSpPr>
          <p:spPr>
            <a:xfrm>
              <a:off x="4605558" y="3493008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4651278" y="3538727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651278" y="3538727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06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4879878" y="3520439"/>
              <a:ext cx="1101852" cy="24429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Change Steward Agent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4660422" y="3913632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Durable Functions · SQL</a:t>
              </a:r>
            </a:p>
          </p:txBody>
        </p:sp>
        <p:cxnSp>
          <p:nvCxnSpPr>
            <p:cNvPr id="132" name="Connector 131"/>
            <p:cNvCxnSpPr/>
            <p:nvPr/>
          </p:nvCxnSpPr>
          <p:spPr>
            <a:xfrm>
              <a:off x="4678710" y="4187952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4660422" y="4215383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Re-base the rules</a:t>
              </a:r>
            </a:p>
          </p:txBody>
        </p:sp>
      </p:grpSp>
      <p:grpSp>
        <p:nvGrpSpPr>
          <p:cNvPr id="142" name="agent Target Watch Agent"/>
          <p:cNvGrpSpPr/>
          <p:nvPr/>
        </p:nvGrpSpPr>
        <p:grpSpPr>
          <a:xfrm>
            <a:off x="5944852" y="3380864"/>
            <a:ext cx="1431036" cy="896112"/>
            <a:chOff x="6109746" y="3493008"/>
            <a:chExt cx="1431036" cy="896112"/>
          </a:xfrm>
        </p:grpSpPr>
        <p:sp>
          <p:nvSpPr>
            <p:cNvPr id="135" name="Rectangle 134"/>
            <p:cNvSpPr/>
            <p:nvPr/>
          </p:nvSpPr>
          <p:spPr>
            <a:xfrm>
              <a:off x="6109746" y="3493008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36" name="Rounded Rectangle 135"/>
            <p:cNvSpPr/>
            <p:nvPr/>
          </p:nvSpPr>
          <p:spPr>
            <a:xfrm>
              <a:off x="6155466" y="3538727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155466" y="3538727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07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384066" y="3520439"/>
              <a:ext cx="11018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Target Watch Agent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164610" y="3913632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Functions · Synapse</a:t>
              </a:r>
            </a:p>
          </p:txBody>
        </p:sp>
        <p:cxnSp>
          <p:nvCxnSpPr>
            <p:cNvPr id="140" name="Connector 139"/>
            <p:cNvCxnSpPr/>
            <p:nvPr/>
          </p:nvCxnSpPr>
          <p:spPr>
            <a:xfrm>
              <a:off x="6182898" y="4187952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/>
            <p:cNvSpPr txBox="1"/>
            <p:nvPr/>
          </p:nvSpPr>
          <p:spPr>
            <a:xfrm>
              <a:off x="6164610" y="4215383"/>
              <a:ext cx="1321307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E86C1F"/>
                  </a:solidFill>
                  <a:latin typeface="Inter Medium"/>
                </a:rPr>
                <a:t>Watch the target</a:t>
              </a:r>
            </a:p>
          </p:txBody>
        </p:sp>
      </p:grpSp>
      <p:grpSp>
        <p:nvGrpSpPr>
          <p:cNvPr id="150" name="agent Evaluation Agents"/>
          <p:cNvGrpSpPr/>
          <p:nvPr/>
        </p:nvGrpSpPr>
        <p:grpSpPr>
          <a:xfrm>
            <a:off x="7449040" y="3380864"/>
            <a:ext cx="1431036" cy="896112"/>
            <a:chOff x="7613934" y="3493008"/>
            <a:chExt cx="1431036" cy="896112"/>
          </a:xfrm>
        </p:grpSpPr>
        <p:sp>
          <p:nvSpPr>
            <p:cNvPr id="143" name="Rectangle 142"/>
            <p:cNvSpPr/>
            <p:nvPr/>
          </p:nvSpPr>
          <p:spPr>
            <a:xfrm>
              <a:off x="7613934" y="3493008"/>
              <a:ext cx="1431036" cy="8961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7659654" y="3538727"/>
              <a:ext cx="201168" cy="137160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59654" y="3538727"/>
              <a:ext cx="201168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700" b="1">
                  <a:solidFill>
                    <a:srgbClr val="FFFFFF"/>
                  </a:solidFill>
                  <a:latin typeface="Inter Medium"/>
                </a:rPr>
                <a:t>08</a:t>
              </a: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7888254" y="3520439"/>
              <a:ext cx="1101852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2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Evaluation Agents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668798" y="3913632"/>
              <a:ext cx="1321307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5F6372"/>
                  </a:solidFill>
                  <a:latin typeface="Inter Light"/>
                </a:rPr>
                <a:t>Foundry evals · Safety</a:t>
              </a:r>
            </a:p>
          </p:txBody>
        </p:sp>
        <p:cxnSp>
          <p:nvCxnSpPr>
            <p:cNvPr id="148" name="Connector 147"/>
            <p:cNvCxnSpPr/>
            <p:nvPr/>
          </p:nvCxnSpPr>
          <p:spPr>
            <a:xfrm>
              <a:off x="7687086" y="4187952"/>
              <a:ext cx="1284732" cy="0"/>
            </a:xfrm>
            <a:prstGeom prst="line">
              <a:avLst/>
            </a:prstGeom>
            <a:ln w="9525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TextBox 148"/>
            <p:cNvSpPr txBox="1"/>
            <p:nvPr/>
          </p:nvSpPr>
          <p:spPr>
            <a:xfrm>
              <a:off x="7668798" y="4215383"/>
              <a:ext cx="1321307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lang="en-US" sz="800" b="1">
                  <a:solidFill>
                    <a:srgbClr val="E86C1F"/>
                  </a:solidFill>
                  <a:latin typeface="Inter Medium"/>
                </a:rPr>
                <a:t>Context Adherence</a:t>
              </a:r>
              <a:endParaRPr sz="800" b="1">
                <a:solidFill>
                  <a:srgbClr val="E86C1F"/>
                </a:solidFill>
                <a:latin typeface="Inter Medium"/>
              </a:endParaRPr>
            </a:p>
          </p:txBody>
        </p:sp>
      </p:grpSp>
      <p:grpSp>
        <p:nvGrpSpPr>
          <p:cNvPr id="157" name="box Model services"/>
          <p:cNvGrpSpPr/>
          <p:nvPr/>
        </p:nvGrpSpPr>
        <p:grpSpPr>
          <a:xfrm>
            <a:off x="2936476" y="4313552"/>
            <a:ext cx="5989320" cy="164592"/>
            <a:chOff x="3101370" y="4425696"/>
            <a:chExt cx="5989320" cy="164592"/>
          </a:xfrm>
        </p:grpSpPr>
        <p:sp>
          <p:nvSpPr>
            <p:cNvPr id="151" name="Rectangle 150"/>
            <p:cNvSpPr/>
            <p:nvPr/>
          </p:nvSpPr>
          <p:spPr>
            <a:xfrm>
              <a:off x="3101370" y="4425696"/>
              <a:ext cx="5943600" cy="164592"/>
            </a:xfrm>
            <a:prstGeom prst="rect">
              <a:avLst/>
            </a:prstGeom>
            <a:solidFill>
              <a:srgbClr val="EFEDEA"/>
            </a:solidFill>
            <a:ln w="9525">
              <a:solidFill>
                <a:srgbClr val="5F63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pic>
          <p:nvPicPr>
            <p:cNvPr id="152" name="Picture 151" descr="image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165378" y="4425696"/>
              <a:ext cx="164592" cy="164592"/>
            </a:xfrm>
            <a:prstGeom prst="rect">
              <a:avLst/>
            </a:prstGeom>
          </p:spPr>
        </p:pic>
        <p:pic>
          <p:nvPicPr>
            <p:cNvPr id="153" name="Picture 152" descr="image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357402" y="4425696"/>
              <a:ext cx="164592" cy="164592"/>
            </a:xfrm>
            <a:prstGeom prst="rect">
              <a:avLst/>
            </a:prstGeom>
          </p:spPr>
        </p:pic>
        <p:pic>
          <p:nvPicPr>
            <p:cNvPr id="154" name="Picture 153" descr="image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549426" y="4425696"/>
              <a:ext cx="164592" cy="164592"/>
            </a:xfrm>
            <a:prstGeom prst="rect">
              <a:avLst/>
            </a:prstGeom>
          </p:spPr>
        </p:pic>
        <p:pic>
          <p:nvPicPr>
            <p:cNvPr id="155" name="Picture 154" descr="image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741450" y="4425696"/>
              <a:ext cx="164592" cy="164592"/>
            </a:xfrm>
            <a:prstGeom prst="rect">
              <a:avLst/>
            </a:prstGeom>
          </p:spPr>
        </p:pic>
        <p:sp>
          <p:nvSpPr>
            <p:cNvPr id="156" name="TextBox 155"/>
            <p:cNvSpPr txBox="1"/>
            <p:nvPr/>
          </p:nvSpPr>
          <p:spPr>
            <a:xfrm>
              <a:off x="3970050" y="4425696"/>
              <a:ext cx="512064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0E1020"/>
                  </a:solidFill>
                  <a:latin typeface="Inter Light"/>
                </a:rPr>
                <a:t>Azure OpenAI · Foundry Models · Content Safety · Azure ML anomaly models</a:t>
              </a:r>
            </a:p>
          </p:txBody>
        </p:sp>
      </p:grpSp>
      <p:grpSp>
        <p:nvGrpSpPr>
          <p:cNvPr id="160" name="panel Data / Document / Rules"/>
          <p:cNvGrpSpPr/>
          <p:nvPr/>
        </p:nvGrpSpPr>
        <p:grpSpPr>
          <a:xfrm>
            <a:off x="2826748" y="4569584"/>
            <a:ext cx="6163056" cy="1133856"/>
            <a:chOff x="2991642" y="4681728"/>
            <a:chExt cx="6163056" cy="1133856"/>
          </a:xfrm>
        </p:grpSpPr>
        <p:sp>
          <p:nvSpPr>
            <p:cNvPr id="158" name="Rectangle 157"/>
            <p:cNvSpPr/>
            <p:nvPr/>
          </p:nvSpPr>
          <p:spPr>
            <a:xfrm>
              <a:off x="2991642" y="4681728"/>
              <a:ext cx="6163056" cy="11338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037362" y="4727448"/>
              <a:ext cx="6071616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2E7D52"/>
                  </a:solidFill>
                  <a:latin typeface="Inter Medium"/>
                </a:rPr>
                <a:t>DATA / DOCUMENT / RULES</a:t>
              </a:r>
            </a:p>
          </p:txBody>
        </p:sp>
      </p:grpSp>
      <p:sp>
        <p:nvSpPr>
          <p:cNvPr id="161" name="Rectangle 160"/>
          <p:cNvSpPr/>
          <p:nvPr/>
        </p:nvSpPr>
        <p:spPr>
          <a:xfrm>
            <a:off x="2936476" y="4752464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62" name="Picture 16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91340" y="4807328"/>
            <a:ext cx="155448" cy="155448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3201652" y="47981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Vector DB and Knowledge Index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991340" y="5063360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AI Search · vectors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948156" y="4752464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003020" y="4807328"/>
            <a:ext cx="155448" cy="155448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5213332" y="4798184"/>
            <a:ext cx="1600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Rules Ledger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003020" y="4962776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Azure SQL, effective-dated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959836" y="4752464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72" name="Picture 171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014700" y="4807328"/>
            <a:ext cx="155448" cy="15544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225012" y="4798184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Canonical Model and Curated Store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014700" y="5063360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Azure SQL · Synapse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936476" y="5227952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77" name="Picture 17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991340" y="5282815"/>
            <a:ext cx="155448" cy="155448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3201652" y="5273672"/>
            <a:ext cx="1600200" cy="1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Landing </a:t>
            </a:r>
            <a:r>
              <a:rPr lang="en-IN" sz="800" b="1">
                <a:solidFill>
                  <a:srgbClr val="0E1020"/>
                </a:solidFill>
                <a:latin typeface="Inter Medium"/>
              </a:rPr>
              <a:t>&amp; Staging</a:t>
            </a:r>
            <a:endParaRPr sz="800" b="1">
              <a:solidFill>
                <a:srgbClr val="0E1020"/>
              </a:solidFill>
              <a:latin typeface="Inter Medium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2991340" y="5438263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ADLS Gen2 with SFTP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948156" y="5227952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82" name="Picture 18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03020" y="5282815"/>
            <a:ext cx="155448" cy="155448"/>
          </a:xfrm>
          <a:prstGeom prst="rect">
            <a:avLst/>
          </a:prstGeom>
        </p:spPr>
      </p:pic>
      <p:sp>
        <p:nvSpPr>
          <p:cNvPr id="183" name="TextBox 182"/>
          <p:cNvSpPr txBox="1"/>
          <p:nvPr/>
        </p:nvSpPr>
        <p:spPr>
          <a:xfrm>
            <a:off x="5213332" y="5273672"/>
            <a:ext cx="1600200" cy="11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sz="800" b="1">
                <a:solidFill>
                  <a:srgbClr val="0E1020"/>
                </a:solidFill>
                <a:latin typeface="Inter Medium"/>
              </a:rPr>
              <a:t>Document and Evidence Store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003020" y="5473458"/>
            <a:ext cx="1810512" cy="120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ADLS Gen2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959836" y="5227952"/>
            <a:ext cx="1920240" cy="438912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87" name="Picture 186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014700" y="5282815"/>
            <a:ext cx="155448" cy="15544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225012" y="5273672"/>
            <a:ext cx="1600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Immutable Audit Ledger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7014700" y="5438263"/>
            <a:ext cx="181051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F6372"/>
                </a:solidFill>
                <a:latin typeface="Inter Light"/>
              </a:rPr>
              <a:t>Cosmos DB, hash-chained</a:t>
            </a:r>
          </a:p>
        </p:txBody>
      </p:sp>
      <p:grpSp>
        <p:nvGrpSpPr>
          <p:cNvPr id="193" name="panel Platform, DevOps and Observability"/>
          <p:cNvGrpSpPr/>
          <p:nvPr/>
        </p:nvGrpSpPr>
        <p:grpSpPr>
          <a:xfrm>
            <a:off x="2826748" y="5776590"/>
            <a:ext cx="6163056" cy="585218"/>
            <a:chOff x="2991642" y="5870448"/>
            <a:chExt cx="6163056" cy="603504"/>
          </a:xfrm>
        </p:grpSpPr>
        <p:sp>
          <p:nvSpPr>
            <p:cNvPr id="191" name="Rectangle 190"/>
            <p:cNvSpPr/>
            <p:nvPr/>
          </p:nvSpPr>
          <p:spPr>
            <a:xfrm>
              <a:off x="2991642" y="5870448"/>
              <a:ext cx="6163056" cy="6035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037362" y="5916168"/>
              <a:ext cx="6071616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7A4A2B"/>
                  </a:solidFill>
                  <a:latin typeface="Inter Medium"/>
                </a:rPr>
                <a:t>PLATFORM, DEVOPS AND OBSERVABILITY</a:t>
              </a:r>
            </a:p>
          </p:txBody>
        </p:sp>
      </p:grpSp>
      <p:pic>
        <p:nvPicPr>
          <p:cNvPr id="195" name="Picture 19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947662" y="6031038"/>
            <a:ext cx="199156" cy="19312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3183364" y="5959990"/>
            <a:ext cx="6446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Azure DevOps</a:t>
            </a:r>
          </a:p>
        </p:txBody>
      </p:sp>
      <p:pic>
        <p:nvPicPr>
          <p:cNvPr id="199" name="Picture 198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948930" y="6031038"/>
            <a:ext cx="199156" cy="193122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4184632" y="5959990"/>
            <a:ext cx="6446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Container Registry</a:t>
            </a:r>
          </a:p>
        </p:txBody>
      </p:sp>
      <p:pic>
        <p:nvPicPr>
          <p:cNvPr id="203" name="Picture 202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950198" y="6031038"/>
            <a:ext cx="199156" cy="193122"/>
          </a:xfrm>
          <a:prstGeom prst="rect">
            <a:avLst/>
          </a:prstGeom>
        </p:spPr>
      </p:pic>
      <p:sp>
        <p:nvSpPr>
          <p:cNvPr id="204" name="TextBox 203"/>
          <p:cNvSpPr txBox="1"/>
          <p:nvPr/>
        </p:nvSpPr>
        <p:spPr>
          <a:xfrm>
            <a:off x="5185900" y="5959990"/>
            <a:ext cx="6446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Container Apps</a:t>
            </a:r>
          </a:p>
        </p:txBody>
      </p:sp>
      <p:pic>
        <p:nvPicPr>
          <p:cNvPr id="207" name="Picture 20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51466" y="6031038"/>
            <a:ext cx="199156" cy="193122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6187168" y="5959990"/>
            <a:ext cx="6446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Service Bus</a:t>
            </a:r>
          </a:p>
        </p:txBody>
      </p:sp>
      <p:pic>
        <p:nvPicPr>
          <p:cNvPr id="211" name="Picture 210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952734" y="6031038"/>
            <a:ext cx="199156" cy="193122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7188436" y="5959990"/>
            <a:ext cx="6446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Azure Monitor</a:t>
            </a:r>
          </a:p>
        </p:txBody>
      </p:sp>
      <p:pic>
        <p:nvPicPr>
          <p:cNvPr id="215" name="Picture 21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54002" y="6031038"/>
            <a:ext cx="199156" cy="193122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8189704" y="5959990"/>
            <a:ext cx="6446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1020"/>
                </a:solidFill>
                <a:latin typeface="Inter Medium"/>
              </a:rPr>
              <a:t>Log Analytics</a:t>
            </a:r>
          </a:p>
        </p:txBody>
      </p:sp>
      <p:grpSp>
        <p:nvGrpSpPr>
          <p:cNvPr id="220" name="panel AI Governance"/>
          <p:cNvGrpSpPr/>
          <p:nvPr/>
        </p:nvGrpSpPr>
        <p:grpSpPr>
          <a:xfrm>
            <a:off x="9081244" y="1222880"/>
            <a:ext cx="1234440" cy="5138928"/>
            <a:chOff x="9246138" y="1335024"/>
            <a:chExt cx="1234440" cy="5138928"/>
          </a:xfrm>
        </p:grpSpPr>
        <p:sp>
          <p:nvSpPr>
            <p:cNvPr id="218" name="Rectangle 217"/>
            <p:cNvSpPr/>
            <p:nvPr/>
          </p:nvSpPr>
          <p:spPr>
            <a:xfrm>
              <a:off x="9246138" y="1335024"/>
              <a:ext cx="1234440" cy="5138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9291858" y="1380744"/>
              <a:ext cx="114300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2E7D52"/>
                  </a:solidFill>
                  <a:latin typeface="Inter Medium"/>
                </a:rPr>
                <a:t>AI GOVERNANCE</a:t>
              </a:r>
            </a:p>
          </p:txBody>
        </p:sp>
      </p:grpSp>
      <p:pic>
        <p:nvPicPr>
          <p:cNvPr id="221" name="Picture 220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70717" y="1655204"/>
            <a:ext cx="333216" cy="333216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9327567" y="2053013"/>
            <a:ext cx="81951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Foundry evals and tracing</a:t>
            </a:r>
          </a:p>
        </p:txBody>
      </p:sp>
      <p:pic>
        <p:nvPicPr>
          <p:cNvPr id="224" name="Picture 223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70717" y="2789060"/>
            <a:ext cx="333216" cy="333216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9384822" y="3217871"/>
            <a:ext cx="705006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Agent traces and cost</a:t>
            </a:r>
          </a:p>
        </p:txBody>
      </p:sp>
      <p:pic>
        <p:nvPicPr>
          <p:cNvPr id="227" name="Picture 226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70717" y="3700783"/>
            <a:ext cx="333216" cy="333216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9384822" y="4084336"/>
            <a:ext cx="705007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Azure Policy guardrails</a:t>
            </a:r>
          </a:p>
        </p:txBody>
      </p:sp>
      <p:pic>
        <p:nvPicPr>
          <p:cNvPr id="230" name="Picture 229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99633" y="4784362"/>
            <a:ext cx="275385" cy="275385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9423633" y="5162898"/>
            <a:ext cx="62738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Rule and model KPIs</a:t>
            </a:r>
          </a:p>
        </p:txBody>
      </p:sp>
      <p:grpSp>
        <p:nvGrpSpPr>
          <p:cNvPr id="236" name="note Oversight"/>
          <p:cNvGrpSpPr/>
          <p:nvPr/>
        </p:nvGrpSpPr>
        <p:grpSpPr>
          <a:xfrm>
            <a:off x="9154396" y="5491574"/>
            <a:ext cx="1088136" cy="758464"/>
            <a:chOff x="9319290" y="5577840"/>
            <a:chExt cx="1088136" cy="758464"/>
          </a:xfrm>
        </p:grpSpPr>
        <p:sp>
          <p:nvSpPr>
            <p:cNvPr id="233" name="Rectangle 232"/>
            <p:cNvSpPr/>
            <p:nvPr/>
          </p:nvSpPr>
          <p:spPr>
            <a:xfrm>
              <a:off x="9319290" y="5577840"/>
              <a:ext cx="1088136" cy="758464"/>
            </a:xfrm>
            <a:prstGeom prst="rect">
              <a:avLst/>
            </a:prstGeom>
            <a:solidFill>
              <a:srgbClr val="EFEDEA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9374154" y="5623559"/>
              <a:ext cx="978408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0E1020"/>
                  </a:solidFill>
                  <a:latin typeface="Inter Medium"/>
                </a:rPr>
                <a:t>OVERSIGHT</a:t>
              </a: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9374154" y="5788152"/>
              <a:ext cx="978408" cy="3767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2B2E3B"/>
                  </a:solidFill>
                  <a:latin typeface="Inter Light"/>
                </a:rPr>
                <a:t>Named reviewer and reason code on every decision.</a:t>
              </a:r>
            </a:p>
          </p:txBody>
        </p:sp>
      </p:grpSp>
      <p:grpSp>
        <p:nvGrpSpPr>
          <p:cNvPr id="239" name="panel Security &amp; Privacy"/>
          <p:cNvGrpSpPr/>
          <p:nvPr/>
        </p:nvGrpSpPr>
        <p:grpSpPr>
          <a:xfrm>
            <a:off x="10377408" y="1222880"/>
            <a:ext cx="1368720" cy="5138928"/>
            <a:chOff x="10542300" y="1335024"/>
            <a:chExt cx="1156224" cy="5138928"/>
          </a:xfrm>
        </p:grpSpPr>
        <p:sp>
          <p:nvSpPr>
            <p:cNvPr id="237" name="Rectangle 236"/>
            <p:cNvSpPr/>
            <p:nvPr/>
          </p:nvSpPr>
          <p:spPr>
            <a:xfrm>
              <a:off x="10553730" y="1335024"/>
              <a:ext cx="1144794" cy="51389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10542300" y="1380744"/>
              <a:ext cx="114528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900" b="1">
                  <a:solidFill>
                    <a:srgbClr val="C0272D"/>
                  </a:solidFill>
                  <a:latin typeface="Inter Medium"/>
                </a:rPr>
                <a:t>SECURITY &amp; PRIVACY</a:t>
              </a:r>
            </a:p>
          </p:txBody>
        </p:sp>
      </p:grpSp>
      <p:pic>
        <p:nvPicPr>
          <p:cNvPr id="240" name="Picture 239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919028" y="1655201"/>
            <a:ext cx="302924" cy="302924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10631579" y="2055647"/>
            <a:ext cx="87782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Entra ID, MFA and PIM</a:t>
            </a:r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919028" y="2360523"/>
            <a:ext cx="302924" cy="302924"/>
          </a:xfrm>
          <a:prstGeom prst="rect">
            <a:avLst/>
          </a:prstGeom>
        </p:spPr>
      </p:pic>
      <p:sp>
        <p:nvSpPr>
          <p:cNvPr id="244" name="TextBox 243"/>
          <p:cNvSpPr txBox="1"/>
          <p:nvPr/>
        </p:nvSpPr>
        <p:spPr>
          <a:xfrm>
            <a:off x="10631579" y="2722102"/>
            <a:ext cx="87782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Key Vault CMK and HSM</a:t>
            </a:r>
          </a:p>
        </p:txBody>
      </p:sp>
      <p:pic>
        <p:nvPicPr>
          <p:cNvPr id="246" name="Picture 245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919028" y="3026978"/>
            <a:ext cx="302924" cy="302924"/>
          </a:xfrm>
          <a:prstGeom prst="rect">
            <a:avLst/>
          </a:prstGeom>
        </p:spPr>
      </p:pic>
      <p:sp>
        <p:nvSpPr>
          <p:cNvPr id="247" name="TextBox 246"/>
          <p:cNvSpPr txBox="1"/>
          <p:nvPr/>
        </p:nvSpPr>
        <p:spPr>
          <a:xfrm>
            <a:off x="10631579" y="3388557"/>
            <a:ext cx="87782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Private Link and </a:t>
            </a:r>
            <a:r>
              <a:rPr sz="800" b="0" err="1">
                <a:solidFill>
                  <a:srgbClr val="0E1020"/>
                </a:solidFill>
                <a:latin typeface="Inter Medium"/>
              </a:rPr>
              <a:t>VNet</a:t>
            </a:r>
            <a:endParaRPr sz="800" b="0">
              <a:solidFill>
                <a:srgbClr val="0E1020"/>
              </a:solidFill>
              <a:latin typeface="Inter Medium"/>
            </a:endParaRPr>
          </a:p>
        </p:txBody>
      </p:sp>
      <p:pic>
        <p:nvPicPr>
          <p:cNvPr id="249" name="Picture 248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919028" y="3693433"/>
            <a:ext cx="302924" cy="302924"/>
          </a:xfrm>
          <a:prstGeom prst="rect">
            <a:avLst/>
          </a:prstGeom>
        </p:spPr>
      </p:pic>
      <p:sp>
        <p:nvSpPr>
          <p:cNvPr id="250" name="TextBox 249"/>
          <p:cNvSpPr txBox="1"/>
          <p:nvPr/>
        </p:nvSpPr>
        <p:spPr>
          <a:xfrm>
            <a:off x="10631579" y="4055012"/>
            <a:ext cx="877823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Firewall and WAF</a:t>
            </a:r>
          </a:p>
        </p:txBody>
      </p:sp>
      <p:pic>
        <p:nvPicPr>
          <p:cNvPr id="252" name="Picture 25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919028" y="4236778"/>
            <a:ext cx="302924" cy="302924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10631579" y="4598357"/>
            <a:ext cx="877823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Defender and Sentinel</a:t>
            </a:r>
          </a:p>
        </p:txBody>
      </p:sp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919028" y="4903233"/>
            <a:ext cx="302924" cy="302924"/>
          </a:xfrm>
          <a:prstGeom prst="rect">
            <a:avLst/>
          </a:prstGeom>
        </p:spPr>
      </p:pic>
      <p:sp>
        <p:nvSpPr>
          <p:cNvPr id="256" name="TextBox 255"/>
          <p:cNvSpPr txBox="1"/>
          <p:nvPr/>
        </p:nvSpPr>
        <p:spPr>
          <a:xfrm>
            <a:off x="10631579" y="5264816"/>
            <a:ext cx="877823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E1020"/>
                </a:solidFill>
                <a:latin typeface="Inter Medium"/>
              </a:rPr>
              <a:t>Backup and DR</a:t>
            </a:r>
          </a:p>
        </p:txBody>
      </p:sp>
      <p:grpSp>
        <p:nvGrpSpPr>
          <p:cNvPr id="261" name="note Residency"/>
          <p:cNvGrpSpPr/>
          <p:nvPr/>
        </p:nvGrpSpPr>
        <p:grpSpPr>
          <a:xfrm>
            <a:off x="10526422" y="5491571"/>
            <a:ext cx="1088136" cy="758467"/>
            <a:chOff x="10626882" y="5577840"/>
            <a:chExt cx="1088136" cy="758467"/>
          </a:xfrm>
        </p:grpSpPr>
        <p:sp>
          <p:nvSpPr>
            <p:cNvPr id="258" name="Rectangle 257"/>
            <p:cNvSpPr/>
            <p:nvPr/>
          </p:nvSpPr>
          <p:spPr>
            <a:xfrm>
              <a:off x="10626882" y="5577840"/>
              <a:ext cx="1088136" cy="758467"/>
            </a:xfrm>
            <a:prstGeom prst="rect">
              <a:avLst/>
            </a:prstGeom>
            <a:solidFill>
              <a:srgbClr val="EFEDEA"/>
            </a:solidFill>
            <a:ln w="9525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rIns="73152" rtlCol="0" anchor="ctr"/>
            <a:lstStyle/>
            <a:p>
              <a:pPr algn="ctr"/>
              <a:endParaRPr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10681746" y="5623559"/>
              <a:ext cx="978408" cy="1231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200"/>
                </a:spcAft>
              </a:pPr>
              <a:r>
                <a:rPr sz="800" b="1">
                  <a:solidFill>
                    <a:srgbClr val="C0272D"/>
                  </a:solidFill>
                  <a:latin typeface="Inter Medium"/>
                </a:rPr>
                <a:t>RESIDENCY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10681746" y="5788152"/>
              <a:ext cx="978408" cy="5047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4000"/>
                </a:lnSpc>
                <a:spcBef>
                  <a:spcPts val="0"/>
                </a:spcBef>
                <a:spcAft>
                  <a:spcPts val="200"/>
                </a:spcAft>
              </a:pPr>
              <a:r>
                <a:rPr sz="800" b="0">
                  <a:solidFill>
                    <a:srgbClr val="2B2E3B"/>
                  </a:solidFill>
                  <a:latin typeface="Inter Light"/>
                </a:rPr>
                <a:t>All data and inference stay in Canada. FIPPA controls enforced.</a:t>
              </a:r>
            </a:p>
          </p:txBody>
        </p:sp>
      </p:grpSp>
      <p:sp>
        <p:nvSpPr>
          <p:cNvPr id="288" name="Rectangle 287">
            <a:extLst>
              <a:ext uri="{FF2B5EF4-FFF2-40B4-BE49-F238E27FC236}">
                <a16:creationId xmlns:a16="http://schemas.microsoft.com/office/drawing/2014/main" id="{83BCFE73-284E-849F-FCCC-6EF37C5E1FFE}"/>
              </a:ext>
            </a:extLst>
          </p:cNvPr>
          <p:cNvSpPr/>
          <p:nvPr/>
        </p:nvSpPr>
        <p:spPr>
          <a:xfrm>
            <a:off x="2936476" y="5969964"/>
            <a:ext cx="5943600" cy="31921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742885CD-B764-7920-561C-16639E7BD02D}"/>
              </a:ext>
            </a:extLst>
          </p:cNvPr>
          <p:cNvCxnSpPr>
            <a:cxnSpLocks/>
            <a:stCxn id="4" idx="3"/>
            <a:endCxn id="37" idx="1"/>
          </p:cNvCxnSpPr>
          <p:nvPr/>
        </p:nvCxnSpPr>
        <p:spPr>
          <a:xfrm>
            <a:off x="1400013" y="3792344"/>
            <a:ext cx="1550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: Elbow 293">
            <a:extLst>
              <a:ext uri="{FF2B5EF4-FFF2-40B4-BE49-F238E27FC236}">
                <a16:creationId xmlns:a16="http://schemas.microsoft.com/office/drawing/2014/main" id="{890BF0ED-1669-1B94-2D7B-BB777C94E30F}"/>
              </a:ext>
            </a:extLst>
          </p:cNvPr>
          <p:cNvCxnSpPr>
            <a:cxnSpLocks/>
            <a:stCxn id="37" idx="3"/>
            <a:endCxn id="158" idx="1"/>
          </p:cNvCxnSpPr>
          <p:nvPr/>
        </p:nvCxnSpPr>
        <p:spPr>
          <a:xfrm>
            <a:off x="2599188" y="3792344"/>
            <a:ext cx="227560" cy="134416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DB4B5037-BA54-3634-E2FA-332F583F752F}"/>
              </a:ext>
            </a:extLst>
          </p:cNvPr>
          <p:cNvCxnSpPr/>
          <p:nvPr/>
        </p:nvCxnSpPr>
        <p:spPr>
          <a:xfrm flipV="1">
            <a:off x="8255927" y="4367225"/>
            <a:ext cx="0" cy="344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0F1B4803-BF4A-E6C7-B8EB-87C1E4CF2ADD}"/>
              </a:ext>
            </a:extLst>
          </p:cNvPr>
          <p:cNvCxnSpPr>
            <a:cxnSpLocks/>
          </p:cNvCxnSpPr>
          <p:nvPr/>
        </p:nvCxnSpPr>
        <p:spPr>
          <a:xfrm>
            <a:off x="8459452" y="4367225"/>
            <a:ext cx="0" cy="344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5725B3B1-A52C-65C0-A116-BD8FF09F2C6A}"/>
              </a:ext>
            </a:extLst>
          </p:cNvPr>
          <p:cNvCxnSpPr/>
          <p:nvPr/>
        </p:nvCxnSpPr>
        <p:spPr>
          <a:xfrm flipV="1">
            <a:off x="4705181" y="1708054"/>
            <a:ext cx="0" cy="344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C3C020C6-2429-267A-DB88-0D9F79C52569}"/>
              </a:ext>
            </a:extLst>
          </p:cNvPr>
          <p:cNvCxnSpPr>
            <a:cxnSpLocks/>
          </p:cNvCxnSpPr>
          <p:nvPr/>
        </p:nvCxnSpPr>
        <p:spPr>
          <a:xfrm>
            <a:off x="4908706" y="1708054"/>
            <a:ext cx="0" cy="344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0D43D6B-928D-EC86-B837-236BF571208D}"/>
              </a:ext>
            </a:extLst>
          </p:cNvPr>
          <p:cNvSpPr/>
          <p:nvPr/>
        </p:nvSpPr>
        <p:spPr>
          <a:xfrm>
            <a:off x="9145252" y="1475267"/>
            <a:ext cx="1074693" cy="396299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1BCC7305-B2A1-5AC2-118B-41E7A7C74BE2}"/>
              </a:ext>
            </a:extLst>
          </p:cNvPr>
          <p:cNvSpPr/>
          <p:nvPr/>
        </p:nvSpPr>
        <p:spPr>
          <a:xfrm>
            <a:off x="10533144" y="1470380"/>
            <a:ext cx="1074693" cy="396299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36521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04A2-3707-3F3F-030A-960265C7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B879D1-C37E-67C0-F41E-AC263C33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400">
                <a:solidFill>
                  <a:srgbClr val="0E1020"/>
                </a:solidFill>
              </a:rPr>
              <a:t>Agents in ACTION </a:t>
            </a:r>
            <a:br>
              <a:rPr lang="en-US" sz="4400">
                <a:solidFill>
                  <a:srgbClr val="0E1020"/>
                </a:solidFill>
              </a:rPr>
            </a:br>
            <a:endParaRPr lang="en-US" sz="4400">
              <a:solidFill>
                <a:srgbClr val="0E1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10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50521"/>
            <a:ext cx="8382000" cy="32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2083">
                <a:solidFill>
                  <a:srgbClr val="0E1020"/>
                </a:solidFill>
                <a:latin typeface="GT Standard L Extended"/>
              </a:rPr>
              <a:t>Use Case </a:t>
            </a:r>
            <a:r>
              <a:rPr sz="2083" b="1">
                <a:solidFill>
                  <a:srgbClr val="0E1020"/>
                </a:solidFill>
                <a:latin typeface="GT Standard L Extended"/>
              </a:rPr>
              <a:t>02</a:t>
            </a:r>
            <a:r>
              <a:rPr sz="2083">
                <a:solidFill>
                  <a:srgbClr val="0E1020"/>
                </a:solidFill>
                <a:latin typeface="GT Standard L Extended"/>
              </a:rPr>
              <a:t> — Invoice and Ledger Automation</a:t>
            </a:r>
          </a:p>
        </p:txBody>
      </p:sp>
      <p:grpSp>
        <p:nvGrpSpPr>
          <p:cNvPr id="8" name="trigger"/>
          <p:cNvGrpSpPr/>
          <p:nvPr/>
        </p:nvGrpSpPr>
        <p:grpSpPr>
          <a:xfrm>
            <a:off x="320040" y="777240"/>
            <a:ext cx="11551920" cy="335280"/>
            <a:chOff x="384048" y="932688"/>
            <a:chExt cx="13862304" cy="402336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932688"/>
              <a:ext cx="13862304" cy="402336"/>
            </a:xfrm>
            <a:prstGeom prst="roundRect">
              <a:avLst>
                <a:gd name="adj" fmla="val 4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6928" y="1068492"/>
              <a:ext cx="109728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TRIGGER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0784" y="1049179"/>
              <a:ext cx="12362688" cy="1693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A contractor submits an invoice with its backup pack</a:t>
              </a:r>
            </a:p>
          </p:txBody>
        </p:sp>
      </p:grpSp>
      <p:grpSp>
        <p:nvGrpSpPr>
          <p:cNvPr id="11" name="agent Intake Agent"/>
          <p:cNvGrpSpPr/>
          <p:nvPr/>
        </p:nvGrpSpPr>
        <p:grpSpPr>
          <a:xfrm>
            <a:off x="449579" y="1287780"/>
            <a:ext cx="2628900" cy="2659381"/>
            <a:chOff x="539495" y="1545335"/>
            <a:chExt cx="3154680" cy="3191257"/>
          </a:xfrm>
        </p:grpSpPr>
        <p:sp>
          <p:nvSpPr>
            <p:cNvPr id="9" name="Rounded Rectangle 8"/>
            <p:cNvSpPr/>
            <p:nvPr/>
          </p:nvSpPr>
          <p:spPr>
            <a:xfrm>
              <a:off x="1431035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7E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95043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0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72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446020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6020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511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E1020"/>
                  </a:solidFill>
                  <a:latin typeface="Inter Medium"/>
                </a:rPr>
                <a:t>Intake Agent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813815" y="3547872"/>
              <a:ext cx="2606041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740663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6967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Receives the invoice pack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40663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6967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Splits and classifies documents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40663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6967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Rejects what is incomplete</a:t>
              </a:r>
            </a:p>
          </p:txBody>
        </p:sp>
      </p:grpSp>
      <p:grpSp>
        <p:nvGrpSpPr>
          <p:cNvPr id="12" name="handoff 0"/>
          <p:cNvGrpSpPr/>
          <p:nvPr/>
        </p:nvGrpSpPr>
        <p:grpSpPr>
          <a:xfrm>
            <a:off x="2282190" y="1402080"/>
            <a:ext cx="1851660" cy="525781"/>
            <a:chOff x="2738628" y="1682495"/>
            <a:chExt cx="2221992" cy="630937"/>
          </a:xfrm>
        </p:grpSpPr>
        <p:sp>
          <p:nvSpPr>
            <p:cNvPr id="28" name="Right Arrow 27"/>
            <p:cNvSpPr/>
            <p:nvPr/>
          </p:nvSpPr>
          <p:spPr>
            <a:xfrm>
              <a:off x="2830068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38628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38628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A validated pack</a:t>
              </a:r>
            </a:p>
          </p:txBody>
        </p:sp>
      </p:grpSp>
      <p:grpSp>
        <p:nvGrpSpPr>
          <p:cNvPr id="13" name="agent Extraction Agent"/>
          <p:cNvGrpSpPr/>
          <p:nvPr/>
        </p:nvGrpSpPr>
        <p:grpSpPr>
          <a:xfrm>
            <a:off x="3337560" y="1287780"/>
            <a:ext cx="2628900" cy="2659381"/>
            <a:chOff x="4005072" y="1545335"/>
            <a:chExt cx="3154680" cy="3191257"/>
          </a:xfrm>
        </p:grpSpPr>
        <p:sp>
          <p:nvSpPr>
            <p:cNvPr id="31" name="Rounded Rectangle 30"/>
            <p:cNvSpPr/>
            <p:nvPr/>
          </p:nvSpPr>
          <p:spPr>
            <a:xfrm>
              <a:off x="4896612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3E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960620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1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8948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911596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911596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005072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33088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04AAC"/>
                  </a:solidFill>
                  <a:latin typeface="Inter Medium"/>
                </a:rPr>
                <a:t>Extraction Agent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4279392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4206240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52544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Reads every document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206240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352544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Pulls lines, rates, quantities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206240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52544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Scores confidence per field</a:t>
              </a:r>
            </a:p>
          </p:txBody>
        </p:sp>
      </p:grpSp>
      <p:grpSp>
        <p:nvGrpSpPr>
          <p:cNvPr id="14" name="handoff 1"/>
          <p:cNvGrpSpPr/>
          <p:nvPr/>
        </p:nvGrpSpPr>
        <p:grpSpPr>
          <a:xfrm>
            <a:off x="5170170" y="1402080"/>
            <a:ext cx="1851660" cy="525781"/>
            <a:chOff x="6204204" y="1682495"/>
            <a:chExt cx="2221992" cy="630937"/>
          </a:xfrm>
        </p:grpSpPr>
        <p:sp>
          <p:nvSpPr>
            <p:cNvPr id="44" name="Right Arrow 43"/>
            <p:cNvSpPr/>
            <p:nvPr/>
          </p:nvSpPr>
          <p:spPr>
            <a:xfrm>
              <a:off x="6295644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04204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04204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Structured lines</a:t>
              </a:r>
            </a:p>
          </p:txBody>
        </p:sp>
      </p:grpSp>
      <p:grpSp>
        <p:nvGrpSpPr>
          <p:cNvPr id="15" name="agent Reconciliation Agent"/>
          <p:cNvGrpSpPr/>
          <p:nvPr/>
        </p:nvGrpSpPr>
        <p:grpSpPr>
          <a:xfrm>
            <a:off x="6225540" y="1287780"/>
            <a:ext cx="2628900" cy="2659381"/>
            <a:chOff x="7470648" y="1545335"/>
            <a:chExt cx="3154680" cy="3191257"/>
          </a:xfrm>
        </p:grpSpPr>
        <p:sp>
          <p:nvSpPr>
            <p:cNvPr id="47" name="Rounded Rectangle 46"/>
            <p:cNvSpPr/>
            <p:nvPr/>
          </p:nvSpPr>
          <p:spPr>
            <a:xfrm>
              <a:off x="8362188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5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426196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4524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377172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77172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04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470648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98664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2E7D52"/>
                  </a:solidFill>
                  <a:latin typeface="Inter Medium"/>
                </a:rPr>
                <a:t>Reconciliation Agent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7744968" y="3547872"/>
              <a:ext cx="2606039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7671816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18120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Matches lines to evidence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671816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18120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Reconciles to the ledger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71816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818120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Removes duplicates</a:t>
              </a:r>
            </a:p>
          </p:txBody>
        </p:sp>
      </p:grpSp>
      <p:grpSp>
        <p:nvGrpSpPr>
          <p:cNvPr id="63" name="handoff 2"/>
          <p:cNvGrpSpPr/>
          <p:nvPr/>
        </p:nvGrpSpPr>
        <p:grpSpPr>
          <a:xfrm>
            <a:off x="8058150" y="1402080"/>
            <a:ext cx="1851660" cy="525781"/>
            <a:chOff x="9669780" y="1682495"/>
            <a:chExt cx="2221992" cy="630937"/>
          </a:xfrm>
        </p:grpSpPr>
        <p:sp>
          <p:nvSpPr>
            <p:cNvPr id="60" name="Right Arrow 59"/>
            <p:cNvSpPr/>
            <p:nvPr/>
          </p:nvSpPr>
          <p:spPr>
            <a:xfrm>
              <a:off x="9761219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669780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669780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Clean, reconciled lines</a:t>
              </a:r>
            </a:p>
          </p:txBody>
        </p:sp>
      </p:grpSp>
      <p:grpSp>
        <p:nvGrpSpPr>
          <p:cNvPr id="77" name="agent Evaluation Agents"/>
          <p:cNvGrpSpPr/>
          <p:nvPr/>
        </p:nvGrpSpPr>
        <p:grpSpPr>
          <a:xfrm>
            <a:off x="9113520" y="1287780"/>
            <a:ext cx="2628900" cy="2659381"/>
            <a:chOff x="10936224" y="1545335"/>
            <a:chExt cx="3154680" cy="3191257"/>
          </a:xfrm>
        </p:grpSpPr>
        <p:sp>
          <p:nvSpPr>
            <p:cNvPr id="64" name="Rounded Rectangle 63"/>
            <p:cNvSpPr/>
            <p:nvPr/>
          </p:nvSpPr>
          <p:spPr>
            <a:xfrm>
              <a:off x="11827764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FDE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1891772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6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0100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2842748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842748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E86C1F"/>
                  </a:solidFill>
                  <a:latin typeface="Inter Medium"/>
                </a:rPr>
                <a:t>08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0936224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064240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E86C1F"/>
                  </a:solidFill>
                  <a:latin typeface="Inter Medium"/>
                </a:rPr>
                <a:t>Evaluation Agents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11210544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ounded Rectangle 70"/>
            <p:cNvSpPr/>
            <p:nvPr/>
          </p:nvSpPr>
          <p:spPr>
            <a:xfrm>
              <a:off x="11137392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283696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Checks against the golden set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1137392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283696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Routes weak fields to a human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1137392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283696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Records the quality position</a:t>
              </a:r>
            </a:p>
          </p:txBody>
        </p:sp>
      </p:grpSp>
      <p:grpSp>
        <p:nvGrpSpPr>
          <p:cNvPr id="82" name="human"/>
          <p:cNvGrpSpPr/>
          <p:nvPr/>
        </p:nvGrpSpPr>
        <p:grpSpPr>
          <a:xfrm>
            <a:off x="320040" y="4084320"/>
            <a:ext cx="11551920" cy="533400"/>
            <a:chOff x="384048" y="4901184"/>
            <a:chExt cx="13862304" cy="640080"/>
          </a:xfrm>
        </p:grpSpPr>
        <p:sp>
          <p:nvSpPr>
            <p:cNvPr id="78" name="Rounded Rectangle 77"/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530352" y="5010912"/>
              <a:ext cx="2157984" cy="256032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30352" y="5065793"/>
              <a:ext cx="21579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WHERE PEOPLE DECIDE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sz="875">
                  <a:solidFill>
                    <a:srgbClr val="2B2E3B"/>
                  </a:solidFill>
                  <a:latin typeface="Inter Light"/>
                </a:rPr>
                <a:t>A reviewer confirms low-confidence extractions and releases rejected packs. No line proceeds on a field the service is unsure of.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0040" y="472440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5F6372"/>
                </a:solidFill>
                <a:latin typeface="Inter Medium"/>
              </a:rPr>
              <a:t>WHAT TI CORP GETS</a:t>
            </a:r>
          </a:p>
        </p:txBody>
      </p:sp>
      <p:grpSp>
        <p:nvGrpSpPr>
          <p:cNvPr id="86" name="outcome"/>
          <p:cNvGrpSpPr/>
          <p:nvPr/>
        </p:nvGrpSpPr>
        <p:grpSpPr>
          <a:xfrm>
            <a:off x="320040" y="4907280"/>
            <a:ext cx="2796540" cy="472440"/>
            <a:chOff x="384048" y="5888736"/>
            <a:chExt cx="3355848" cy="566928"/>
          </a:xfrm>
        </p:grpSpPr>
        <p:sp>
          <p:nvSpPr>
            <p:cNvPr id="84" name="Rounded Rectangle 83"/>
            <p:cNvSpPr/>
            <p:nvPr/>
          </p:nvSpPr>
          <p:spPr>
            <a:xfrm>
              <a:off x="384048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0352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Reconciled lines with status</a:t>
              </a:r>
            </a:p>
          </p:txBody>
        </p:sp>
      </p:grpSp>
      <p:grpSp>
        <p:nvGrpSpPr>
          <p:cNvPr id="89" name="outcome"/>
          <p:cNvGrpSpPr/>
          <p:nvPr/>
        </p:nvGrpSpPr>
        <p:grpSpPr>
          <a:xfrm>
            <a:off x="3238500" y="4907280"/>
            <a:ext cx="2796540" cy="472440"/>
            <a:chOff x="3886200" y="5888736"/>
            <a:chExt cx="3355848" cy="566928"/>
          </a:xfrm>
        </p:grpSpPr>
        <p:sp>
          <p:nvSpPr>
            <p:cNvPr id="87" name="Rounded Rectangle 86"/>
            <p:cNvSpPr/>
            <p:nvPr/>
          </p:nvSpPr>
          <p:spPr>
            <a:xfrm>
              <a:off x="3886200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032504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Evidence link to page and region</a:t>
              </a:r>
            </a:p>
          </p:txBody>
        </p:sp>
      </p:grpSp>
      <p:grpSp>
        <p:nvGrpSpPr>
          <p:cNvPr id="92" name="outcome"/>
          <p:cNvGrpSpPr/>
          <p:nvPr/>
        </p:nvGrpSpPr>
        <p:grpSpPr>
          <a:xfrm>
            <a:off x="6156960" y="4907280"/>
            <a:ext cx="2796540" cy="472440"/>
            <a:chOff x="7388352" y="5888736"/>
            <a:chExt cx="3355848" cy="566928"/>
          </a:xfrm>
        </p:grpSpPr>
        <p:sp>
          <p:nvSpPr>
            <p:cNvPr id="90" name="Rounded Rectangle 89"/>
            <p:cNvSpPr/>
            <p:nvPr/>
          </p:nvSpPr>
          <p:spPr>
            <a:xfrm>
              <a:off x="7388352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534656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Duplicate and split-billing register</a:t>
              </a:r>
            </a:p>
          </p:txBody>
        </p:sp>
      </p:grpSp>
      <p:grpSp>
        <p:nvGrpSpPr>
          <p:cNvPr id="95" name="outcome"/>
          <p:cNvGrpSpPr/>
          <p:nvPr/>
        </p:nvGrpSpPr>
        <p:grpSpPr>
          <a:xfrm>
            <a:off x="9075420" y="4907280"/>
            <a:ext cx="2796540" cy="472440"/>
            <a:chOff x="10890504" y="5888736"/>
            <a:chExt cx="3355848" cy="566928"/>
          </a:xfrm>
        </p:grpSpPr>
        <p:sp>
          <p:nvSpPr>
            <p:cNvPr id="93" name="Rounded Rectangle 92"/>
            <p:cNvSpPr/>
            <p:nvPr/>
          </p:nvSpPr>
          <p:spPr>
            <a:xfrm>
              <a:off x="10890504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1036808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Unsupported charge register</a:t>
              </a:r>
            </a:p>
          </p:txBody>
        </p:sp>
      </p:grpSp>
      <p:grpSp>
        <p:nvGrpSpPr>
          <p:cNvPr id="2" name="human">
            <a:extLst>
              <a:ext uri="{FF2B5EF4-FFF2-40B4-BE49-F238E27FC236}">
                <a16:creationId xmlns:a16="http://schemas.microsoft.com/office/drawing/2014/main" id="{2D1318BB-059F-4FB2-9F10-EDFCD932A500}"/>
              </a:ext>
            </a:extLst>
          </p:cNvPr>
          <p:cNvGrpSpPr/>
          <p:nvPr/>
        </p:nvGrpSpPr>
        <p:grpSpPr>
          <a:xfrm>
            <a:off x="320040" y="5634199"/>
            <a:ext cx="11551920" cy="533400"/>
            <a:chOff x="384048" y="4901184"/>
            <a:chExt cx="13862304" cy="640080"/>
          </a:xfrm>
        </p:grpSpPr>
        <p:sp>
          <p:nvSpPr>
            <p:cNvPr id="103" name="Rounded Rectangle 77">
              <a:extLst>
                <a:ext uri="{FF2B5EF4-FFF2-40B4-BE49-F238E27FC236}">
                  <a16:creationId xmlns:a16="http://schemas.microsoft.com/office/drawing/2014/main" id="{D8A7439A-A3C6-CF75-A6BD-74A6CD4B9121}"/>
                </a:ext>
              </a:extLst>
            </p:cNvPr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05D8BDB-DA49-7C39-134C-3BBD7C756D4B}"/>
                </a:ext>
              </a:extLst>
            </p:cNvPr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lang="en-IN" sz="875">
                  <a:solidFill>
                    <a:srgbClr val="2B2E3B"/>
                  </a:solidFill>
                  <a:latin typeface="Inter Light"/>
                </a:rPr>
                <a:t>Ai augmented response summary would be generated for all the verification and exception captured at Exception Logs for UI to render human readable details</a:t>
              </a:r>
              <a:endParaRPr sz="875">
                <a:solidFill>
                  <a:srgbClr val="2B2E3B"/>
                </a:solidFill>
                <a:latin typeface="Inter Light"/>
              </a:endParaRPr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C435139-BE0C-AF2A-8D3D-97E281616C1A}"/>
              </a:ext>
            </a:extLst>
          </p:cNvPr>
          <p:cNvSpPr/>
          <p:nvPr/>
        </p:nvSpPr>
        <p:spPr>
          <a:xfrm>
            <a:off x="577970" y="5788325"/>
            <a:ext cx="1526875" cy="2415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Inter Medium"/>
              </a:rPr>
              <a:t>AI Augmented  - Human readable 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50521"/>
            <a:ext cx="8382000" cy="32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2083">
                <a:solidFill>
                  <a:srgbClr val="0E1020"/>
                </a:solidFill>
                <a:latin typeface="GT Standard L Extended"/>
              </a:rPr>
              <a:t>Use Case 01 — Continuous Cost Verification</a:t>
            </a:r>
          </a:p>
        </p:txBody>
      </p:sp>
      <p:grpSp>
        <p:nvGrpSpPr>
          <p:cNvPr id="8" name="trigger"/>
          <p:cNvGrpSpPr/>
          <p:nvPr/>
        </p:nvGrpSpPr>
        <p:grpSpPr>
          <a:xfrm>
            <a:off x="320040" y="777240"/>
            <a:ext cx="11551920" cy="335280"/>
            <a:chOff x="384048" y="932688"/>
            <a:chExt cx="13862304" cy="402336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932688"/>
              <a:ext cx="13862304" cy="402336"/>
            </a:xfrm>
            <a:prstGeom prst="roundRect">
              <a:avLst>
                <a:gd name="adj" fmla="val 4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6928" y="1068492"/>
              <a:ext cx="109728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TRIGGER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0784" y="1049179"/>
              <a:ext cx="12362688" cy="1693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Clean, reconciled lines arrive from invoice and ledger automation</a:t>
              </a:r>
            </a:p>
          </p:txBody>
        </p:sp>
      </p:grpSp>
      <p:grpSp>
        <p:nvGrpSpPr>
          <p:cNvPr id="11" name="agent Reconciliation Agent"/>
          <p:cNvGrpSpPr/>
          <p:nvPr/>
        </p:nvGrpSpPr>
        <p:grpSpPr>
          <a:xfrm>
            <a:off x="449579" y="1287780"/>
            <a:ext cx="2628900" cy="2659381"/>
            <a:chOff x="539495" y="1545335"/>
            <a:chExt cx="3154680" cy="3191257"/>
          </a:xfrm>
        </p:grpSpPr>
        <p:sp>
          <p:nvSpPr>
            <p:cNvPr id="9" name="Rounded Rectangle 8"/>
            <p:cNvSpPr/>
            <p:nvPr/>
          </p:nvSpPr>
          <p:spPr>
            <a:xfrm>
              <a:off x="1431035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7E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95043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0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72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446020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6020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04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511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E1020"/>
                  </a:solidFill>
                  <a:latin typeface="Inter Medium"/>
                </a:rPr>
                <a:t>Reconciliation Agent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813815" y="3547872"/>
              <a:ext cx="2606041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740663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6967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Hands over matched lines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40663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6967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Passes the ledger context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40663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6967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Holds back the duplicates</a:t>
              </a:r>
            </a:p>
          </p:txBody>
        </p:sp>
      </p:grpSp>
      <p:grpSp>
        <p:nvGrpSpPr>
          <p:cNvPr id="12" name="handoff 0"/>
          <p:cNvGrpSpPr/>
          <p:nvPr/>
        </p:nvGrpSpPr>
        <p:grpSpPr>
          <a:xfrm>
            <a:off x="2282190" y="1402080"/>
            <a:ext cx="1851660" cy="525781"/>
            <a:chOff x="2738628" y="1682495"/>
            <a:chExt cx="2221992" cy="630937"/>
          </a:xfrm>
        </p:grpSpPr>
        <p:sp>
          <p:nvSpPr>
            <p:cNvPr id="28" name="Right Arrow 27"/>
            <p:cNvSpPr/>
            <p:nvPr/>
          </p:nvSpPr>
          <p:spPr>
            <a:xfrm>
              <a:off x="2830068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38628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38628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Clean lines</a:t>
              </a:r>
            </a:p>
          </p:txBody>
        </p:sp>
      </p:grpSp>
      <p:grpSp>
        <p:nvGrpSpPr>
          <p:cNvPr id="13" name="agent Contract Intelligence Agent"/>
          <p:cNvGrpSpPr/>
          <p:nvPr/>
        </p:nvGrpSpPr>
        <p:grpSpPr>
          <a:xfrm>
            <a:off x="3337560" y="1287780"/>
            <a:ext cx="2628900" cy="2659381"/>
            <a:chOff x="4005072" y="1545335"/>
            <a:chExt cx="3154680" cy="3191257"/>
          </a:xfrm>
        </p:grpSpPr>
        <p:sp>
          <p:nvSpPr>
            <p:cNvPr id="31" name="Rounded Rectangle 30"/>
            <p:cNvSpPr/>
            <p:nvPr/>
          </p:nvSpPr>
          <p:spPr>
            <a:xfrm>
              <a:off x="4896612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3E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960620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1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8948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911596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911596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005072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33088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04AAC"/>
                  </a:solidFill>
                  <a:latin typeface="Inter Medium"/>
                </a:rPr>
                <a:t>Contract Intelligence Agent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4279392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4206240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52544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Finds the clause in force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206240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352544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Picks the rule version by date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206240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52544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Supplies rates, caps and limits</a:t>
              </a:r>
            </a:p>
          </p:txBody>
        </p:sp>
      </p:grpSp>
      <p:grpSp>
        <p:nvGrpSpPr>
          <p:cNvPr id="14" name="handoff 1"/>
          <p:cNvGrpSpPr/>
          <p:nvPr/>
        </p:nvGrpSpPr>
        <p:grpSpPr>
          <a:xfrm>
            <a:off x="5170170" y="1402080"/>
            <a:ext cx="1851660" cy="525781"/>
            <a:chOff x="6204204" y="1682495"/>
            <a:chExt cx="2221992" cy="630937"/>
          </a:xfrm>
        </p:grpSpPr>
        <p:sp>
          <p:nvSpPr>
            <p:cNvPr id="44" name="Right Arrow 43"/>
            <p:cNvSpPr/>
            <p:nvPr/>
          </p:nvSpPr>
          <p:spPr>
            <a:xfrm>
              <a:off x="6295644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04204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04204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The rules in force</a:t>
              </a:r>
            </a:p>
          </p:txBody>
        </p:sp>
      </p:grpSp>
      <p:grpSp>
        <p:nvGrpSpPr>
          <p:cNvPr id="15" name="agent Cost Verification Agent"/>
          <p:cNvGrpSpPr/>
          <p:nvPr/>
        </p:nvGrpSpPr>
        <p:grpSpPr>
          <a:xfrm>
            <a:off x="6225540" y="1287780"/>
            <a:ext cx="2628900" cy="2659381"/>
            <a:chOff x="7470648" y="1545335"/>
            <a:chExt cx="3154680" cy="3191257"/>
          </a:xfrm>
        </p:grpSpPr>
        <p:sp>
          <p:nvSpPr>
            <p:cNvPr id="47" name="Rounded Rectangle 46"/>
            <p:cNvSpPr/>
            <p:nvPr/>
          </p:nvSpPr>
          <p:spPr>
            <a:xfrm>
              <a:off x="8362188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5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426196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4524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377172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77172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05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470648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98664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2E7D52"/>
                  </a:solidFill>
                  <a:latin typeface="Inter Medium"/>
                </a:rPr>
                <a:t>Cost Verification Agent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7744968" y="3547872"/>
              <a:ext cx="2606039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7671816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18120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Runs the twelve cost checks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671816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18120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Tests substantiation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71816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818120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Computes the adjustment</a:t>
              </a:r>
            </a:p>
          </p:txBody>
        </p:sp>
      </p:grpSp>
      <p:grpSp>
        <p:nvGrpSpPr>
          <p:cNvPr id="63" name="handoff 2"/>
          <p:cNvGrpSpPr/>
          <p:nvPr/>
        </p:nvGrpSpPr>
        <p:grpSpPr>
          <a:xfrm>
            <a:off x="8058150" y="1402080"/>
            <a:ext cx="1851660" cy="525781"/>
            <a:chOff x="9669780" y="1682495"/>
            <a:chExt cx="2221992" cy="630937"/>
          </a:xfrm>
        </p:grpSpPr>
        <p:sp>
          <p:nvSpPr>
            <p:cNvPr id="60" name="Right Arrow 59"/>
            <p:cNvSpPr/>
            <p:nvPr/>
          </p:nvSpPr>
          <p:spPr>
            <a:xfrm>
              <a:off x="9761219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669780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669780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Verified cost</a:t>
              </a:r>
            </a:p>
          </p:txBody>
        </p:sp>
      </p:grpSp>
      <p:grpSp>
        <p:nvGrpSpPr>
          <p:cNvPr id="77" name="agent Evaluation Agents"/>
          <p:cNvGrpSpPr/>
          <p:nvPr/>
        </p:nvGrpSpPr>
        <p:grpSpPr>
          <a:xfrm>
            <a:off x="9113520" y="1287780"/>
            <a:ext cx="2628900" cy="2659381"/>
            <a:chOff x="10936224" y="1545335"/>
            <a:chExt cx="3154680" cy="3191257"/>
          </a:xfrm>
        </p:grpSpPr>
        <p:sp>
          <p:nvSpPr>
            <p:cNvPr id="64" name="Rounded Rectangle 63"/>
            <p:cNvSpPr/>
            <p:nvPr/>
          </p:nvSpPr>
          <p:spPr>
            <a:xfrm>
              <a:off x="11827764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FDE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1891772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6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0100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2842748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842748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E86C1F"/>
                  </a:solidFill>
                  <a:latin typeface="Inter Medium"/>
                </a:rPr>
                <a:t>08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0936224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064240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E86C1F"/>
                  </a:solidFill>
                  <a:latin typeface="Inter Medium"/>
                </a:rPr>
                <a:t>Evaluation Agents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11210544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ounded Rectangle 70"/>
            <p:cNvSpPr/>
            <p:nvPr/>
          </p:nvSpPr>
          <p:spPr>
            <a:xfrm>
              <a:off x="11137392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283696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Ranks exceptions by value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1137392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283696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Attaches the clause reason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1137392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283696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Builds the evidence pack</a:t>
              </a:r>
            </a:p>
          </p:txBody>
        </p:sp>
      </p:grpSp>
      <p:grpSp>
        <p:nvGrpSpPr>
          <p:cNvPr id="82" name="human"/>
          <p:cNvGrpSpPr/>
          <p:nvPr/>
        </p:nvGrpSpPr>
        <p:grpSpPr>
          <a:xfrm>
            <a:off x="320040" y="4084320"/>
            <a:ext cx="11551920" cy="533400"/>
            <a:chOff x="384048" y="4901184"/>
            <a:chExt cx="13862304" cy="640080"/>
          </a:xfrm>
        </p:grpSpPr>
        <p:sp>
          <p:nvSpPr>
            <p:cNvPr id="78" name="Rounded Rectangle 77"/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530352" y="5010912"/>
              <a:ext cx="2157984" cy="256032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30352" y="5065793"/>
              <a:ext cx="21579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WHERE PEOPLE DECIDE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sz="875">
                  <a:solidFill>
                    <a:srgbClr val="2B2E3B"/>
                  </a:solidFill>
                  <a:latin typeface="Inter Light"/>
                </a:rPr>
                <a:t>The reviewer upholds, dismisses, adjusts or withholds each exception with a reason code. Cleared lines are certified. The service never pays anything.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0040" y="472440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5F6372"/>
                </a:solidFill>
                <a:latin typeface="Inter Medium"/>
              </a:rPr>
              <a:t>WHAT TI CORP GETS</a:t>
            </a:r>
          </a:p>
        </p:txBody>
      </p:sp>
      <p:grpSp>
        <p:nvGrpSpPr>
          <p:cNvPr id="86" name="outcome"/>
          <p:cNvGrpSpPr/>
          <p:nvPr/>
        </p:nvGrpSpPr>
        <p:grpSpPr>
          <a:xfrm>
            <a:off x="320040" y="4907280"/>
            <a:ext cx="2796540" cy="472440"/>
            <a:chOff x="384048" y="5888736"/>
            <a:chExt cx="3355848" cy="566928"/>
          </a:xfrm>
        </p:grpSpPr>
        <p:sp>
          <p:nvSpPr>
            <p:cNvPr id="84" name="Rounded Rectangle 83"/>
            <p:cNvSpPr/>
            <p:nvPr/>
          </p:nvSpPr>
          <p:spPr>
            <a:xfrm>
              <a:off x="384048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0352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Verified cost, line by line</a:t>
              </a:r>
            </a:p>
          </p:txBody>
        </p:sp>
      </p:grpSp>
      <p:grpSp>
        <p:nvGrpSpPr>
          <p:cNvPr id="89" name="outcome"/>
          <p:cNvGrpSpPr/>
          <p:nvPr/>
        </p:nvGrpSpPr>
        <p:grpSpPr>
          <a:xfrm>
            <a:off x="3238500" y="4907280"/>
            <a:ext cx="2796540" cy="472440"/>
            <a:chOff x="3886200" y="5888736"/>
            <a:chExt cx="3355848" cy="566928"/>
          </a:xfrm>
        </p:grpSpPr>
        <p:sp>
          <p:nvSpPr>
            <p:cNvPr id="87" name="Rounded Rectangle 86"/>
            <p:cNvSpPr/>
            <p:nvPr/>
          </p:nvSpPr>
          <p:spPr>
            <a:xfrm>
              <a:off x="3886200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032504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Exceptions with clause and evidence</a:t>
              </a:r>
            </a:p>
          </p:txBody>
        </p:sp>
      </p:grpSp>
      <p:grpSp>
        <p:nvGrpSpPr>
          <p:cNvPr id="92" name="outcome"/>
          <p:cNvGrpSpPr/>
          <p:nvPr/>
        </p:nvGrpSpPr>
        <p:grpSpPr>
          <a:xfrm>
            <a:off x="6156960" y="4907280"/>
            <a:ext cx="2796540" cy="472440"/>
            <a:chOff x="7388352" y="5888736"/>
            <a:chExt cx="3355848" cy="566928"/>
          </a:xfrm>
        </p:grpSpPr>
        <p:sp>
          <p:nvSpPr>
            <p:cNvPr id="90" name="Rounded Rectangle 89"/>
            <p:cNvSpPr/>
            <p:nvPr/>
          </p:nvSpPr>
          <p:spPr>
            <a:xfrm>
              <a:off x="7388352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534656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Recommended payable against claimed</a:t>
              </a:r>
            </a:p>
          </p:txBody>
        </p:sp>
      </p:grpSp>
      <p:grpSp>
        <p:nvGrpSpPr>
          <p:cNvPr id="95" name="outcome"/>
          <p:cNvGrpSpPr/>
          <p:nvPr/>
        </p:nvGrpSpPr>
        <p:grpSpPr>
          <a:xfrm>
            <a:off x="9075420" y="4907280"/>
            <a:ext cx="2796540" cy="472440"/>
            <a:chOff x="10890504" y="5888736"/>
            <a:chExt cx="3355848" cy="566928"/>
          </a:xfrm>
        </p:grpSpPr>
        <p:sp>
          <p:nvSpPr>
            <p:cNvPr id="93" name="Rounded Rectangle 92"/>
            <p:cNvSpPr/>
            <p:nvPr/>
          </p:nvSpPr>
          <p:spPr>
            <a:xfrm>
              <a:off x="10890504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1036808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Audit-ready evidence pack</a:t>
              </a:r>
            </a:p>
          </p:txBody>
        </p:sp>
      </p:grpSp>
      <p:grpSp>
        <p:nvGrpSpPr>
          <p:cNvPr id="2" name="human">
            <a:extLst>
              <a:ext uri="{FF2B5EF4-FFF2-40B4-BE49-F238E27FC236}">
                <a16:creationId xmlns:a16="http://schemas.microsoft.com/office/drawing/2014/main" id="{5DFD5E76-DA7D-1836-FA70-6B71D33C14B4}"/>
              </a:ext>
            </a:extLst>
          </p:cNvPr>
          <p:cNvGrpSpPr/>
          <p:nvPr/>
        </p:nvGrpSpPr>
        <p:grpSpPr>
          <a:xfrm>
            <a:off x="320040" y="5634199"/>
            <a:ext cx="11551920" cy="533400"/>
            <a:chOff x="384048" y="4901184"/>
            <a:chExt cx="13862304" cy="640080"/>
          </a:xfrm>
        </p:grpSpPr>
        <p:sp>
          <p:nvSpPr>
            <p:cNvPr id="103" name="Rounded Rectangle 77">
              <a:extLst>
                <a:ext uri="{FF2B5EF4-FFF2-40B4-BE49-F238E27FC236}">
                  <a16:creationId xmlns:a16="http://schemas.microsoft.com/office/drawing/2014/main" id="{DBC2740F-1AC8-2867-ECDF-90F3D65E86C2}"/>
                </a:ext>
              </a:extLst>
            </p:cNvPr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DCCAD59-CBBD-F1D9-8457-5C097BF3977C}"/>
                </a:ext>
              </a:extLst>
            </p:cNvPr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lang="en-IN" sz="875">
                  <a:solidFill>
                    <a:srgbClr val="2B2E3B"/>
                  </a:solidFill>
                  <a:latin typeface="Inter Light"/>
                </a:rPr>
                <a:t>Ai augmented response summary would be generated for all the verification and exception captured at Exception Logs for UI to render human readable details</a:t>
              </a:r>
              <a:endParaRPr sz="875">
                <a:solidFill>
                  <a:srgbClr val="2B2E3B"/>
                </a:solidFill>
                <a:latin typeface="Inter Light"/>
              </a:endParaRP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6BEFB1F-4BEC-5192-C0F2-04149129AA10}"/>
              </a:ext>
            </a:extLst>
          </p:cNvPr>
          <p:cNvSpPr/>
          <p:nvPr/>
        </p:nvSpPr>
        <p:spPr>
          <a:xfrm>
            <a:off x="577970" y="5788325"/>
            <a:ext cx="1526875" cy="2415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Inter Medium"/>
              </a:rPr>
              <a:t>AI Augmented  - Human readable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50521"/>
            <a:ext cx="8382000" cy="32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2083">
                <a:solidFill>
                  <a:srgbClr val="0E1020"/>
                </a:solidFill>
                <a:latin typeface="GT Standard L Extended"/>
              </a:rPr>
              <a:t>Use Case 03 — Change Order Validation</a:t>
            </a:r>
          </a:p>
        </p:txBody>
      </p:sp>
      <p:grpSp>
        <p:nvGrpSpPr>
          <p:cNvPr id="8" name="trigger"/>
          <p:cNvGrpSpPr/>
          <p:nvPr/>
        </p:nvGrpSpPr>
        <p:grpSpPr>
          <a:xfrm>
            <a:off x="320040" y="777240"/>
            <a:ext cx="11551920" cy="335280"/>
            <a:chOff x="384048" y="932688"/>
            <a:chExt cx="13862304" cy="402336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932688"/>
              <a:ext cx="13862304" cy="402336"/>
            </a:xfrm>
            <a:prstGeom prst="roundRect">
              <a:avLst>
                <a:gd name="adj" fmla="val 4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6928" y="1068492"/>
              <a:ext cx="109728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TRIGGER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0784" y="1049179"/>
              <a:ext cx="12362688" cy="1693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A change order and its pricing build-up are submitted</a:t>
              </a:r>
            </a:p>
          </p:txBody>
        </p:sp>
      </p:grpSp>
      <p:grpSp>
        <p:nvGrpSpPr>
          <p:cNvPr id="11" name="agent Intake Agent"/>
          <p:cNvGrpSpPr/>
          <p:nvPr/>
        </p:nvGrpSpPr>
        <p:grpSpPr>
          <a:xfrm>
            <a:off x="449579" y="1287780"/>
            <a:ext cx="2628900" cy="2659381"/>
            <a:chOff x="539495" y="1545335"/>
            <a:chExt cx="3154680" cy="3191257"/>
          </a:xfrm>
        </p:grpSpPr>
        <p:sp>
          <p:nvSpPr>
            <p:cNvPr id="9" name="Rounded Rectangle 8"/>
            <p:cNvSpPr/>
            <p:nvPr/>
          </p:nvSpPr>
          <p:spPr>
            <a:xfrm>
              <a:off x="1431035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7E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95043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0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72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446020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6020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511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E1020"/>
                  </a:solidFill>
                  <a:latin typeface="Inter Medium"/>
                </a:rPr>
                <a:t>Intake Agent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813815" y="3547872"/>
              <a:ext cx="2606041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740663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6967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Receives the change pack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40663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6967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Confirms contract and period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40663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6967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Checks the backup is present</a:t>
              </a:r>
            </a:p>
          </p:txBody>
        </p:sp>
      </p:grpSp>
      <p:grpSp>
        <p:nvGrpSpPr>
          <p:cNvPr id="12" name="handoff 0"/>
          <p:cNvGrpSpPr/>
          <p:nvPr/>
        </p:nvGrpSpPr>
        <p:grpSpPr>
          <a:xfrm>
            <a:off x="2282190" y="1402080"/>
            <a:ext cx="1851660" cy="525781"/>
            <a:chOff x="2738628" y="1682495"/>
            <a:chExt cx="2221992" cy="630937"/>
          </a:xfrm>
        </p:grpSpPr>
        <p:sp>
          <p:nvSpPr>
            <p:cNvPr id="28" name="Right Arrow 27"/>
            <p:cNvSpPr/>
            <p:nvPr/>
          </p:nvSpPr>
          <p:spPr>
            <a:xfrm>
              <a:off x="2830068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38628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38628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A validated pack</a:t>
              </a:r>
            </a:p>
          </p:txBody>
        </p:sp>
      </p:grpSp>
      <p:grpSp>
        <p:nvGrpSpPr>
          <p:cNvPr id="13" name="agent Extraction Agent"/>
          <p:cNvGrpSpPr/>
          <p:nvPr/>
        </p:nvGrpSpPr>
        <p:grpSpPr>
          <a:xfrm>
            <a:off x="3337560" y="1287780"/>
            <a:ext cx="2628900" cy="2659381"/>
            <a:chOff x="4005072" y="1545335"/>
            <a:chExt cx="3154680" cy="3191257"/>
          </a:xfrm>
        </p:grpSpPr>
        <p:sp>
          <p:nvSpPr>
            <p:cNvPr id="31" name="Rounded Rectangle 30"/>
            <p:cNvSpPr/>
            <p:nvPr/>
          </p:nvSpPr>
          <p:spPr>
            <a:xfrm>
              <a:off x="4896612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3E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960620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1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8948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911596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911596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005072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33088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04AAC"/>
                  </a:solidFill>
                  <a:latin typeface="Inter Medium"/>
                </a:rPr>
                <a:t>Extraction Agent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4279392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4206240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52544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Extracts scope and quantities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206240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352544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Pulls the pricing build-up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206240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52544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Links amounts to pages</a:t>
              </a:r>
            </a:p>
          </p:txBody>
        </p:sp>
      </p:grpSp>
      <p:grpSp>
        <p:nvGrpSpPr>
          <p:cNvPr id="14" name="handoff 1"/>
          <p:cNvGrpSpPr/>
          <p:nvPr/>
        </p:nvGrpSpPr>
        <p:grpSpPr>
          <a:xfrm>
            <a:off x="5170170" y="1402080"/>
            <a:ext cx="1851660" cy="525781"/>
            <a:chOff x="6204204" y="1682495"/>
            <a:chExt cx="2221992" cy="630937"/>
          </a:xfrm>
        </p:grpSpPr>
        <p:sp>
          <p:nvSpPr>
            <p:cNvPr id="44" name="Right Arrow 43"/>
            <p:cNvSpPr/>
            <p:nvPr/>
          </p:nvSpPr>
          <p:spPr>
            <a:xfrm>
              <a:off x="6295644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04204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04204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An evidenced build-up</a:t>
              </a:r>
            </a:p>
          </p:txBody>
        </p:sp>
      </p:grpSp>
      <p:grpSp>
        <p:nvGrpSpPr>
          <p:cNvPr id="15" name="agent Contract Intelligence Agent"/>
          <p:cNvGrpSpPr/>
          <p:nvPr/>
        </p:nvGrpSpPr>
        <p:grpSpPr>
          <a:xfrm>
            <a:off x="6225540" y="1287780"/>
            <a:ext cx="2628900" cy="2659381"/>
            <a:chOff x="7470648" y="1545335"/>
            <a:chExt cx="3154680" cy="3191257"/>
          </a:xfrm>
        </p:grpSpPr>
        <p:sp>
          <p:nvSpPr>
            <p:cNvPr id="47" name="Rounded Rectangle 46"/>
            <p:cNvSpPr/>
            <p:nvPr/>
          </p:nvSpPr>
          <p:spPr>
            <a:xfrm>
              <a:off x="8362188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5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426196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4524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377172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77172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470648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98664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2E7D52"/>
                  </a:solidFill>
                  <a:latin typeface="Inter Medium"/>
                </a:rPr>
                <a:t>Contract Intelligence Agent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7744968" y="3547872"/>
              <a:ext cx="2606039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7671816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18120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Finds the change mechanism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671816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18120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Tests notice and authority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71816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818120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Checks scope overlap</a:t>
              </a:r>
            </a:p>
          </p:txBody>
        </p:sp>
      </p:grpSp>
      <p:grpSp>
        <p:nvGrpSpPr>
          <p:cNvPr id="63" name="handoff 2"/>
          <p:cNvGrpSpPr/>
          <p:nvPr/>
        </p:nvGrpSpPr>
        <p:grpSpPr>
          <a:xfrm>
            <a:off x="8058150" y="1402080"/>
            <a:ext cx="1851660" cy="525781"/>
            <a:chOff x="9669780" y="1682495"/>
            <a:chExt cx="2221992" cy="630937"/>
          </a:xfrm>
        </p:grpSpPr>
        <p:sp>
          <p:nvSpPr>
            <p:cNvPr id="60" name="Right Arrow 59"/>
            <p:cNvSpPr/>
            <p:nvPr/>
          </p:nvSpPr>
          <p:spPr>
            <a:xfrm>
              <a:off x="9761219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669780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669780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The entitlement position</a:t>
              </a:r>
            </a:p>
          </p:txBody>
        </p:sp>
      </p:grpSp>
      <p:grpSp>
        <p:nvGrpSpPr>
          <p:cNvPr id="77" name="agent Change Steward Agent"/>
          <p:cNvGrpSpPr/>
          <p:nvPr/>
        </p:nvGrpSpPr>
        <p:grpSpPr>
          <a:xfrm>
            <a:off x="9113520" y="1287780"/>
            <a:ext cx="2628900" cy="2659381"/>
            <a:chOff x="10936224" y="1545335"/>
            <a:chExt cx="3154680" cy="3191257"/>
          </a:xfrm>
        </p:grpSpPr>
        <p:sp>
          <p:nvSpPr>
            <p:cNvPr id="64" name="Rounded Rectangle 63"/>
            <p:cNvSpPr/>
            <p:nvPr/>
          </p:nvSpPr>
          <p:spPr>
            <a:xfrm>
              <a:off x="11827764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FDE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1891772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6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0100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2842748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842748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E86C1F"/>
                  </a:solidFill>
                  <a:latin typeface="Inter Medium"/>
                </a:rPr>
                <a:t>06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0936224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064240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E86C1F"/>
                  </a:solidFill>
                  <a:latin typeface="Inter Medium"/>
                </a:rPr>
                <a:t>Change Steward Agent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11210544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ounded Rectangle 70"/>
            <p:cNvSpPr/>
            <p:nvPr/>
          </p:nvSpPr>
          <p:spPr>
            <a:xfrm>
              <a:off x="11137392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283696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Recomputes the price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1137392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283696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Tests markup against caps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1137392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283696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Re-bases rules and target</a:t>
              </a:r>
            </a:p>
          </p:txBody>
        </p:sp>
      </p:grpSp>
      <p:grpSp>
        <p:nvGrpSpPr>
          <p:cNvPr id="82" name="human"/>
          <p:cNvGrpSpPr/>
          <p:nvPr/>
        </p:nvGrpSpPr>
        <p:grpSpPr>
          <a:xfrm>
            <a:off x="320040" y="4084320"/>
            <a:ext cx="11551920" cy="533400"/>
            <a:chOff x="384048" y="4901184"/>
            <a:chExt cx="13862304" cy="640080"/>
          </a:xfrm>
        </p:grpSpPr>
        <p:sp>
          <p:nvSpPr>
            <p:cNvPr id="78" name="Rounded Rectangle 77"/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530352" y="5010912"/>
              <a:ext cx="2157984" cy="256032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30352" y="5065793"/>
              <a:ext cx="21579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WHERE PEOPLE DECIDE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sz="875">
                  <a:solidFill>
                    <a:srgbClr val="2B2E3B"/>
                  </a:solidFill>
                  <a:latin typeface="Inter Light"/>
                </a:rPr>
                <a:t>TI Corp approves, queries or rejects. Only an approved change re-bases the rules and the target — the service recommends, it does not amend the contract.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0040" y="472440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5F6372"/>
                </a:solidFill>
                <a:latin typeface="Inter Medium"/>
              </a:rPr>
              <a:t>WHAT TI CORP GETS</a:t>
            </a:r>
          </a:p>
        </p:txBody>
      </p:sp>
      <p:grpSp>
        <p:nvGrpSpPr>
          <p:cNvPr id="86" name="outcome"/>
          <p:cNvGrpSpPr/>
          <p:nvPr/>
        </p:nvGrpSpPr>
        <p:grpSpPr>
          <a:xfrm>
            <a:off x="320040" y="4907280"/>
            <a:ext cx="2796540" cy="472440"/>
            <a:chOff x="384048" y="5888736"/>
            <a:chExt cx="3355848" cy="566928"/>
          </a:xfrm>
        </p:grpSpPr>
        <p:sp>
          <p:nvSpPr>
            <p:cNvPr id="84" name="Rounded Rectangle 83"/>
            <p:cNvSpPr/>
            <p:nvPr/>
          </p:nvSpPr>
          <p:spPr>
            <a:xfrm>
              <a:off x="384048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0352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Entitlement with clause citations</a:t>
              </a:r>
            </a:p>
          </p:txBody>
        </p:sp>
      </p:grpSp>
      <p:grpSp>
        <p:nvGrpSpPr>
          <p:cNvPr id="89" name="outcome"/>
          <p:cNvGrpSpPr/>
          <p:nvPr/>
        </p:nvGrpSpPr>
        <p:grpSpPr>
          <a:xfrm>
            <a:off x="3238500" y="4907280"/>
            <a:ext cx="2796540" cy="472440"/>
            <a:chOff x="3886200" y="5888736"/>
            <a:chExt cx="3355848" cy="566928"/>
          </a:xfrm>
        </p:grpSpPr>
        <p:sp>
          <p:nvSpPr>
            <p:cNvPr id="87" name="Rounded Rectangle 86"/>
            <p:cNvSpPr/>
            <p:nvPr/>
          </p:nvSpPr>
          <p:spPr>
            <a:xfrm>
              <a:off x="3886200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032504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Independent price recalculation</a:t>
              </a:r>
            </a:p>
          </p:txBody>
        </p:sp>
      </p:grpSp>
      <p:grpSp>
        <p:nvGrpSpPr>
          <p:cNvPr id="92" name="outcome"/>
          <p:cNvGrpSpPr/>
          <p:nvPr/>
        </p:nvGrpSpPr>
        <p:grpSpPr>
          <a:xfrm>
            <a:off x="6156960" y="4907280"/>
            <a:ext cx="2796540" cy="472440"/>
            <a:chOff x="7388352" y="5888736"/>
            <a:chExt cx="3355848" cy="566928"/>
          </a:xfrm>
        </p:grpSpPr>
        <p:sp>
          <p:nvSpPr>
            <p:cNvPr id="90" name="Rounded Rectangle 89"/>
            <p:cNvSpPr/>
            <p:nvPr/>
          </p:nvSpPr>
          <p:spPr>
            <a:xfrm>
              <a:off x="7388352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534656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Overlap and double-recovery findings</a:t>
              </a:r>
            </a:p>
          </p:txBody>
        </p:sp>
      </p:grpSp>
      <p:grpSp>
        <p:nvGrpSpPr>
          <p:cNvPr id="95" name="outcome"/>
          <p:cNvGrpSpPr/>
          <p:nvPr/>
        </p:nvGrpSpPr>
        <p:grpSpPr>
          <a:xfrm>
            <a:off x="9075420" y="4907280"/>
            <a:ext cx="2796540" cy="472440"/>
            <a:chOff x="10890504" y="5888736"/>
            <a:chExt cx="3355848" cy="566928"/>
          </a:xfrm>
        </p:grpSpPr>
        <p:sp>
          <p:nvSpPr>
            <p:cNvPr id="93" name="Rounded Rectangle 92"/>
            <p:cNvSpPr/>
            <p:nvPr/>
          </p:nvSpPr>
          <p:spPr>
            <a:xfrm>
              <a:off x="10890504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1036808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Re-based rules and target price</a:t>
              </a:r>
            </a:p>
          </p:txBody>
        </p:sp>
      </p:grpSp>
      <p:grpSp>
        <p:nvGrpSpPr>
          <p:cNvPr id="2" name="human">
            <a:extLst>
              <a:ext uri="{FF2B5EF4-FFF2-40B4-BE49-F238E27FC236}">
                <a16:creationId xmlns:a16="http://schemas.microsoft.com/office/drawing/2014/main" id="{5AAE4988-68E9-0285-92EF-DCA44CE60FF1}"/>
              </a:ext>
            </a:extLst>
          </p:cNvPr>
          <p:cNvGrpSpPr/>
          <p:nvPr/>
        </p:nvGrpSpPr>
        <p:grpSpPr>
          <a:xfrm>
            <a:off x="320040" y="5634199"/>
            <a:ext cx="11551920" cy="533400"/>
            <a:chOff x="384048" y="4901184"/>
            <a:chExt cx="13862304" cy="640080"/>
          </a:xfrm>
        </p:grpSpPr>
        <p:sp>
          <p:nvSpPr>
            <p:cNvPr id="103" name="Rounded Rectangle 77">
              <a:extLst>
                <a:ext uri="{FF2B5EF4-FFF2-40B4-BE49-F238E27FC236}">
                  <a16:creationId xmlns:a16="http://schemas.microsoft.com/office/drawing/2014/main" id="{6D5368EA-7CE3-454B-5C30-39A3D5761DDD}"/>
                </a:ext>
              </a:extLst>
            </p:cNvPr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F730590-703C-468A-C179-2B722DE8B42E}"/>
                </a:ext>
              </a:extLst>
            </p:cNvPr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lang="en-IN" sz="875">
                  <a:solidFill>
                    <a:srgbClr val="2B2E3B"/>
                  </a:solidFill>
                  <a:latin typeface="Inter Light"/>
                </a:rPr>
                <a:t>Ai augmented response summary would be generated for all the verification and exception captured at Exception Logs for UI to render human readable details</a:t>
              </a:r>
              <a:endParaRPr sz="875">
                <a:solidFill>
                  <a:srgbClr val="2B2E3B"/>
                </a:solidFill>
                <a:latin typeface="Inter Light"/>
              </a:endParaRPr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D76582B-0DD7-6913-1154-DA6B926BD58F}"/>
              </a:ext>
            </a:extLst>
          </p:cNvPr>
          <p:cNvSpPr/>
          <p:nvPr/>
        </p:nvSpPr>
        <p:spPr>
          <a:xfrm>
            <a:off x="577970" y="5788325"/>
            <a:ext cx="1526875" cy="2415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Inter Medium"/>
              </a:rPr>
              <a:t>AI Augmented  - Human readable 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50521"/>
            <a:ext cx="8382000" cy="32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2083">
                <a:solidFill>
                  <a:srgbClr val="0E1020"/>
                </a:solidFill>
                <a:latin typeface="GT Standard L Extended"/>
              </a:rPr>
              <a:t>Use Case 04 — Target Cost and Price Monitoring</a:t>
            </a:r>
          </a:p>
        </p:txBody>
      </p:sp>
      <p:grpSp>
        <p:nvGrpSpPr>
          <p:cNvPr id="8" name="trigger"/>
          <p:cNvGrpSpPr/>
          <p:nvPr/>
        </p:nvGrpSpPr>
        <p:grpSpPr>
          <a:xfrm>
            <a:off x="320040" y="777240"/>
            <a:ext cx="11551920" cy="335280"/>
            <a:chOff x="384048" y="932688"/>
            <a:chExt cx="13862304" cy="402336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932688"/>
              <a:ext cx="13862304" cy="402336"/>
            </a:xfrm>
            <a:prstGeom prst="roundRect">
              <a:avLst>
                <a:gd name="adj" fmla="val 4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66928" y="1068492"/>
              <a:ext cx="109728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TRIGGER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00784" y="1049179"/>
              <a:ext cx="12362688" cy="1693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Verified cost is certified, or an approved change moves the target</a:t>
              </a:r>
            </a:p>
          </p:txBody>
        </p:sp>
      </p:grpSp>
      <p:grpSp>
        <p:nvGrpSpPr>
          <p:cNvPr id="11" name="agent Cost Verification Agent"/>
          <p:cNvGrpSpPr/>
          <p:nvPr/>
        </p:nvGrpSpPr>
        <p:grpSpPr>
          <a:xfrm>
            <a:off x="449579" y="1287780"/>
            <a:ext cx="2628900" cy="2659381"/>
            <a:chOff x="539495" y="1545335"/>
            <a:chExt cx="3154680" cy="3191257"/>
          </a:xfrm>
        </p:grpSpPr>
        <p:sp>
          <p:nvSpPr>
            <p:cNvPr id="9" name="Rounded Rectangle 8"/>
            <p:cNvSpPr/>
            <p:nvPr/>
          </p:nvSpPr>
          <p:spPr>
            <a:xfrm>
              <a:off x="1431035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7E9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95043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0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72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2446020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6020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05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539495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511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E1020"/>
                  </a:solidFill>
                  <a:latin typeface="Inter Medium"/>
                </a:rPr>
                <a:t>Cost Verification Agent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813815" y="3547872"/>
              <a:ext cx="2606041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740663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86967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Supplies verified cost only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40663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6967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Passes the open exceptions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40663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86967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Carries package and category</a:t>
              </a:r>
            </a:p>
          </p:txBody>
        </p:sp>
      </p:grpSp>
      <p:grpSp>
        <p:nvGrpSpPr>
          <p:cNvPr id="12" name="handoff 0"/>
          <p:cNvGrpSpPr/>
          <p:nvPr/>
        </p:nvGrpSpPr>
        <p:grpSpPr>
          <a:xfrm>
            <a:off x="2282190" y="1402080"/>
            <a:ext cx="1851660" cy="525781"/>
            <a:chOff x="2738628" y="1682495"/>
            <a:chExt cx="2221992" cy="630937"/>
          </a:xfrm>
        </p:grpSpPr>
        <p:sp>
          <p:nvSpPr>
            <p:cNvPr id="28" name="Right Arrow 27"/>
            <p:cNvSpPr/>
            <p:nvPr/>
          </p:nvSpPr>
          <p:spPr>
            <a:xfrm>
              <a:off x="2830068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38628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738628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Verified cost</a:t>
              </a:r>
            </a:p>
          </p:txBody>
        </p:sp>
      </p:grpSp>
      <p:grpSp>
        <p:nvGrpSpPr>
          <p:cNvPr id="13" name="agent Change Steward Agent"/>
          <p:cNvGrpSpPr/>
          <p:nvPr/>
        </p:nvGrpSpPr>
        <p:grpSpPr>
          <a:xfrm>
            <a:off x="3337560" y="1287780"/>
            <a:ext cx="2628900" cy="2659381"/>
            <a:chOff x="4005072" y="1545335"/>
            <a:chExt cx="3154680" cy="3191257"/>
          </a:xfrm>
        </p:grpSpPr>
        <p:sp>
          <p:nvSpPr>
            <p:cNvPr id="31" name="Rounded Rectangle 30"/>
            <p:cNvSpPr/>
            <p:nvPr/>
          </p:nvSpPr>
          <p:spPr>
            <a:xfrm>
              <a:off x="4896612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3E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960620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1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98948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911596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911596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04AAC"/>
                  </a:solidFill>
                  <a:latin typeface="Inter Medium"/>
                </a:rPr>
                <a:t>06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4005072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33088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004AAC"/>
                  </a:solidFill>
                  <a:latin typeface="Inter Medium"/>
                </a:rPr>
                <a:t>Change Steward Agent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4279392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4206240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352544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Supplies the current target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206240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352544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Flags unpriced change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206240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52544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Gives the share mechanism</a:t>
              </a:r>
            </a:p>
          </p:txBody>
        </p:sp>
      </p:grpSp>
      <p:grpSp>
        <p:nvGrpSpPr>
          <p:cNvPr id="14" name="handoff 1"/>
          <p:cNvGrpSpPr/>
          <p:nvPr/>
        </p:nvGrpSpPr>
        <p:grpSpPr>
          <a:xfrm>
            <a:off x="5170170" y="1402080"/>
            <a:ext cx="1851660" cy="525781"/>
            <a:chOff x="6204204" y="1682495"/>
            <a:chExt cx="2221992" cy="630937"/>
          </a:xfrm>
        </p:grpSpPr>
        <p:sp>
          <p:nvSpPr>
            <p:cNvPr id="44" name="Right Arrow 43"/>
            <p:cNvSpPr/>
            <p:nvPr/>
          </p:nvSpPr>
          <p:spPr>
            <a:xfrm>
              <a:off x="6295644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04204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04204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The current target</a:t>
              </a:r>
            </a:p>
          </p:txBody>
        </p:sp>
      </p:grpSp>
      <p:grpSp>
        <p:nvGrpSpPr>
          <p:cNvPr id="15" name="agent Target Watch Agent"/>
          <p:cNvGrpSpPr/>
          <p:nvPr/>
        </p:nvGrpSpPr>
        <p:grpSpPr>
          <a:xfrm>
            <a:off x="6225540" y="1287780"/>
            <a:ext cx="2628900" cy="2659381"/>
            <a:chOff x="7470648" y="1545335"/>
            <a:chExt cx="3154680" cy="3191257"/>
          </a:xfrm>
        </p:grpSpPr>
        <p:sp>
          <p:nvSpPr>
            <p:cNvPr id="47" name="Rounded Rectangle 46"/>
            <p:cNvSpPr/>
            <p:nvPr/>
          </p:nvSpPr>
          <p:spPr>
            <a:xfrm>
              <a:off x="8362188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E5F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8426196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4524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9377172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77172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2E7D52"/>
                  </a:solidFill>
                  <a:latin typeface="Inter Medium"/>
                </a:rPr>
                <a:t>07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470648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598664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2E7D52"/>
                  </a:solidFill>
                  <a:latin typeface="Inter Medium"/>
                </a:rPr>
                <a:t>Target Watch Agent</a:t>
              </a:r>
            </a:p>
          </p:txBody>
        </p:sp>
        <p:cxnSp>
          <p:nvCxnSpPr>
            <p:cNvPr id="53" name="Connector 52"/>
            <p:cNvCxnSpPr/>
            <p:nvPr/>
          </p:nvCxnSpPr>
          <p:spPr>
            <a:xfrm>
              <a:off x="7744968" y="3547872"/>
              <a:ext cx="2606039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7671816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18120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Aggregates verified cost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671816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18120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Computes variance and trend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671816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818120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Forecasts at completion</a:t>
              </a:r>
            </a:p>
          </p:txBody>
        </p:sp>
      </p:grpSp>
      <p:grpSp>
        <p:nvGrpSpPr>
          <p:cNvPr id="63" name="handoff 2"/>
          <p:cNvGrpSpPr/>
          <p:nvPr/>
        </p:nvGrpSpPr>
        <p:grpSpPr>
          <a:xfrm>
            <a:off x="8058150" y="1402080"/>
            <a:ext cx="1851660" cy="525781"/>
            <a:chOff x="9669780" y="1682495"/>
            <a:chExt cx="2221992" cy="630937"/>
          </a:xfrm>
        </p:grpSpPr>
        <p:sp>
          <p:nvSpPr>
            <p:cNvPr id="60" name="Right Arrow 59"/>
            <p:cNvSpPr/>
            <p:nvPr/>
          </p:nvSpPr>
          <p:spPr>
            <a:xfrm>
              <a:off x="9761219" y="2148840"/>
              <a:ext cx="2039112" cy="164592"/>
            </a:xfrm>
            <a:prstGeom prst="rightArrow">
              <a:avLst/>
            </a:prstGeom>
            <a:solidFill>
              <a:srgbClr val="DFD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9669780" y="1682495"/>
              <a:ext cx="2221992" cy="1231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667" b="1">
                  <a:solidFill>
                    <a:srgbClr val="5F6372"/>
                  </a:solidFill>
                  <a:latin typeface="Inter Medium"/>
                </a:rPr>
                <a:t>HANDS ON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9669780" y="1865376"/>
              <a:ext cx="2221992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The commercial position</a:t>
              </a:r>
            </a:p>
          </p:txBody>
        </p:sp>
      </p:grpSp>
      <p:grpSp>
        <p:nvGrpSpPr>
          <p:cNvPr id="77" name="agent Evaluation Agents"/>
          <p:cNvGrpSpPr/>
          <p:nvPr/>
        </p:nvGrpSpPr>
        <p:grpSpPr>
          <a:xfrm>
            <a:off x="9113520" y="1287780"/>
            <a:ext cx="2628900" cy="2659381"/>
            <a:chOff x="10936224" y="1545335"/>
            <a:chExt cx="3154680" cy="3191257"/>
          </a:xfrm>
        </p:grpSpPr>
        <p:sp>
          <p:nvSpPr>
            <p:cNvPr id="64" name="Rounded Rectangle 63"/>
            <p:cNvSpPr/>
            <p:nvPr/>
          </p:nvSpPr>
          <p:spPr>
            <a:xfrm>
              <a:off x="11827764" y="1545335"/>
              <a:ext cx="1371600" cy="1371600"/>
            </a:xfrm>
            <a:prstGeom prst="roundRect">
              <a:avLst>
                <a:gd name="adj" fmla="val 50000"/>
              </a:avLst>
            </a:prstGeom>
            <a:solidFill>
              <a:srgbClr val="FDE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1891772" y="1609343"/>
              <a:ext cx="1243584" cy="1243584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6" name="Graphic 52">
              <a:extLst>
                <a:ext uri="{FF2B5EF4-FFF2-40B4-BE49-F238E27FC236}">
                  <a16:creationId xmlns:a16="http://schemas.microsoft.com/office/drawing/2014/main" id="{D632C858-E9E5-1F4B-A56E-9E30D6E391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230100" y="1911095"/>
              <a:ext cx="566928" cy="566928"/>
            </a:xfrm>
            <a:custGeom>
              <a:avLst/>
              <a:gdLst>
                <a:gd name="connsiteX0" fmla="*/ 232093 w 431800"/>
                <a:gd name="connsiteY0" fmla="*/ 16193 h 345440"/>
                <a:gd name="connsiteX1" fmla="*/ 232093 w 431800"/>
                <a:gd name="connsiteY1" fmla="*/ 0 h 345440"/>
                <a:gd name="connsiteX2" fmla="*/ 199708 w 431800"/>
                <a:gd name="connsiteY2" fmla="*/ 0 h 345440"/>
                <a:gd name="connsiteX3" fmla="*/ 199708 w 431800"/>
                <a:gd name="connsiteY3" fmla="*/ 64770 h 345440"/>
                <a:gd name="connsiteX4" fmla="*/ 64770 w 431800"/>
                <a:gd name="connsiteY4" fmla="*/ 64770 h 345440"/>
                <a:gd name="connsiteX5" fmla="*/ 64770 w 431800"/>
                <a:gd name="connsiteY5" fmla="*/ 345440 h 345440"/>
                <a:gd name="connsiteX6" fmla="*/ 367030 w 431800"/>
                <a:gd name="connsiteY6" fmla="*/ 345440 h 345440"/>
                <a:gd name="connsiteX7" fmla="*/ 367030 w 431800"/>
                <a:gd name="connsiteY7" fmla="*/ 64770 h 345440"/>
                <a:gd name="connsiteX8" fmla="*/ 232093 w 431800"/>
                <a:gd name="connsiteY8" fmla="*/ 64770 h 345440"/>
                <a:gd name="connsiteX9" fmla="*/ 232093 w 431800"/>
                <a:gd name="connsiteY9" fmla="*/ 16193 h 345440"/>
                <a:gd name="connsiteX10" fmla="*/ 199708 w 431800"/>
                <a:gd name="connsiteY10" fmla="*/ 97155 h 345440"/>
                <a:gd name="connsiteX11" fmla="*/ 334645 w 431800"/>
                <a:gd name="connsiteY11" fmla="*/ 97155 h 345440"/>
                <a:gd name="connsiteX12" fmla="*/ 334645 w 431800"/>
                <a:gd name="connsiteY12" fmla="*/ 313055 h 345440"/>
                <a:gd name="connsiteX13" fmla="*/ 97155 w 431800"/>
                <a:gd name="connsiteY13" fmla="*/ 313055 h 345440"/>
                <a:gd name="connsiteX14" fmla="*/ 97155 w 431800"/>
                <a:gd name="connsiteY14" fmla="*/ 97155 h 345440"/>
                <a:gd name="connsiteX15" fmla="*/ 199708 w 431800"/>
                <a:gd name="connsiteY15" fmla="*/ 97155 h 345440"/>
                <a:gd name="connsiteX16" fmla="*/ 118745 w 431800"/>
                <a:gd name="connsiteY16" fmla="*/ 248285 h 345440"/>
                <a:gd name="connsiteX17" fmla="*/ 118745 w 431800"/>
                <a:gd name="connsiteY17" fmla="*/ 280670 h 345440"/>
                <a:gd name="connsiteX18" fmla="*/ 172720 w 431800"/>
                <a:gd name="connsiteY18" fmla="*/ 280670 h 345440"/>
                <a:gd name="connsiteX19" fmla="*/ 172720 w 431800"/>
                <a:gd name="connsiteY19" fmla="*/ 248285 h 345440"/>
                <a:gd name="connsiteX20" fmla="*/ 118745 w 431800"/>
                <a:gd name="connsiteY20" fmla="*/ 248285 h 345440"/>
                <a:gd name="connsiteX21" fmla="*/ 194310 w 431800"/>
                <a:gd name="connsiteY21" fmla="*/ 248285 h 345440"/>
                <a:gd name="connsiteX22" fmla="*/ 194310 w 431800"/>
                <a:gd name="connsiteY22" fmla="*/ 280670 h 345440"/>
                <a:gd name="connsiteX23" fmla="*/ 237490 w 431800"/>
                <a:gd name="connsiteY23" fmla="*/ 280670 h 345440"/>
                <a:gd name="connsiteX24" fmla="*/ 237490 w 431800"/>
                <a:gd name="connsiteY24" fmla="*/ 248285 h 345440"/>
                <a:gd name="connsiteX25" fmla="*/ 194310 w 431800"/>
                <a:gd name="connsiteY25" fmla="*/ 248285 h 345440"/>
                <a:gd name="connsiteX26" fmla="*/ 259080 w 431800"/>
                <a:gd name="connsiteY26" fmla="*/ 248285 h 345440"/>
                <a:gd name="connsiteX27" fmla="*/ 259080 w 431800"/>
                <a:gd name="connsiteY27" fmla="*/ 280670 h 345440"/>
                <a:gd name="connsiteX28" fmla="*/ 313055 w 431800"/>
                <a:gd name="connsiteY28" fmla="*/ 280670 h 345440"/>
                <a:gd name="connsiteX29" fmla="*/ 313055 w 431800"/>
                <a:gd name="connsiteY29" fmla="*/ 248285 h 345440"/>
                <a:gd name="connsiteX30" fmla="*/ 259080 w 431800"/>
                <a:gd name="connsiteY30" fmla="*/ 248285 h 345440"/>
                <a:gd name="connsiteX31" fmla="*/ 161925 w 431800"/>
                <a:gd name="connsiteY31" fmla="*/ 215900 h 345440"/>
                <a:gd name="connsiteX32" fmla="*/ 194310 w 431800"/>
                <a:gd name="connsiteY32" fmla="*/ 183515 h 345440"/>
                <a:gd name="connsiteX33" fmla="*/ 161925 w 431800"/>
                <a:gd name="connsiteY33" fmla="*/ 151130 h 345440"/>
                <a:gd name="connsiteX34" fmla="*/ 129540 w 431800"/>
                <a:gd name="connsiteY34" fmla="*/ 183515 h 345440"/>
                <a:gd name="connsiteX35" fmla="*/ 161925 w 431800"/>
                <a:gd name="connsiteY35" fmla="*/ 215900 h 345440"/>
                <a:gd name="connsiteX36" fmla="*/ 302260 w 431800"/>
                <a:gd name="connsiteY36" fmla="*/ 183515 h 345440"/>
                <a:gd name="connsiteX37" fmla="*/ 269875 w 431800"/>
                <a:gd name="connsiteY37" fmla="*/ 151130 h 345440"/>
                <a:gd name="connsiteX38" fmla="*/ 237490 w 431800"/>
                <a:gd name="connsiteY38" fmla="*/ 183515 h 345440"/>
                <a:gd name="connsiteX39" fmla="*/ 269875 w 431800"/>
                <a:gd name="connsiteY39" fmla="*/ 215900 h 345440"/>
                <a:gd name="connsiteX40" fmla="*/ 302260 w 431800"/>
                <a:gd name="connsiteY40" fmla="*/ 183515 h 345440"/>
                <a:gd name="connsiteX41" fmla="*/ 32385 w 431800"/>
                <a:gd name="connsiteY41" fmla="*/ 167323 h 345440"/>
                <a:gd name="connsiteX42" fmla="*/ 32385 w 431800"/>
                <a:gd name="connsiteY42" fmla="*/ 151130 h 345440"/>
                <a:gd name="connsiteX43" fmla="*/ 0 w 431800"/>
                <a:gd name="connsiteY43" fmla="*/ 151130 h 345440"/>
                <a:gd name="connsiteX44" fmla="*/ 0 w 431800"/>
                <a:gd name="connsiteY44" fmla="*/ 259080 h 345440"/>
                <a:gd name="connsiteX45" fmla="*/ 32385 w 431800"/>
                <a:gd name="connsiteY45" fmla="*/ 259080 h 345440"/>
                <a:gd name="connsiteX46" fmla="*/ 32385 w 431800"/>
                <a:gd name="connsiteY46" fmla="*/ 167323 h 345440"/>
                <a:gd name="connsiteX47" fmla="*/ 431800 w 431800"/>
                <a:gd name="connsiteY47" fmla="*/ 151130 h 345440"/>
                <a:gd name="connsiteX48" fmla="*/ 399415 w 431800"/>
                <a:gd name="connsiteY48" fmla="*/ 151130 h 345440"/>
                <a:gd name="connsiteX49" fmla="*/ 399415 w 431800"/>
                <a:gd name="connsiteY49" fmla="*/ 259080 h 345440"/>
                <a:gd name="connsiteX50" fmla="*/ 431800 w 431800"/>
                <a:gd name="connsiteY50" fmla="*/ 259080 h 345440"/>
                <a:gd name="connsiteX51" fmla="*/ 431800 w 431800"/>
                <a:gd name="connsiteY51" fmla="*/ 151130 h 345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31800" h="345440">
                  <a:moveTo>
                    <a:pt x="232093" y="16193"/>
                  </a:moveTo>
                  <a:lnTo>
                    <a:pt x="232093" y="0"/>
                  </a:lnTo>
                  <a:lnTo>
                    <a:pt x="199708" y="0"/>
                  </a:lnTo>
                  <a:lnTo>
                    <a:pt x="199708" y="64770"/>
                  </a:lnTo>
                  <a:lnTo>
                    <a:pt x="64770" y="64770"/>
                  </a:lnTo>
                  <a:lnTo>
                    <a:pt x="64770" y="345440"/>
                  </a:lnTo>
                  <a:lnTo>
                    <a:pt x="367030" y="345440"/>
                  </a:lnTo>
                  <a:lnTo>
                    <a:pt x="367030" y="64770"/>
                  </a:lnTo>
                  <a:lnTo>
                    <a:pt x="232093" y="64770"/>
                  </a:lnTo>
                  <a:lnTo>
                    <a:pt x="232093" y="16193"/>
                  </a:lnTo>
                  <a:close/>
                  <a:moveTo>
                    <a:pt x="199708" y="97155"/>
                  </a:moveTo>
                  <a:lnTo>
                    <a:pt x="334645" y="97155"/>
                  </a:lnTo>
                  <a:lnTo>
                    <a:pt x="334645" y="313055"/>
                  </a:lnTo>
                  <a:lnTo>
                    <a:pt x="97155" y="313055"/>
                  </a:lnTo>
                  <a:lnTo>
                    <a:pt x="97155" y="97155"/>
                  </a:lnTo>
                  <a:lnTo>
                    <a:pt x="199708" y="97155"/>
                  </a:lnTo>
                  <a:close/>
                  <a:moveTo>
                    <a:pt x="118745" y="248285"/>
                  </a:moveTo>
                  <a:lnTo>
                    <a:pt x="118745" y="280670"/>
                  </a:lnTo>
                  <a:lnTo>
                    <a:pt x="172720" y="280670"/>
                  </a:lnTo>
                  <a:lnTo>
                    <a:pt x="172720" y="248285"/>
                  </a:lnTo>
                  <a:lnTo>
                    <a:pt x="118745" y="248285"/>
                  </a:lnTo>
                  <a:close/>
                  <a:moveTo>
                    <a:pt x="194310" y="248285"/>
                  </a:moveTo>
                  <a:lnTo>
                    <a:pt x="194310" y="280670"/>
                  </a:lnTo>
                  <a:lnTo>
                    <a:pt x="237490" y="280670"/>
                  </a:lnTo>
                  <a:lnTo>
                    <a:pt x="237490" y="248285"/>
                  </a:lnTo>
                  <a:lnTo>
                    <a:pt x="194310" y="248285"/>
                  </a:lnTo>
                  <a:close/>
                  <a:moveTo>
                    <a:pt x="259080" y="248285"/>
                  </a:moveTo>
                  <a:lnTo>
                    <a:pt x="259080" y="280670"/>
                  </a:lnTo>
                  <a:lnTo>
                    <a:pt x="313055" y="280670"/>
                  </a:lnTo>
                  <a:lnTo>
                    <a:pt x="313055" y="248285"/>
                  </a:lnTo>
                  <a:lnTo>
                    <a:pt x="259080" y="248285"/>
                  </a:lnTo>
                  <a:close/>
                  <a:moveTo>
                    <a:pt x="161925" y="215900"/>
                  </a:moveTo>
                  <a:cubicBezTo>
                    <a:pt x="179811" y="215900"/>
                    <a:pt x="194310" y="201401"/>
                    <a:pt x="194310" y="183515"/>
                  </a:cubicBezTo>
                  <a:cubicBezTo>
                    <a:pt x="194310" y="165629"/>
                    <a:pt x="179811" y="151130"/>
                    <a:pt x="161925" y="151130"/>
                  </a:cubicBezTo>
                  <a:cubicBezTo>
                    <a:pt x="144039" y="151130"/>
                    <a:pt x="129540" y="165629"/>
                    <a:pt x="129540" y="183515"/>
                  </a:cubicBezTo>
                  <a:cubicBezTo>
                    <a:pt x="129540" y="201401"/>
                    <a:pt x="144039" y="215900"/>
                    <a:pt x="161925" y="215900"/>
                  </a:cubicBezTo>
                  <a:close/>
                  <a:moveTo>
                    <a:pt x="302260" y="183515"/>
                  </a:moveTo>
                  <a:cubicBezTo>
                    <a:pt x="302260" y="165629"/>
                    <a:pt x="287761" y="151130"/>
                    <a:pt x="269875" y="151130"/>
                  </a:cubicBezTo>
                  <a:cubicBezTo>
                    <a:pt x="251989" y="151130"/>
                    <a:pt x="237490" y="165629"/>
                    <a:pt x="237490" y="183515"/>
                  </a:cubicBezTo>
                  <a:cubicBezTo>
                    <a:pt x="237490" y="201401"/>
                    <a:pt x="251989" y="215900"/>
                    <a:pt x="269875" y="215900"/>
                  </a:cubicBezTo>
                  <a:cubicBezTo>
                    <a:pt x="287761" y="215900"/>
                    <a:pt x="302260" y="201401"/>
                    <a:pt x="302260" y="183515"/>
                  </a:cubicBezTo>
                  <a:close/>
                  <a:moveTo>
                    <a:pt x="32385" y="167323"/>
                  </a:moveTo>
                  <a:lnTo>
                    <a:pt x="32385" y="151130"/>
                  </a:lnTo>
                  <a:lnTo>
                    <a:pt x="0" y="151130"/>
                  </a:lnTo>
                  <a:lnTo>
                    <a:pt x="0" y="259080"/>
                  </a:lnTo>
                  <a:lnTo>
                    <a:pt x="32385" y="259080"/>
                  </a:lnTo>
                  <a:lnTo>
                    <a:pt x="32385" y="167323"/>
                  </a:lnTo>
                  <a:close/>
                  <a:moveTo>
                    <a:pt x="431800" y="151130"/>
                  </a:moveTo>
                  <a:lnTo>
                    <a:pt x="399415" y="151130"/>
                  </a:lnTo>
                  <a:lnTo>
                    <a:pt x="399415" y="259080"/>
                  </a:lnTo>
                  <a:lnTo>
                    <a:pt x="431800" y="259080"/>
                  </a:lnTo>
                  <a:lnTo>
                    <a:pt x="431800" y="151130"/>
                  </a:lnTo>
                  <a:close/>
                </a:path>
              </a:pathLst>
            </a:custGeom>
            <a:solidFill>
              <a:srgbClr val="FFFFFF"/>
            </a:solidFill>
            <a:ln w="670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sz="1500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2842748" y="2578608"/>
              <a:ext cx="384048" cy="237744"/>
            </a:xfrm>
            <a:prstGeom prst="roundRect">
              <a:avLst>
                <a:gd name="adj" fmla="val 3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2842748" y="2620573"/>
              <a:ext cx="384048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E86C1F"/>
                  </a:solidFill>
                  <a:latin typeface="Inter Medium"/>
                </a:rPr>
                <a:t>08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0936224" y="3035808"/>
              <a:ext cx="3154680" cy="1700784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064240" y="3108960"/>
              <a:ext cx="2898648" cy="185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2000"/>
                </a:lnSpc>
                <a:spcAft>
                  <a:spcPts val="167"/>
                </a:spcAft>
              </a:pPr>
              <a:r>
                <a:rPr sz="1042" b="1">
                  <a:solidFill>
                    <a:srgbClr val="E86C1F"/>
                  </a:solidFill>
                  <a:latin typeface="Inter Medium"/>
                </a:rPr>
                <a:t>Evaluation Agents</a:t>
              </a:r>
            </a:p>
          </p:txBody>
        </p:sp>
        <p:cxnSp>
          <p:nvCxnSpPr>
            <p:cNvPr id="70" name="Connector 69"/>
            <p:cNvCxnSpPr/>
            <p:nvPr/>
          </p:nvCxnSpPr>
          <p:spPr>
            <a:xfrm>
              <a:off x="11210544" y="3547872"/>
              <a:ext cx="260604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ounded Rectangle 70"/>
            <p:cNvSpPr/>
            <p:nvPr/>
          </p:nvSpPr>
          <p:spPr>
            <a:xfrm>
              <a:off x="11137392" y="372160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1283696" y="3694193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Tests forecast against outturn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1137392" y="4069080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283696" y="4041665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Raises the early warnings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1137392" y="4416552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283696" y="4389137"/>
              <a:ext cx="2606040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>
                  <a:solidFill>
                    <a:srgbClr val="2B2E3B"/>
                  </a:solidFill>
                  <a:latin typeface="Inter Light"/>
                </a:rPr>
                <a:t>Publishes the oversight pack</a:t>
              </a:r>
            </a:p>
          </p:txBody>
        </p:sp>
      </p:grpSp>
      <p:grpSp>
        <p:nvGrpSpPr>
          <p:cNvPr id="82" name="human"/>
          <p:cNvGrpSpPr/>
          <p:nvPr/>
        </p:nvGrpSpPr>
        <p:grpSpPr>
          <a:xfrm>
            <a:off x="320040" y="4084320"/>
            <a:ext cx="11551920" cy="533400"/>
            <a:chOff x="384048" y="4901184"/>
            <a:chExt cx="13862304" cy="640080"/>
          </a:xfrm>
        </p:grpSpPr>
        <p:sp>
          <p:nvSpPr>
            <p:cNvPr id="78" name="Rounded Rectangle 77"/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5875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530352" y="5010912"/>
              <a:ext cx="2157984" cy="256032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30352" y="5065793"/>
              <a:ext cx="2157984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92" b="1">
                  <a:solidFill>
                    <a:srgbClr val="FFFFFF"/>
                  </a:solidFill>
                  <a:latin typeface="Inter Medium"/>
                </a:rPr>
                <a:t>WHERE PEOPLE DECIDE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sz="875">
                  <a:solidFill>
                    <a:srgbClr val="2B2E3B"/>
                  </a:solidFill>
                  <a:latin typeface="Inter Light"/>
                </a:rPr>
                <a:t>The project board decides on intervention. The service raises the warning and shows the evidence; the commercial decision stays with TI Corp.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0040" y="4724400"/>
            <a:ext cx="4572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5F6372"/>
                </a:solidFill>
                <a:latin typeface="Inter Medium"/>
              </a:rPr>
              <a:t>WHAT TI CORP GETS</a:t>
            </a:r>
          </a:p>
        </p:txBody>
      </p:sp>
      <p:grpSp>
        <p:nvGrpSpPr>
          <p:cNvPr id="86" name="outcome"/>
          <p:cNvGrpSpPr/>
          <p:nvPr/>
        </p:nvGrpSpPr>
        <p:grpSpPr>
          <a:xfrm>
            <a:off x="320040" y="4907280"/>
            <a:ext cx="2796540" cy="472440"/>
            <a:chOff x="384048" y="5888736"/>
            <a:chExt cx="3355848" cy="566928"/>
          </a:xfrm>
        </p:grpSpPr>
        <p:sp>
          <p:nvSpPr>
            <p:cNvPr id="84" name="Rounded Rectangle 83"/>
            <p:cNvSpPr/>
            <p:nvPr/>
          </p:nvSpPr>
          <p:spPr>
            <a:xfrm>
              <a:off x="384048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30352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Position and target consumed</a:t>
              </a:r>
            </a:p>
          </p:txBody>
        </p:sp>
      </p:grpSp>
      <p:grpSp>
        <p:nvGrpSpPr>
          <p:cNvPr id="89" name="outcome"/>
          <p:cNvGrpSpPr/>
          <p:nvPr/>
        </p:nvGrpSpPr>
        <p:grpSpPr>
          <a:xfrm>
            <a:off x="3238500" y="4907280"/>
            <a:ext cx="2796540" cy="472440"/>
            <a:chOff x="3886200" y="5888736"/>
            <a:chExt cx="3355848" cy="566928"/>
          </a:xfrm>
        </p:grpSpPr>
        <p:sp>
          <p:nvSpPr>
            <p:cNvPr id="87" name="Rounded Rectangle 86"/>
            <p:cNvSpPr/>
            <p:nvPr/>
          </p:nvSpPr>
          <p:spPr>
            <a:xfrm>
              <a:off x="3886200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032504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Variance, trend and forecast</a:t>
              </a:r>
            </a:p>
          </p:txBody>
        </p:sp>
      </p:grpSp>
      <p:grpSp>
        <p:nvGrpSpPr>
          <p:cNvPr id="92" name="outcome"/>
          <p:cNvGrpSpPr/>
          <p:nvPr/>
        </p:nvGrpSpPr>
        <p:grpSpPr>
          <a:xfrm>
            <a:off x="6156960" y="4907280"/>
            <a:ext cx="2796540" cy="472440"/>
            <a:chOff x="7388352" y="5888736"/>
            <a:chExt cx="3355848" cy="566928"/>
          </a:xfrm>
        </p:grpSpPr>
        <p:sp>
          <p:nvSpPr>
            <p:cNvPr id="90" name="Rounded Rectangle 89"/>
            <p:cNvSpPr/>
            <p:nvPr/>
          </p:nvSpPr>
          <p:spPr>
            <a:xfrm>
              <a:off x="7388352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534656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Exposure and contingency register</a:t>
              </a:r>
            </a:p>
          </p:txBody>
        </p:sp>
      </p:grpSp>
      <p:grpSp>
        <p:nvGrpSpPr>
          <p:cNvPr id="95" name="outcome"/>
          <p:cNvGrpSpPr/>
          <p:nvPr/>
        </p:nvGrpSpPr>
        <p:grpSpPr>
          <a:xfrm>
            <a:off x="9075420" y="4907280"/>
            <a:ext cx="2796540" cy="472440"/>
            <a:chOff x="10890504" y="5888736"/>
            <a:chExt cx="3355848" cy="566928"/>
          </a:xfrm>
        </p:grpSpPr>
        <p:sp>
          <p:nvSpPr>
            <p:cNvPr id="93" name="Rounded Rectangle 92"/>
            <p:cNvSpPr/>
            <p:nvPr/>
          </p:nvSpPr>
          <p:spPr>
            <a:xfrm>
              <a:off x="10890504" y="5888736"/>
              <a:ext cx="3355848" cy="566928"/>
            </a:xfrm>
            <a:prstGeom prst="roundRect">
              <a:avLst>
                <a:gd name="adj" fmla="val 4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1036808" y="6095678"/>
              <a:ext cx="3063240" cy="15304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Pain and gain share position</a:t>
              </a:r>
            </a:p>
          </p:txBody>
        </p:sp>
      </p:grpSp>
      <p:grpSp>
        <p:nvGrpSpPr>
          <p:cNvPr id="2" name="human">
            <a:extLst>
              <a:ext uri="{FF2B5EF4-FFF2-40B4-BE49-F238E27FC236}">
                <a16:creationId xmlns:a16="http://schemas.microsoft.com/office/drawing/2014/main" id="{EDC75544-32B5-DDB8-B251-F4B3C1125626}"/>
              </a:ext>
            </a:extLst>
          </p:cNvPr>
          <p:cNvGrpSpPr/>
          <p:nvPr/>
        </p:nvGrpSpPr>
        <p:grpSpPr>
          <a:xfrm>
            <a:off x="320040" y="5634199"/>
            <a:ext cx="11551920" cy="533400"/>
            <a:chOff x="384048" y="4901184"/>
            <a:chExt cx="13862304" cy="640080"/>
          </a:xfrm>
        </p:grpSpPr>
        <p:sp>
          <p:nvSpPr>
            <p:cNvPr id="103" name="Rounded Rectangle 77">
              <a:extLst>
                <a:ext uri="{FF2B5EF4-FFF2-40B4-BE49-F238E27FC236}">
                  <a16:creationId xmlns:a16="http://schemas.microsoft.com/office/drawing/2014/main" id="{EF03ED15-FA39-D94B-A8AF-EC3C4578782F}"/>
                </a:ext>
              </a:extLst>
            </p:cNvPr>
            <p:cNvSpPr/>
            <p:nvPr/>
          </p:nvSpPr>
          <p:spPr>
            <a:xfrm>
              <a:off x="384048" y="4901184"/>
              <a:ext cx="13862304" cy="640080"/>
            </a:xfrm>
            <a:prstGeom prst="roundRect">
              <a:avLst>
                <a:gd name="adj" fmla="val 4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1098001-50EA-EB42-5A8E-637886AD704C}"/>
                </a:ext>
              </a:extLst>
            </p:cNvPr>
            <p:cNvSpPr txBox="1"/>
            <p:nvPr/>
          </p:nvSpPr>
          <p:spPr>
            <a:xfrm>
              <a:off x="2871216" y="5139662"/>
              <a:ext cx="11192256" cy="1631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8000"/>
                </a:lnSpc>
                <a:spcAft>
                  <a:spcPts val="167"/>
                </a:spcAft>
              </a:pPr>
              <a:r>
                <a:rPr lang="en-IN" sz="875">
                  <a:solidFill>
                    <a:srgbClr val="2B2E3B"/>
                  </a:solidFill>
                  <a:latin typeface="Inter Light"/>
                </a:rPr>
                <a:t>Ai augmented response summary would be generated for all the verification and exception captured at Exception Logs for UI to render human readable details</a:t>
              </a:r>
              <a:endParaRPr sz="875">
                <a:solidFill>
                  <a:srgbClr val="2B2E3B"/>
                </a:solidFill>
                <a:latin typeface="Inter Light"/>
              </a:endParaRPr>
            </a:p>
          </p:txBody>
        </p:sp>
      </p:grp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D41E23D-0B71-66CC-0603-C6ABB56CBDB2}"/>
              </a:ext>
            </a:extLst>
          </p:cNvPr>
          <p:cNvSpPr/>
          <p:nvPr/>
        </p:nvSpPr>
        <p:spPr>
          <a:xfrm>
            <a:off x="577970" y="5788325"/>
            <a:ext cx="1526875" cy="24153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Inter Medium"/>
              </a:rPr>
              <a:t>AI Augmented  - Human readable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sz="2083">
                <a:solidFill>
                  <a:srgbClr val="0E1020"/>
                </a:solidFill>
              </a:rPr>
              <a:t>Exception &amp; Flagging HITL operating model</a:t>
            </a:r>
            <a:endParaRPr sz="2083">
              <a:solidFill>
                <a:srgbClr val="0E102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1219200"/>
            <a:ext cx="304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004AAC"/>
                </a:solidFill>
                <a:latin typeface="Inter Medium"/>
              </a:rPr>
              <a:t>THREE THINGS RAISE AN EXCEPTION</a:t>
            </a:r>
          </a:p>
        </p:txBody>
      </p:sp>
      <p:grpSp>
        <p:nvGrpSpPr>
          <p:cNvPr id="10" name="src Rule breach"/>
          <p:cNvGrpSpPr/>
          <p:nvPr/>
        </p:nvGrpSpPr>
        <p:grpSpPr>
          <a:xfrm>
            <a:off x="320040" y="1402080"/>
            <a:ext cx="3769360" cy="563880"/>
            <a:chOff x="384048" y="1682496"/>
            <a:chExt cx="4523232" cy="676656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1682496"/>
              <a:ext cx="4523232" cy="67665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84048" y="1682496"/>
              <a:ext cx="64008" cy="676656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66928" y="1746504"/>
              <a:ext cx="1737360" cy="1693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C0272D"/>
                  </a:solidFill>
                  <a:latin typeface="Inter Medium"/>
                </a:rPr>
                <a:t>Rule breach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6928" y="1956816"/>
              <a:ext cx="4157471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 rule evaluated false — the line contradicts a contract term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04160" y="1746504"/>
              <a:ext cx="192024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Blocks certification</a:t>
              </a:r>
            </a:p>
          </p:txBody>
        </p:sp>
      </p:grpSp>
      <p:grpSp>
        <p:nvGrpSpPr>
          <p:cNvPr id="16" name="src Low confidence"/>
          <p:cNvGrpSpPr/>
          <p:nvPr/>
        </p:nvGrpSpPr>
        <p:grpSpPr>
          <a:xfrm>
            <a:off x="4211320" y="1402080"/>
            <a:ext cx="3769360" cy="563880"/>
            <a:chOff x="5053584" y="1682496"/>
            <a:chExt cx="4523232" cy="676656"/>
          </a:xfrm>
        </p:grpSpPr>
        <p:sp>
          <p:nvSpPr>
            <p:cNvPr id="11" name="Rounded Rectangle 10"/>
            <p:cNvSpPr/>
            <p:nvPr/>
          </p:nvSpPr>
          <p:spPr>
            <a:xfrm>
              <a:off x="5053584" y="1682496"/>
              <a:ext cx="4523232" cy="67665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053584" y="1682496"/>
              <a:ext cx="64008" cy="676656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36464" y="1746504"/>
              <a:ext cx="1737360" cy="1693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E86C1F"/>
                  </a:solidFill>
                  <a:latin typeface="Inter Medium"/>
                </a:rPr>
                <a:t>Low confidence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36464" y="1956816"/>
              <a:ext cx="4157471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 field was extracted below threshold, or is missing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3695" y="1746504"/>
              <a:ext cx="192024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Person confirms, rules re-run</a:t>
              </a:r>
            </a:p>
          </p:txBody>
        </p:sp>
      </p:grpSp>
      <p:grpSp>
        <p:nvGrpSpPr>
          <p:cNvPr id="22" name="src Anomaly"/>
          <p:cNvGrpSpPr/>
          <p:nvPr/>
        </p:nvGrpSpPr>
        <p:grpSpPr>
          <a:xfrm>
            <a:off x="8102600" y="1402080"/>
            <a:ext cx="3769360" cy="563880"/>
            <a:chOff x="9723120" y="1682496"/>
            <a:chExt cx="4523232" cy="676656"/>
          </a:xfrm>
        </p:grpSpPr>
        <p:sp>
          <p:nvSpPr>
            <p:cNvPr id="17" name="Rounded Rectangle 16"/>
            <p:cNvSpPr/>
            <p:nvPr/>
          </p:nvSpPr>
          <p:spPr>
            <a:xfrm>
              <a:off x="9723120" y="1682496"/>
              <a:ext cx="4523232" cy="67665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723120" y="1682496"/>
              <a:ext cx="64008" cy="676656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905999" y="1746504"/>
              <a:ext cx="1737360" cy="1693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917" b="1">
                  <a:solidFill>
                    <a:srgbClr val="7A4A2B"/>
                  </a:solidFill>
                  <a:latin typeface="Inter Medium"/>
                </a:rPr>
                <a:t>Anomaly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905999" y="1956816"/>
              <a:ext cx="4157471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Passed every rule but is an outlier against history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2143231" y="1746504"/>
              <a:ext cx="192024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Advisory only — never blocks</a:t>
              </a:r>
            </a:p>
          </p:txBody>
        </p:sp>
      </p:grpSp>
      <p:grpSp>
        <p:nvGrpSpPr>
          <p:cNvPr id="35" name="stage The agent flags"/>
          <p:cNvGrpSpPr/>
          <p:nvPr/>
        </p:nvGrpSpPr>
        <p:grpSpPr>
          <a:xfrm>
            <a:off x="320040" y="2042160"/>
            <a:ext cx="2647950" cy="1828800"/>
            <a:chOff x="384048" y="2450592"/>
            <a:chExt cx="3177540" cy="2194560"/>
          </a:xfrm>
        </p:grpSpPr>
        <p:sp>
          <p:nvSpPr>
            <p:cNvPr id="23" name="Rounded Rectangle 22"/>
            <p:cNvSpPr/>
            <p:nvPr/>
          </p:nvSpPr>
          <p:spPr>
            <a:xfrm>
              <a:off x="384048" y="2450592"/>
              <a:ext cx="3177540" cy="21945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84048" y="2450592"/>
              <a:ext cx="3177540" cy="73152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66928" y="2633472"/>
              <a:ext cx="292608" cy="237744"/>
            </a:xfrm>
            <a:prstGeom prst="roundRect">
              <a:avLst>
                <a:gd name="adj" fmla="val 3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6928" y="2683094"/>
              <a:ext cx="292608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01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32688" y="2615184"/>
              <a:ext cx="2446020" cy="199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83" b="1">
                  <a:solidFill>
                    <a:srgbClr val="0E1020"/>
                  </a:solidFill>
                  <a:latin typeface="Inter"/>
                </a:rPr>
                <a:t>The agent flags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85216" y="3031236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9808" y="2980944"/>
              <a:ext cx="2628900" cy="146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 rule evaluates false against a </a:t>
              </a:r>
              <a:r>
                <a:rPr lang="en-IN" sz="750">
                  <a:solidFill>
                    <a:srgbClr val="2B2E3B"/>
                  </a:solidFill>
                  <a:latin typeface="Inter Light"/>
                </a:rPr>
                <a:t>Invoice</a:t>
              </a:r>
              <a:r>
                <a:rPr sz="750">
                  <a:solidFill>
                    <a:srgbClr val="2B2E3B"/>
                  </a:solidFill>
                  <a:latin typeface="Inter Light"/>
                </a:rPr>
                <a:t> line.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85216" y="3429000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49808" y="3378708"/>
              <a:ext cx="2628900" cy="4618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An exception record is created — not a flag — carrying the rule, its version, the arithmetic and the clause.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585216" y="4087368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49808" y="4037076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The agent drafts a narrative, marked as generated.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5216" y="4389120"/>
              <a:ext cx="277520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004AAC"/>
                  </a:solidFill>
                  <a:latin typeface="Inter Medium"/>
                </a:rPr>
                <a:t>Durable Functions · rules in code</a:t>
              </a:r>
            </a:p>
          </p:txBody>
        </p:sp>
      </p:grpSp>
      <p:sp>
        <p:nvSpPr>
          <p:cNvPr id="36" name="Right Arrow 35"/>
          <p:cNvSpPr/>
          <p:nvPr/>
        </p:nvSpPr>
        <p:spPr>
          <a:xfrm>
            <a:off x="3036570" y="2887980"/>
            <a:ext cx="182880" cy="137160"/>
          </a:xfrm>
          <a:prstGeom prst="rightArrow">
            <a:avLst/>
          </a:prstGeom>
          <a:solidFill>
            <a:srgbClr val="D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49" name="stage It is stored twice"/>
          <p:cNvGrpSpPr/>
          <p:nvPr/>
        </p:nvGrpSpPr>
        <p:grpSpPr>
          <a:xfrm>
            <a:off x="3288030" y="2042160"/>
            <a:ext cx="2647950" cy="1828800"/>
            <a:chOff x="3945636" y="2450592"/>
            <a:chExt cx="3177540" cy="2194560"/>
          </a:xfrm>
        </p:grpSpPr>
        <p:sp>
          <p:nvSpPr>
            <p:cNvPr id="37" name="Rounded Rectangle 36"/>
            <p:cNvSpPr/>
            <p:nvPr/>
          </p:nvSpPr>
          <p:spPr>
            <a:xfrm>
              <a:off x="3945636" y="2450592"/>
              <a:ext cx="3177540" cy="21945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945636" y="2450592"/>
              <a:ext cx="3177540" cy="73152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128516" y="2633472"/>
              <a:ext cx="292608" cy="237744"/>
            </a:xfrm>
            <a:prstGeom prst="roundRect">
              <a:avLst>
                <a:gd name="adj" fmla="val 3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128516" y="2683094"/>
              <a:ext cx="292608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02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494276" y="2615184"/>
              <a:ext cx="2446020" cy="199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83" b="1">
                  <a:solidFill>
                    <a:srgbClr val="0E1020"/>
                  </a:solidFill>
                  <a:latin typeface="Inter"/>
                </a:rPr>
                <a:t>It is stored </a:t>
              </a:r>
              <a:r>
                <a:rPr lang="en-IN" sz="1083" b="1">
                  <a:solidFill>
                    <a:srgbClr val="0E1020"/>
                  </a:solidFill>
                  <a:latin typeface="Inter"/>
                </a:rPr>
                <a:t>and preserved</a:t>
              </a:r>
              <a:endParaRPr sz="1083" b="1">
                <a:solidFill>
                  <a:srgbClr val="0E1020"/>
                </a:solidFill>
                <a:latin typeface="Inter"/>
              </a:endParaRP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146804" y="3031236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311396" y="2980944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Operational data to Azure SQL for the workbench to query and join.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4146804" y="3429000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311396" y="3378708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The same records to a </a:t>
              </a:r>
              <a:r>
                <a:rPr lang="en-IN" sz="750" err="1">
                  <a:solidFill>
                    <a:srgbClr val="2B2E3B"/>
                  </a:solidFill>
                  <a:latin typeface="Inter Light"/>
                </a:rPr>
                <a:t>Invoicne</a:t>
              </a:r>
              <a:r>
                <a:rPr sz="750">
                  <a:solidFill>
                    <a:srgbClr val="2B2E3B"/>
                  </a:solidFill>
                  <a:latin typeface="Inter Light"/>
                </a:rPr>
                <a:t> ledger — insert only, never update or delete.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4146804" y="3957065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311396" y="3906774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Every rule result kept, including the ones that passed.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146804" y="4389120"/>
              <a:ext cx="277520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0E1020"/>
                  </a:solidFill>
                  <a:latin typeface="Inter Medium"/>
                </a:rPr>
                <a:t>Azure SQL  +  append-only ledger</a:t>
              </a:r>
            </a:p>
          </p:txBody>
        </p:sp>
      </p:grpSp>
      <p:sp>
        <p:nvSpPr>
          <p:cNvPr id="50" name="Right Arrow 49"/>
          <p:cNvSpPr/>
          <p:nvPr/>
        </p:nvSpPr>
        <p:spPr>
          <a:xfrm>
            <a:off x="6004560" y="2887980"/>
            <a:ext cx="182880" cy="137160"/>
          </a:xfrm>
          <a:prstGeom prst="rightArrow">
            <a:avLst/>
          </a:prstGeom>
          <a:solidFill>
            <a:srgbClr val="D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61" name="stage It reaches the queue"/>
          <p:cNvGrpSpPr/>
          <p:nvPr/>
        </p:nvGrpSpPr>
        <p:grpSpPr>
          <a:xfrm>
            <a:off x="6256020" y="2042160"/>
            <a:ext cx="2647950" cy="1828800"/>
            <a:chOff x="7507224" y="2450592"/>
            <a:chExt cx="3177540" cy="2194560"/>
          </a:xfrm>
        </p:grpSpPr>
        <p:sp>
          <p:nvSpPr>
            <p:cNvPr id="51" name="Rounded Rectangle 50"/>
            <p:cNvSpPr/>
            <p:nvPr/>
          </p:nvSpPr>
          <p:spPr>
            <a:xfrm>
              <a:off x="7507224" y="2450592"/>
              <a:ext cx="3177540" cy="21945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7507224" y="2450592"/>
              <a:ext cx="3177540" cy="73152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690104" y="2633472"/>
              <a:ext cx="292608" cy="237744"/>
            </a:xfrm>
            <a:prstGeom prst="roundRect">
              <a:avLst>
                <a:gd name="adj" fmla="val 3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690104" y="2683094"/>
              <a:ext cx="292608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03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055864" y="2615184"/>
              <a:ext cx="2446020" cy="199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83" b="1">
                  <a:solidFill>
                    <a:srgbClr val="0E1020"/>
                  </a:solidFill>
                  <a:latin typeface="Inter"/>
                </a:rPr>
                <a:t>It reaches the queue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7708392" y="3031236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872984" y="2980944"/>
              <a:ext cx="2628900" cy="46181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An event puts it on the queue, pre-projected with value at risk and ageing so the list opens instantly.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7708392" y="3689604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872984" y="3639312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The API resolves entitlements server-side — only the contracts this reviewer may see.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708392" y="4389120"/>
              <a:ext cx="277520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7A4A2B"/>
                  </a:solidFill>
                  <a:latin typeface="Inter Medium"/>
                </a:rPr>
                <a:t>Service Bus · App Service</a:t>
              </a:r>
            </a:p>
          </p:txBody>
        </p:sp>
      </p:grpSp>
      <p:sp>
        <p:nvSpPr>
          <p:cNvPr id="62" name="Right Arrow 61"/>
          <p:cNvSpPr/>
          <p:nvPr/>
        </p:nvSpPr>
        <p:spPr>
          <a:xfrm>
            <a:off x="8972550" y="2887980"/>
            <a:ext cx="182880" cy="137160"/>
          </a:xfrm>
          <a:prstGeom prst="rightArrow">
            <a:avLst/>
          </a:prstGeom>
          <a:solidFill>
            <a:srgbClr val="DFD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grpSp>
        <p:nvGrpSpPr>
          <p:cNvPr id="75" name="stage A person decides"/>
          <p:cNvGrpSpPr/>
          <p:nvPr/>
        </p:nvGrpSpPr>
        <p:grpSpPr>
          <a:xfrm>
            <a:off x="9224010" y="2042160"/>
            <a:ext cx="2647950" cy="1828800"/>
            <a:chOff x="11068812" y="2450592"/>
            <a:chExt cx="3177540" cy="2194560"/>
          </a:xfrm>
        </p:grpSpPr>
        <p:sp>
          <p:nvSpPr>
            <p:cNvPr id="63" name="Rounded Rectangle 62"/>
            <p:cNvSpPr/>
            <p:nvPr/>
          </p:nvSpPr>
          <p:spPr>
            <a:xfrm>
              <a:off x="11068812" y="2450592"/>
              <a:ext cx="3177540" cy="219456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1068812" y="2450592"/>
              <a:ext cx="3177540" cy="73152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1251692" y="2633472"/>
              <a:ext cx="292608" cy="237744"/>
            </a:xfrm>
            <a:prstGeom prst="roundRect">
              <a:avLst>
                <a:gd name="adj" fmla="val 3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251692" y="2683094"/>
              <a:ext cx="292608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04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17452" y="2615184"/>
              <a:ext cx="2446020" cy="199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83" b="1">
                  <a:solidFill>
                    <a:srgbClr val="0E1020"/>
                  </a:solidFill>
                  <a:latin typeface="Inter"/>
                </a:rPr>
                <a:t>A person decides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11269980" y="3031236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434572" y="2980944"/>
              <a:ext cx="2628900" cy="146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Uphold, dismiss, return or escalate.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1269980" y="3429000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434572" y="3378708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Each action writes its own audit row with actor, reason and timestamp.</a:t>
              </a:r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11269980" y="3957065"/>
              <a:ext cx="73152" cy="73152"/>
            </a:xfrm>
            <a:prstGeom prst="roundRect">
              <a:avLst>
                <a:gd name="adj" fmla="val 2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1434572" y="3906774"/>
              <a:ext cx="2628900" cy="3039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4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The decision flows to the certified position and the payment file.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269980" y="4389120"/>
              <a:ext cx="277520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Decision · ledger · payment file</a:t>
              </a:r>
            </a:p>
          </p:txBody>
        </p:sp>
      </p:grpSp>
      <p:sp>
        <p:nvSpPr>
          <p:cNvPr id="76" name="Rounded Rectangle 75"/>
          <p:cNvSpPr/>
          <p:nvPr/>
        </p:nvSpPr>
        <p:spPr>
          <a:xfrm>
            <a:off x="320040" y="3947160"/>
            <a:ext cx="11551920" cy="1082040"/>
          </a:xfrm>
          <a:prstGeom prst="roundRect">
            <a:avLst>
              <a:gd name="adj" fmla="val 4000"/>
            </a:avLst>
          </a:prstGeom>
          <a:solidFill>
            <a:srgbClr val="0E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7" name="TextBox 76"/>
          <p:cNvSpPr txBox="1"/>
          <p:nvPr/>
        </p:nvSpPr>
        <p:spPr>
          <a:xfrm>
            <a:off x="502919" y="4038600"/>
            <a:ext cx="304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E86C1F"/>
                </a:solidFill>
                <a:latin typeface="Inter Medium"/>
              </a:rPr>
              <a:t>WHAT IS WRITTEN, AND WHERE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19" y="4221480"/>
            <a:ext cx="1981200" cy="267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  <a:spcAft>
                <a:spcPts val="167"/>
              </a:spcAft>
            </a:pPr>
            <a:r>
              <a:rPr sz="833" b="1">
                <a:solidFill>
                  <a:srgbClr val="FFFFFF"/>
                </a:solidFill>
                <a:latin typeface="Inter Medium"/>
              </a:rPr>
              <a:t>The store the application can edit is not the store of record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682240" y="4038600"/>
            <a:ext cx="2900680" cy="89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0" name="Rounded Rectangle 79"/>
          <p:cNvSpPr/>
          <p:nvPr/>
        </p:nvSpPr>
        <p:spPr>
          <a:xfrm>
            <a:off x="2682240" y="4038600"/>
            <a:ext cx="2900680" cy="45720"/>
          </a:xfrm>
          <a:prstGeom prst="roundRect">
            <a:avLst>
              <a:gd name="adj" fmla="val 50000"/>
            </a:avLst>
          </a:prstGeom>
          <a:solidFill>
            <a:srgbClr val="004A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1" name="TextBox 80"/>
          <p:cNvSpPr txBox="1"/>
          <p:nvPr/>
        </p:nvSpPr>
        <p:spPr>
          <a:xfrm>
            <a:off x="2788921" y="4130041"/>
            <a:ext cx="2687319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004AAC"/>
                </a:solidFill>
                <a:latin typeface="Inter Medium"/>
              </a:rPr>
              <a:t>OPERATIONAL</a:t>
            </a:r>
            <a:r>
              <a:rPr lang="en-IN" sz="708" b="1">
                <a:solidFill>
                  <a:srgbClr val="004AAC"/>
                </a:solidFill>
                <a:latin typeface="Inter Medium"/>
              </a:rPr>
              <a:t> Validation</a:t>
            </a:r>
            <a:endParaRPr sz="708" b="1">
              <a:solidFill>
                <a:srgbClr val="004AAC"/>
              </a:solidFill>
              <a:latin typeface="Inter Medium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788921" y="4297680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</a:t>
            </a:r>
            <a:r>
              <a:rPr lang="en-IN" sz="750">
                <a:solidFill>
                  <a:srgbClr val="2B2E3B"/>
                </a:solidFill>
                <a:latin typeface="Inter Light"/>
              </a:rPr>
              <a:t>Invoice</a:t>
            </a:r>
            <a:r>
              <a:rPr sz="750">
                <a:solidFill>
                  <a:srgbClr val="2B2E3B"/>
                </a:solidFill>
                <a:latin typeface="Inter Light"/>
              </a:rPr>
              <a:t>_line — the grain of the solution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88921" y="443483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rule_result — every rule, pass and fail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8921" y="457199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exception — type, severity, value, status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88921" y="470915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exception_evidence — clause, docket, GL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735320" y="4038600"/>
            <a:ext cx="2900680" cy="89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7" name="Rounded Rectangle 86"/>
          <p:cNvSpPr/>
          <p:nvPr/>
        </p:nvSpPr>
        <p:spPr>
          <a:xfrm>
            <a:off x="5735320" y="4038600"/>
            <a:ext cx="2900680" cy="45720"/>
          </a:xfrm>
          <a:prstGeom prst="roundRect">
            <a:avLst>
              <a:gd name="adj" fmla="val 50000"/>
            </a:avLst>
          </a:prstGeom>
          <a:solidFill>
            <a:srgbClr val="E8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88" name="TextBox 87"/>
          <p:cNvSpPr txBox="1"/>
          <p:nvPr/>
        </p:nvSpPr>
        <p:spPr>
          <a:xfrm>
            <a:off x="5842001" y="4130041"/>
            <a:ext cx="2687319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E86C1F"/>
                </a:solidFill>
                <a:latin typeface="Inter Medium"/>
              </a:rPr>
              <a:t>DECISION TRAIL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42001" y="4297680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exception_action — append-only, every act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42001" y="443483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actor, role, reason code, timestamps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42001" y="457199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decision — certified and withheld amounts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42001" y="470915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row_version — no silent overwrite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788400" y="4038600"/>
            <a:ext cx="2900680" cy="899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94" name="Rounded Rectangle 93"/>
          <p:cNvSpPr/>
          <p:nvPr/>
        </p:nvSpPr>
        <p:spPr>
          <a:xfrm>
            <a:off x="8788400" y="4038600"/>
            <a:ext cx="2900680" cy="45720"/>
          </a:xfrm>
          <a:prstGeom prst="roundRect">
            <a:avLst>
              <a:gd name="adj" fmla="val 50000"/>
            </a:avLst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95" name="TextBox 94"/>
          <p:cNvSpPr txBox="1"/>
          <p:nvPr/>
        </p:nvSpPr>
        <p:spPr>
          <a:xfrm>
            <a:off x="8895081" y="4130041"/>
            <a:ext cx="2687319" cy="10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08" b="1">
                <a:solidFill>
                  <a:srgbClr val="2E7D52"/>
                </a:solidFill>
                <a:latin typeface="Inter Medium"/>
              </a:rPr>
              <a:t>THE </a:t>
            </a:r>
            <a:r>
              <a:rPr lang="en-IN" sz="708" b="1">
                <a:solidFill>
                  <a:srgbClr val="2E7D52"/>
                </a:solidFill>
                <a:latin typeface="Inter Medium"/>
              </a:rPr>
              <a:t>Exception Logs &amp; actions</a:t>
            </a:r>
            <a:endParaRPr sz="708" b="1">
              <a:solidFill>
                <a:srgbClr val="2E7D52"/>
              </a:solidFill>
              <a:latin typeface="Inter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895081" y="4297680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Insert only. No update, no delete.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95081" y="443483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Every result, state change and action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95081" y="457199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Hash-chained per </a:t>
            </a:r>
            <a:r>
              <a:rPr lang="en-US" sz="750">
                <a:solidFill>
                  <a:srgbClr val="2B2E3B"/>
                </a:solidFill>
                <a:latin typeface="Inter Light"/>
              </a:rPr>
              <a:t>Invoice</a:t>
            </a:r>
            <a:endParaRPr sz="750">
              <a:solidFill>
                <a:srgbClr val="2B2E3B"/>
              </a:solidFill>
              <a:latin typeface="Inter Light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895081" y="4709159"/>
            <a:ext cx="2687319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>
                <a:solidFill>
                  <a:srgbClr val="2B2E3B"/>
                </a:solidFill>
                <a:latin typeface="Inter Light"/>
              </a:rPr>
              <a:t>·  Alteration becomes detectable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040" y="5105400"/>
            <a:ext cx="685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750" b="1">
                <a:solidFill>
                  <a:srgbClr val="004AAC"/>
                </a:solidFill>
                <a:latin typeface="Inter Medium"/>
              </a:rPr>
              <a:t>WHAT A DECISION DOES — NAMED BY ITS EFFECT ON THE MONEY</a:t>
            </a:r>
          </a:p>
        </p:txBody>
      </p:sp>
      <p:grpSp>
        <p:nvGrpSpPr>
          <p:cNvPr id="106" name="dec Uphold"/>
          <p:cNvGrpSpPr/>
          <p:nvPr/>
        </p:nvGrpSpPr>
        <p:grpSpPr>
          <a:xfrm>
            <a:off x="320040" y="5288280"/>
            <a:ext cx="2785110" cy="853440"/>
            <a:chOff x="384048" y="6345936"/>
            <a:chExt cx="3342132" cy="1024128"/>
          </a:xfrm>
        </p:grpSpPr>
        <p:sp>
          <p:nvSpPr>
            <p:cNvPr id="101" name="Rounded Rectangle 100"/>
            <p:cNvSpPr/>
            <p:nvPr/>
          </p:nvSpPr>
          <p:spPr>
            <a:xfrm>
              <a:off x="384048" y="6345936"/>
              <a:ext cx="3342132" cy="102412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384048" y="6345936"/>
              <a:ext cx="3342132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548640" y="6437376"/>
              <a:ext cx="3012948" cy="1924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42" b="1">
                  <a:solidFill>
                    <a:srgbClr val="0E1020"/>
                  </a:solidFill>
                  <a:latin typeface="Inter"/>
                </a:rPr>
                <a:t>Uphold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48640" y="6675120"/>
              <a:ext cx="3012948" cy="1462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Cost withheld or adjusted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48640" y="6876288"/>
              <a:ext cx="3012948" cy="2942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The rule and the clause are already the reason. A comment is optional.</a:t>
              </a:r>
            </a:p>
          </p:txBody>
        </p:sp>
      </p:grpSp>
      <p:grpSp>
        <p:nvGrpSpPr>
          <p:cNvPr id="112" name="dec Dismiss"/>
          <p:cNvGrpSpPr/>
          <p:nvPr/>
        </p:nvGrpSpPr>
        <p:grpSpPr>
          <a:xfrm>
            <a:off x="3242310" y="5288280"/>
            <a:ext cx="2785110" cy="853440"/>
            <a:chOff x="3890772" y="6345936"/>
            <a:chExt cx="3342132" cy="1024128"/>
          </a:xfrm>
        </p:grpSpPr>
        <p:sp>
          <p:nvSpPr>
            <p:cNvPr id="107" name="Rounded Rectangle 106"/>
            <p:cNvSpPr/>
            <p:nvPr/>
          </p:nvSpPr>
          <p:spPr>
            <a:xfrm>
              <a:off x="3890772" y="6345936"/>
              <a:ext cx="3342132" cy="102412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8" name="Rounded Rectangle 107"/>
            <p:cNvSpPr/>
            <p:nvPr/>
          </p:nvSpPr>
          <p:spPr>
            <a:xfrm>
              <a:off x="3890772" y="6345936"/>
              <a:ext cx="3342132" cy="64008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055364" y="6437376"/>
              <a:ext cx="3012948" cy="1924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42" b="1">
                  <a:solidFill>
                    <a:srgbClr val="E86C1F"/>
                  </a:solidFill>
                  <a:latin typeface="Inter"/>
                </a:rPr>
                <a:t>Dismiss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055364" y="6675120"/>
              <a:ext cx="3012948" cy="1462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Cost allowed and certified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055364" y="6876288"/>
              <a:ext cx="3012948" cy="2942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Mandatory reason code plus free text. This is the override path, and it is measured.</a:t>
              </a:r>
            </a:p>
          </p:txBody>
        </p:sp>
      </p:grpSp>
      <p:grpSp>
        <p:nvGrpSpPr>
          <p:cNvPr id="118" name="dec Return"/>
          <p:cNvGrpSpPr/>
          <p:nvPr/>
        </p:nvGrpSpPr>
        <p:grpSpPr>
          <a:xfrm>
            <a:off x="6164580" y="5288280"/>
            <a:ext cx="2785110" cy="853440"/>
            <a:chOff x="7397496" y="6345936"/>
            <a:chExt cx="3342132" cy="1024128"/>
          </a:xfrm>
        </p:grpSpPr>
        <p:sp>
          <p:nvSpPr>
            <p:cNvPr id="113" name="Rounded Rectangle 112"/>
            <p:cNvSpPr/>
            <p:nvPr/>
          </p:nvSpPr>
          <p:spPr>
            <a:xfrm>
              <a:off x="7397496" y="6345936"/>
              <a:ext cx="3342132" cy="102412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4" name="Rounded Rectangle 113"/>
            <p:cNvSpPr/>
            <p:nvPr/>
          </p:nvSpPr>
          <p:spPr>
            <a:xfrm>
              <a:off x="7397496" y="6345936"/>
              <a:ext cx="3342132" cy="64008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562088" y="6437376"/>
              <a:ext cx="3012948" cy="1924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42" b="1">
                  <a:solidFill>
                    <a:srgbClr val="7A4A2B"/>
                  </a:solidFill>
                  <a:latin typeface="Inter"/>
                </a:rPr>
                <a:t>Return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7562088" y="6675120"/>
              <a:ext cx="3012948" cy="1462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Held pending evidence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562088" y="6876288"/>
              <a:ext cx="3012948" cy="2942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Names what is missing and goes back to the contractor. Status AWAITING_EVIDENCE.</a:t>
              </a:r>
            </a:p>
          </p:txBody>
        </p:sp>
      </p:grpSp>
      <p:grpSp>
        <p:nvGrpSpPr>
          <p:cNvPr id="124" name="dec Escalate"/>
          <p:cNvGrpSpPr/>
          <p:nvPr/>
        </p:nvGrpSpPr>
        <p:grpSpPr>
          <a:xfrm>
            <a:off x="9086850" y="5288280"/>
            <a:ext cx="2785110" cy="853440"/>
            <a:chOff x="10904220" y="6345936"/>
            <a:chExt cx="3342132" cy="1024128"/>
          </a:xfrm>
        </p:grpSpPr>
        <p:sp>
          <p:nvSpPr>
            <p:cNvPr id="119" name="Rounded Rectangle 118"/>
            <p:cNvSpPr/>
            <p:nvPr/>
          </p:nvSpPr>
          <p:spPr>
            <a:xfrm>
              <a:off x="10904220" y="6345936"/>
              <a:ext cx="3342132" cy="102412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10904220" y="6345936"/>
              <a:ext cx="3342132" cy="64008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11068812" y="6437376"/>
              <a:ext cx="3012948" cy="19243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1042" b="1">
                  <a:solidFill>
                    <a:srgbClr val="C0272D"/>
                  </a:solidFill>
                  <a:latin typeface="Inter"/>
                </a:rPr>
                <a:t>Escalate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1068812" y="6675120"/>
              <a:ext cx="3012948" cy="1462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Unchanged, routed on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1068812" y="6876288"/>
              <a:ext cx="3012948" cy="29423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To a commercial manager or contract interpreter. Second signature to close.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81000"/>
            <a:ext cx="86868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lang="en-IN" sz="1750">
                <a:solidFill>
                  <a:srgbClr val="0E1020"/>
                </a:solidFill>
                <a:latin typeface="GT Standard L Extended" pitchFamily="2" charset="0"/>
              </a:rPr>
              <a:t>Indicative Timeline - </a:t>
            </a:r>
            <a:r>
              <a:rPr sz="1750">
                <a:solidFill>
                  <a:srgbClr val="0E1020"/>
                </a:solidFill>
                <a:latin typeface="GT Standard L Extended" pitchFamily="2" charset="0"/>
              </a:rPr>
              <a:t>Two Waves</a:t>
            </a:r>
          </a:p>
        </p:txBody>
      </p:sp>
      <p:grpSp>
        <p:nvGrpSpPr>
          <p:cNvPr id="30" name="month header"/>
          <p:cNvGrpSpPr/>
          <p:nvPr/>
        </p:nvGrpSpPr>
        <p:grpSpPr>
          <a:xfrm>
            <a:off x="320040" y="883920"/>
            <a:ext cx="11551920" cy="228600"/>
            <a:chOff x="384048" y="1060704"/>
            <a:chExt cx="13862304" cy="274320"/>
          </a:xfrm>
        </p:grpSpPr>
        <p:sp>
          <p:nvSpPr>
            <p:cNvPr id="5" name="Rounded Rectangle 4"/>
            <p:cNvSpPr/>
            <p:nvPr/>
          </p:nvSpPr>
          <p:spPr>
            <a:xfrm>
              <a:off x="3273552" y="1060704"/>
              <a:ext cx="10972800" cy="274320"/>
            </a:xfrm>
            <a:prstGeom prst="roundRect">
              <a:avLst>
                <a:gd name="adj" fmla="val 3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2735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879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M2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41879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1023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M3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1023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0167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M4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60167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69311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M5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9311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8455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M6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78455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87599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M7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7599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96743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M8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96743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05887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M9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105887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115031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M10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115031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24175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M11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124175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3331952" y="1117073"/>
              <a:ext cx="914400" cy="1615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75" b="1">
                  <a:solidFill>
                    <a:srgbClr val="FFFFFF"/>
                  </a:solidFill>
                  <a:latin typeface="Inter Medium"/>
                </a:rPr>
                <a:t>M12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13331952" y="1060704"/>
              <a:ext cx="0" cy="274320"/>
            </a:xfrm>
            <a:prstGeom prst="line">
              <a:avLst/>
            </a:prstGeom>
            <a:ln w="6350">
              <a:solidFill>
                <a:srgbClr val="5F63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84048" y="1128614"/>
              <a:ext cx="2761488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MONTH FROM CONTRACT START</a:t>
              </a:r>
            </a:p>
          </p:txBody>
        </p:sp>
      </p:grpSp>
      <p:grpSp>
        <p:nvGrpSpPr>
          <p:cNvPr id="34" name="ms Mobilised"/>
          <p:cNvGrpSpPr/>
          <p:nvPr/>
        </p:nvGrpSpPr>
        <p:grpSpPr>
          <a:xfrm>
            <a:off x="2667000" y="1173481"/>
            <a:ext cx="1188720" cy="252576"/>
            <a:chOff x="3200400" y="1408176"/>
            <a:chExt cx="1426464" cy="303091"/>
          </a:xfrm>
        </p:grpSpPr>
        <p:sp>
          <p:nvSpPr>
            <p:cNvPr id="31" name="Diamond 30"/>
            <p:cNvSpPr/>
            <p:nvPr/>
          </p:nvSpPr>
          <p:spPr>
            <a:xfrm>
              <a:off x="383133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13632" y="1572768"/>
              <a:ext cx="0" cy="18288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200400" y="1572768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Mobilised</a:t>
              </a:r>
            </a:p>
          </p:txBody>
        </p:sp>
      </p:grpSp>
      <p:grpSp>
        <p:nvGrpSpPr>
          <p:cNvPr id="38" name="ms Design baselined"/>
          <p:cNvGrpSpPr/>
          <p:nvPr/>
        </p:nvGrpSpPr>
        <p:grpSpPr>
          <a:xfrm>
            <a:off x="3657600" y="1173481"/>
            <a:ext cx="1188720" cy="389736"/>
            <a:chOff x="4389120" y="1408176"/>
            <a:chExt cx="1426464" cy="467683"/>
          </a:xfrm>
        </p:grpSpPr>
        <p:sp>
          <p:nvSpPr>
            <p:cNvPr id="35" name="Diamond 34"/>
            <p:cNvSpPr/>
            <p:nvPr/>
          </p:nvSpPr>
          <p:spPr>
            <a:xfrm>
              <a:off x="502005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02352" y="1572768"/>
              <a:ext cx="0" cy="182880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389120" y="1737360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Design baselined</a:t>
              </a:r>
            </a:p>
          </p:txBody>
        </p:sp>
      </p:grpSp>
      <p:grpSp>
        <p:nvGrpSpPr>
          <p:cNvPr id="42" name="ms Platform ready"/>
          <p:cNvGrpSpPr/>
          <p:nvPr/>
        </p:nvGrpSpPr>
        <p:grpSpPr>
          <a:xfrm>
            <a:off x="4419600" y="1173481"/>
            <a:ext cx="1188720" cy="252576"/>
            <a:chOff x="5303520" y="1408176"/>
            <a:chExt cx="1426464" cy="303091"/>
          </a:xfrm>
        </p:grpSpPr>
        <p:sp>
          <p:nvSpPr>
            <p:cNvPr id="39" name="Diamond 38"/>
            <p:cNvSpPr/>
            <p:nvPr/>
          </p:nvSpPr>
          <p:spPr>
            <a:xfrm>
              <a:off x="593445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6016752" y="1572768"/>
              <a:ext cx="0" cy="18288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5303520" y="1572768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Platform ready</a:t>
              </a:r>
            </a:p>
          </p:txBody>
        </p:sp>
      </p:grpSp>
      <p:grpSp>
        <p:nvGrpSpPr>
          <p:cNvPr id="46" name="ms Foundations ready"/>
          <p:cNvGrpSpPr/>
          <p:nvPr/>
        </p:nvGrpSpPr>
        <p:grpSpPr>
          <a:xfrm>
            <a:off x="5943600" y="1173481"/>
            <a:ext cx="1188720" cy="389736"/>
            <a:chOff x="7132320" y="1408176"/>
            <a:chExt cx="1426464" cy="467683"/>
          </a:xfrm>
        </p:grpSpPr>
        <p:sp>
          <p:nvSpPr>
            <p:cNvPr id="43" name="Diamond 42"/>
            <p:cNvSpPr/>
            <p:nvPr/>
          </p:nvSpPr>
          <p:spPr>
            <a:xfrm>
              <a:off x="776325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7845552" y="1572768"/>
              <a:ext cx="0" cy="182880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7132320" y="1737360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Foundations ready</a:t>
              </a:r>
            </a:p>
          </p:txBody>
        </p:sp>
      </p:grpSp>
      <p:grpSp>
        <p:nvGrpSpPr>
          <p:cNvPr id="50" name="ms Wave 1 live"/>
          <p:cNvGrpSpPr/>
          <p:nvPr/>
        </p:nvGrpSpPr>
        <p:grpSpPr>
          <a:xfrm>
            <a:off x="7315200" y="1173481"/>
            <a:ext cx="1188720" cy="252576"/>
            <a:chOff x="8778240" y="1408176"/>
            <a:chExt cx="1426464" cy="303091"/>
          </a:xfrm>
        </p:grpSpPr>
        <p:sp>
          <p:nvSpPr>
            <p:cNvPr id="47" name="Diamond 46"/>
            <p:cNvSpPr/>
            <p:nvPr/>
          </p:nvSpPr>
          <p:spPr>
            <a:xfrm>
              <a:off x="940917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9491472" y="1572768"/>
              <a:ext cx="0" cy="18288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8778240" y="1572768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Wave 1 live</a:t>
              </a:r>
            </a:p>
          </p:txBody>
        </p:sp>
      </p:grpSp>
      <p:grpSp>
        <p:nvGrpSpPr>
          <p:cNvPr id="54" name="ms Wave 2 live"/>
          <p:cNvGrpSpPr/>
          <p:nvPr/>
        </p:nvGrpSpPr>
        <p:grpSpPr>
          <a:xfrm>
            <a:off x="9601200" y="1173481"/>
            <a:ext cx="1188720" cy="389736"/>
            <a:chOff x="11521440" y="1408176"/>
            <a:chExt cx="1426464" cy="467683"/>
          </a:xfrm>
        </p:grpSpPr>
        <p:sp>
          <p:nvSpPr>
            <p:cNvPr id="51" name="Diamond 50"/>
            <p:cNvSpPr/>
            <p:nvPr/>
          </p:nvSpPr>
          <p:spPr>
            <a:xfrm>
              <a:off x="1215237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2234672" y="1572768"/>
              <a:ext cx="0" cy="182880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11521440" y="1737360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Wave 2 live</a:t>
              </a:r>
            </a:p>
          </p:txBody>
        </p:sp>
      </p:grpSp>
      <p:grpSp>
        <p:nvGrpSpPr>
          <p:cNvPr id="58" name="ms Steady state"/>
          <p:cNvGrpSpPr/>
          <p:nvPr/>
        </p:nvGrpSpPr>
        <p:grpSpPr>
          <a:xfrm>
            <a:off x="10515600" y="1173481"/>
            <a:ext cx="1188720" cy="252576"/>
            <a:chOff x="12618720" y="1408176"/>
            <a:chExt cx="1426464" cy="303091"/>
          </a:xfrm>
        </p:grpSpPr>
        <p:sp>
          <p:nvSpPr>
            <p:cNvPr id="55" name="Diamond 54"/>
            <p:cNvSpPr/>
            <p:nvPr/>
          </p:nvSpPr>
          <p:spPr>
            <a:xfrm>
              <a:off x="13249656" y="1408176"/>
              <a:ext cx="164592" cy="164592"/>
            </a:xfrm>
            <a:prstGeom prst="diamond">
              <a:avLst/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56" name="Connector 55"/>
            <p:cNvCxnSpPr/>
            <p:nvPr/>
          </p:nvCxnSpPr>
          <p:spPr>
            <a:xfrm>
              <a:off x="13331952" y="1572768"/>
              <a:ext cx="0" cy="18288"/>
            </a:xfrm>
            <a:prstGeom prst="line">
              <a:avLst/>
            </a:prstGeom>
            <a:ln w="9525">
              <a:solidFill>
                <a:srgbClr val="DFDB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12618720" y="1572768"/>
              <a:ext cx="142646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Steady state</a:t>
              </a:r>
            </a:p>
          </p:txBody>
        </p:sp>
      </p:grpSp>
      <p:cxnSp>
        <p:nvCxnSpPr>
          <p:cNvPr id="59" name="Connector 58"/>
          <p:cNvCxnSpPr/>
          <p:nvPr/>
        </p:nvCxnSpPr>
        <p:spPr>
          <a:xfrm>
            <a:off x="3489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251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013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775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537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299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061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823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585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347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109960" y="1661160"/>
            <a:ext cx="0" cy="3825240"/>
          </a:xfrm>
          <a:prstGeom prst="line">
            <a:avLst/>
          </a:prstGeom>
          <a:ln w="6350">
            <a:solidFill>
              <a:srgbClr val="DFDB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sec Foundation"/>
          <p:cNvGrpSpPr/>
          <p:nvPr/>
        </p:nvGrpSpPr>
        <p:grpSpPr>
          <a:xfrm>
            <a:off x="320040" y="1661160"/>
            <a:ext cx="2331720" cy="167640"/>
            <a:chOff x="384048" y="1993392"/>
            <a:chExt cx="2798064" cy="201168"/>
          </a:xfrm>
        </p:grpSpPr>
        <p:sp>
          <p:nvSpPr>
            <p:cNvPr id="70" name="Rounded Rectangle 69"/>
            <p:cNvSpPr/>
            <p:nvPr/>
          </p:nvSpPr>
          <p:spPr>
            <a:xfrm>
              <a:off x="384048" y="1993392"/>
              <a:ext cx="2798064" cy="201168"/>
            </a:xfrm>
            <a:prstGeom prst="roundRect">
              <a:avLst>
                <a:gd name="adj" fmla="val 2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75488" y="2024726"/>
              <a:ext cx="2615184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FOUNDATION</a:t>
              </a:r>
            </a:p>
          </p:txBody>
        </p:sp>
      </p:grpSp>
      <p:grpSp>
        <p:nvGrpSpPr>
          <p:cNvPr id="76" name="bar Kick-off and alignment"/>
          <p:cNvGrpSpPr/>
          <p:nvPr/>
        </p:nvGrpSpPr>
        <p:grpSpPr>
          <a:xfrm>
            <a:off x="426720" y="1897380"/>
            <a:ext cx="6187440" cy="144780"/>
            <a:chOff x="512064" y="2276856"/>
            <a:chExt cx="7424928" cy="173736"/>
          </a:xfrm>
        </p:grpSpPr>
        <p:sp>
          <p:nvSpPr>
            <p:cNvPr id="73" name="TextBox 72"/>
            <p:cNvSpPr txBox="1"/>
            <p:nvPr/>
          </p:nvSpPr>
          <p:spPr>
            <a:xfrm>
              <a:off x="512064" y="2286017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Kick-off and alignment</a:t>
              </a:r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3273552" y="2276856"/>
              <a:ext cx="640080" cy="17373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005072" y="2293788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Charter, RACI, plan baseline, TI Corp onboarding</a:t>
              </a:r>
            </a:p>
          </p:txBody>
        </p:sp>
      </p:grpSp>
      <p:grpSp>
        <p:nvGrpSpPr>
          <p:cNvPr id="80" name="bar Discovery and design"/>
          <p:cNvGrpSpPr/>
          <p:nvPr/>
        </p:nvGrpSpPr>
        <p:grpSpPr>
          <a:xfrm>
            <a:off x="426720" y="2110740"/>
            <a:ext cx="7178040" cy="144780"/>
            <a:chOff x="512064" y="2532888"/>
            <a:chExt cx="8613648" cy="173736"/>
          </a:xfrm>
        </p:grpSpPr>
        <p:sp>
          <p:nvSpPr>
            <p:cNvPr id="77" name="TextBox 76"/>
            <p:cNvSpPr txBox="1"/>
            <p:nvPr/>
          </p:nvSpPr>
          <p:spPr>
            <a:xfrm>
              <a:off x="512064" y="2542049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Discovery and design</a:t>
              </a:r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3547872" y="2532888"/>
              <a:ext cx="1554480" cy="17373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193792" y="2549820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Discovery, rule catalogue, target architecture</a:t>
              </a:r>
            </a:p>
          </p:txBody>
        </p:sp>
      </p:grpSp>
      <p:grpSp>
        <p:nvGrpSpPr>
          <p:cNvPr id="84" name="bar Platform setup and readiness"/>
          <p:cNvGrpSpPr/>
          <p:nvPr/>
        </p:nvGrpSpPr>
        <p:grpSpPr>
          <a:xfrm>
            <a:off x="426720" y="2324100"/>
            <a:ext cx="7940040" cy="144780"/>
            <a:chOff x="512064" y="2788920"/>
            <a:chExt cx="9528048" cy="173736"/>
          </a:xfrm>
        </p:grpSpPr>
        <p:sp>
          <p:nvSpPr>
            <p:cNvPr id="81" name="TextBox 80"/>
            <p:cNvSpPr txBox="1"/>
            <p:nvPr/>
          </p:nvSpPr>
          <p:spPr>
            <a:xfrm>
              <a:off x="512064" y="2798081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Platform setup and readiness</a:t>
              </a: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4462272" y="2788920"/>
              <a:ext cx="1554480" cy="17373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108192" y="2805852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Landing zone, network, identity, policy, environments</a:t>
              </a:r>
            </a:p>
          </p:txBody>
        </p:sp>
      </p:grpSp>
      <p:grpSp>
        <p:nvGrpSpPr>
          <p:cNvPr id="88" name="bar Data foundation"/>
          <p:cNvGrpSpPr/>
          <p:nvPr/>
        </p:nvGrpSpPr>
        <p:grpSpPr>
          <a:xfrm>
            <a:off x="426720" y="2537460"/>
            <a:ext cx="8702040" cy="144780"/>
            <a:chOff x="512064" y="3044952"/>
            <a:chExt cx="10442448" cy="173736"/>
          </a:xfrm>
        </p:grpSpPr>
        <p:sp>
          <p:nvSpPr>
            <p:cNvPr id="85" name="TextBox 84"/>
            <p:cNvSpPr txBox="1"/>
            <p:nvPr/>
          </p:nvSpPr>
          <p:spPr>
            <a:xfrm>
              <a:off x="512064" y="3054113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Data foundation</a:t>
              </a:r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4828032" y="3044952"/>
              <a:ext cx="2103120" cy="17373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7022592" y="3061884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Canonical model, evidence store, rules ledger</a:t>
              </a:r>
            </a:p>
          </p:txBody>
        </p:sp>
      </p:grpSp>
      <p:grpSp>
        <p:nvGrpSpPr>
          <p:cNvPr id="92" name="bar AI foundation"/>
          <p:cNvGrpSpPr/>
          <p:nvPr/>
        </p:nvGrpSpPr>
        <p:grpSpPr>
          <a:xfrm>
            <a:off x="426720" y="2750820"/>
            <a:ext cx="9464040" cy="144780"/>
            <a:chOff x="512064" y="3300984"/>
            <a:chExt cx="11356848" cy="173736"/>
          </a:xfrm>
        </p:grpSpPr>
        <p:sp>
          <p:nvSpPr>
            <p:cNvPr id="89" name="TextBox 88"/>
            <p:cNvSpPr txBox="1"/>
            <p:nvPr/>
          </p:nvSpPr>
          <p:spPr>
            <a:xfrm>
              <a:off x="512064" y="3310145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AI foundation</a:t>
              </a:r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5559552" y="3300984"/>
              <a:ext cx="2286000" cy="173736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7936992" y="3317916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Foundry, agents, retrieval index, evaluations</a:t>
              </a:r>
            </a:p>
          </p:txBody>
        </p:sp>
      </p:grpSp>
      <p:grpSp>
        <p:nvGrpSpPr>
          <p:cNvPr id="95" name="sec Wave 1 — the verification engine"/>
          <p:cNvGrpSpPr/>
          <p:nvPr/>
        </p:nvGrpSpPr>
        <p:grpSpPr>
          <a:xfrm>
            <a:off x="320040" y="2971800"/>
            <a:ext cx="2331720" cy="167640"/>
            <a:chOff x="384048" y="3566160"/>
            <a:chExt cx="2798064" cy="201168"/>
          </a:xfrm>
        </p:grpSpPr>
        <p:sp>
          <p:nvSpPr>
            <p:cNvPr id="93" name="Rounded Rectangle 92"/>
            <p:cNvSpPr/>
            <p:nvPr/>
          </p:nvSpPr>
          <p:spPr>
            <a:xfrm>
              <a:off x="384048" y="3566160"/>
              <a:ext cx="2798064" cy="201168"/>
            </a:xfrm>
            <a:prstGeom prst="roundRect">
              <a:avLst>
                <a:gd name="adj" fmla="val 2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475488" y="3597494"/>
              <a:ext cx="2615184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WAVE 1 — THE VERIFICATION ENGINE</a:t>
              </a:r>
            </a:p>
          </p:txBody>
        </p:sp>
      </p:grpSp>
      <p:grpSp>
        <p:nvGrpSpPr>
          <p:cNvPr id="99" name="bar Build and configure"/>
          <p:cNvGrpSpPr/>
          <p:nvPr/>
        </p:nvGrpSpPr>
        <p:grpSpPr>
          <a:xfrm>
            <a:off x="426720" y="3208020"/>
            <a:ext cx="10226040" cy="144780"/>
            <a:chOff x="512064" y="3849624"/>
            <a:chExt cx="12271248" cy="173736"/>
          </a:xfrm>
        </p:grpSpPr>
        <p:sp>
          <p:nvSpPr>
            <p:cNvPr id="96" name="TextBox 95"/>
            <p:cNvSpPr txBox="1"/>
            <p:nvPr/>
          </p:nvSpPr>
          <p:spPr>
            <a:xfrm>
              <a:off x="512064" y="3858785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Build and configure</a:t>
              </a:r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6473952" y="3849624"/>
              <a:ext cx="2286000" cy="173736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851392" y="3866556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Invoice automation, then cost verification</a:t>
              </a:r>
            </a:p>
          </p:txBody>
        </p:sp>
      </p:grpSp>
      <p:grpSp>
        <p:nvGrpSpPr>
          <p:cNvPr id="103" name="bar Testing and UAT"/>
          <p:cNvGrpSpPr/>
          <p:nvPr/>
        </p:nvGrpSpPr>
        <p:grpSpPr>
          <a:xfrm>
            <a:off x="426720" y="3421380"/>
            <a:ext cx="10607040" cy="144780"/>
            <a:chOff x="512064" y="4105656"/>
            <a:chExt cx="12728448" cy="173736"/>
          </a:xfrm>
        </p:grpSpPr>
        <p:sp>
          <p:nvSpPr>
            <p:cNvPr id="100" name="TextBox 99"/>
            <p:cNvSpPr txBox="1"/>
            <p:nvPr/>
          </p:nvSpPr>
          <p:spPr>
            <a:xfrm>
              <a:off x="512064" y="4114817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Testing and UAT</a:t>
              </a:r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7845552" y="4105656"/>
              <a:ext cx="1371600" cy="173736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9308592" y="4122588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Integration, rule back-test, TI Corp acceptance</a:t>
              </a:r>
            </a:p>
          </p:txBody>
        </p:sp>
      </p:grpSp>
      <p:grpSp>
        <p:nvGrpSpPr>
          <p:cNvPr id="107" name="bar Deployment and go-live"/>
          <p:cNvGrpSpPr/>
          <p:nvPr/>
        </p:nvGrpSpPr>
        <p:grpSpPr>
          <a:xfrm>
            <a:off x="426721" y="3634740"/>
            <a:ext cx="10835639" cy="144780"/>
            <a:chOff x="512064" y="4361688"/>
            <a:chExt cx="13002767" cy="173736"/>
          </a:xfrm>
        </p:grpSpPr>
        <p:sp>
          <p:nvSpPr>
            <p:cNvPr id="104" name="TextBox 103"/>
            <p:cNvSpPr txBox="1"/>
            <p:nvPr/>
          </p:nvSpPr>
          <p:spPr>
            <a:xfrm>
              <a:off x="512064" y="4370849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Deployment and go-live</a:t>
              </a:r>
            </a:p>
          </p:txBody>
        </p:sp>
        <p:sp>
          <p:nvSpPr>
            <p:cNvPr id="105" name="Rounded Rectangle 104"/>
            <p:cNvSpPr/>
            <p:nvPr/>
          </p:nvSpPr>
          <p:spPr>
            <a:xfrm>
              <a:off x="9034272" y="4361688"/>
              <a:ext cx="457200" cy="173736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9582911" y="4378620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Production cutover and first live cycle</a:t>
              </a:r>
            </a:p>
          </p:txBody>
        </p:sp>
      </p:grpSp>
      <p:grpSp>
        <p:nvGrpSpPr>
          <p:cNvPr id="111" name="bar Hypercare"/>
          <p:cNvGrpSpPr/>
          <p:nvPr/>
        </p:nvGrpSpPr>
        <p:grpSpPr>
          <a:xfrm>
            <a:off x="426720" y="3848100"/>
            <a:ext cx="11445240" cy="144780"/>
            <a:chOff x="512064" y="4617720"/>
            <a:chExt cx="13734288" cy="173736"/>
          </a:xfrm>
        </p:grpSpPr>
        <p:sp>
          <p:nvSpPr>
            <p:cNvPr id="108" name="TextBox 107"/>
            <p:cNvSpPr txBox="1"/>
            <p:nvPr/>
          </p:nvSpPr>
          <p:spPr>
            <a:xfrm>
              <a:off x="512064" y="4626881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Hypercare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9491472" y="4617720"/>
              <a:ext cx="1097280" cy="173736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0680192" y="4634652"/>
              <a:ext cx="356616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Daily triage, rule tuning, embedded support</a:t>
              </a:r>
            </a:p>
          </p:txBody>
        </p:sp>
      </p:grpSp>
      <p:grpSp>
        <p:nvGrpSpPr>
          <p:cNvPr id="114" name="sec Wave 2 — the commercial layer"/>
          <p:cNvGrpSpPr/>
          <p:nvPr/>
        </p:nvGrpSpPr>
        <p:grpSpPr>
          <a:xfrm>
            <a:off x="320040" y="4069080"/>
            <a:ext cx="2331720" cy="167640"/>
            <a:chOff x="384048" y="4882896"/>
            <a:chExt cx="2798064" cy="201168"/>
          </a:xfrm>
        </p:grpSpPr>
        <p:sp>
          <p:nvSpPr>
            <p:cNvPr id="112" name="Rounded Rectangle 111"/>
            <p:cNvSpPr/>
            <p:nvPr/>
          </p:nvSpPr>
          <p:spPr>
            <a:xfrm>
              <a:off x="384048" y="4882896"/>
              <a:ext cx="2798064" cy="201168"/>
            </a:xfrm>
            <a:prstGeom prst="roundRect">
              <a:avLst>
                <a:gd name="adj" fmla="val 2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75488" y="4914230"/>
              <a:ext cx="2615184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WAVE 2 — THE COMMERCIAL LAYER</a:t>
              </a:r>
            </a:p>
          </p:txBody>
        </p:sp>
      </p:grpSp>
      <p:grpSp>
        <p:nvGrpSpPr>
          <p:cNvPr id="118" name="bar Build and configure"/>
          <p:cNvGrpSpPr/>
          <p:nvPr/>
        </p:nvGrpSpPr>
        <p:grpSpPr>
          <a:xfrm>
            <a:off x="426720" y="4305300"/>
            <a:ext cx="11445240" cy="144780"/>
            <a:chOff x="512064" y="5166360"/>
            <a:chExt cx="13734288" cy="173736"/>
          </a:xfrm>
        </p:grpSpPr>
        <p:sp>
          <p:nvSpPr>
            <p:cNvPr id="115" name="TextBox 114"/>
            <p:cNvSpPr txBox="1"/>
            <p:nvPr/>
          </p:nvSpPr>
          <p:spPr>
            <a:xfrm>
              <a:off x="512064" y="5175521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Build and configure</a:t>
              </a: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8759952" y="5166360"/>
              <a:ext cx="2286000" cy="173736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1137392" y="5183292"/>
              <a:ext cx="310896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Change orders, then target cost monitoring</a:t>
              </a:r>
            </a:p>
          </p:txBody>
        </p:sp>
      </p:grpSp>
      <p:grpSp>
        <p:nvGrpSpPr>
          <p:cNvPr id="122" name="bar Testing and UAT"/>
          <p:cNvGrpSpPr/>
          <p:nvPr/>
        </p:nvGrpSpPr>
        <p:grpSpPr>
          <a:xfrm>
            <a:off x="426720" y="4518660"/>
            <a:ext cx="9540240" cy="144780"/>
            <a:chOff x="512064" y="5422392"/>
            <a:chExt cx="11448288" cy="173736"/>
          </a:xfrm>
        </p:grpSpPr>
        <p:sp>
          <p:nvSpPr>
            <p:cNvPr id="119" name="TextBox 118"/>
            <p:cNvSpPr txBox="1"/>
            <p:nvPr/>
          </p:nvSpPr>
          <p:spPr>
            <a:xfrm>
              <a:off x="512064" y="5431553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Testing and UAT</a:t>
              </a:r>
            </a:p>
          </p:txBody>
        </p:sp>
        <p:sp>
          <p:nvSpPr>
            <p:cNvPr id="120" name="Rounded Rectangle 119"/>
            <p:cNvSpPr/>
            <p:nvPr/>
          </p:nvSpPr>
          <p:spPr>
            <a:xfrm>
              <a:off x="10588752" y="5422392"/>
              <a:ext cx="1371600" cy="173736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565392" y="5439324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Regression on Wave 1, then Wave 2 acceptance</a:t>
              </a:r>
            </a:p>
          </p:txBody>
        </p:sp>
      </p:grpSp>
      <p:grpSp>
        <p:nvGrpSpPr>
          <p:cNvPr id="126" name="bar Deployment and go-live"/>
          <p:cNvGrpSpPr/>
          <p:nvPr/>
        </p:nvGrpSpPr>
        <p:grpSpPr>
          <a:xfrm>
            <a:off x="426720" y="4732020"/>
            <a:ext cx="9768840" cy="144780"/>
            <a:chOff x="512064" y="5678424"/>
            <a:chExt cx="11722608" cy="173736"/>
          </a:xfrm>
        </p:grpSpPr>
        <p:sp>
          <p:nvSpPr>
            <p:cNvPr id="123" name="TextBox 122"/>
            <p:cNvSpPr txBox="1"/>
            <p:nvPr/>
          </p:nvSpPr>
          <p:spPr>
            <a:xfrm>
              <a:off x="512064" y="5687585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Deployment and go-live</a:t>
              </a: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11777472" y="5678424"/>
              <a:ext cx="457200" cy="173736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754112" y="5695356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Production cutover, full scope live</a:t>
              </a:r>
            </a:p>
          </p:txBody>
        </p:sp>
      </p:grpSp>
      <p:grpSp>
        <p:nvGrpSpPr>
          <p:cNvPr id="130" name="bar Hypercare"/>
          <p:cNvGrpSpPr/>
          <p:nvPr/>
        </p:nvGrpSpPr>
        <p:grpSpPr>
          <a:xfrm>
            <a:off x="426721" y="4945380"/>
            <a:ext cx="10683239" cy="144780"/>
            <a:chOff x="512064" y="5934456"/>
            <a:chExt cx="12819887" cy="173736"/>
          </a:xfrm>
        </p:grpSpPr>
        <p:sp>
          <p:nvSpPr>
            <p:cNvPr id="127" name="TextBox 126"/>
            <p:cNvSpPr txBox="1"/>
            <p:nvPr/>
          </p:nvSpPr>
          <p:spPr>
            <a:xfrm>
              <a:off x="512064" y="5943617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Hypercare</a:t>
              </a:r>
            </a:p>
          </p:txBody>
        </p:sp>
        <p:sp>
          <p:nvSpPr>
            <p:cNvPr id="128" name="Rounded Rectangle 127"/>
            <p:cNvSpPr/>
            <p:nvPr/>
          </p:nvSpPr>
          <p:spPr>
            <a:xfrm>
              <a:off x="12234672" y="5934456"/>
              <a:ext cx="1097279" cy="173736"/>
            </a:xfrm>
            <a:prstGeom prst="roundRect">
              <a:avLst>
                <a:gd name="adj" fmla="val 50000"/>
              </a:avLst>
            </a:prstGeom>
            <a:solidFill>
              <a:srgbClr val="E86C1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211312" y="5951388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Daily triage across all four use cases</a:t>
              </a:r>
            </a:p>
          </p:txBody>
        </p:sp>
      </p:grpSp>
      <p:grpSp>
        <p:nvGrpSpPr>
          <p:cNvPr id="133" name="sec Run"/>
          <p:cNvGrpSpPr/>
          <p:nvPr/>
        </p:nvGrpSpPr>
        <p:grpSpPr>
          <a:xfrm>
            <a:off x="320040" y="5166360"/>
            <a:ext cx="2331720" cy="167640"/>
            <a:chOff x="384048" y="6199632"/>
            <a:chExt cx="2798064" cy="201168"/>
          </a:xfrm>
        </p:grpSpPr>
        <p:sp>
          <p:nvSpPr>
            <p:cNvPr id="131" name="Rounded Rectangle 130"/>
            <p:cNvSpPr/>
            <p:nvPr/>
          </p:nvSpPr>
          <p:spPr>
            <a:xfrm>
              <a:off x="384048" y="6199632"/>
              <a:ext cx="2798064" cy="201168"/>
            </a:xfrm>
            <a:prstGeom prst="roundRect">
              <a:avLst>
                <a:gd name="adj" fmla="val 2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75488" y="6230966"/>
              <a:ext cx="2615184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RUN</a:t>
              </a:r>
            </a:p>
          </p:txBody>
        </p:sp>
      </p:grpSp>
      <p:grpSp>
        <p:nvGrpSpPr>
          <p:cNvPr id="137" name="bar Ongoing support and improvement"/>
          <p:cNvGrpSpPr/>
          <p:nvPr/>
        </p:nvGrpSpPr>
        <p:grpSpPr>
          <a:xfrm>
            <a:off x="426720" y="5402580"/>
            <a:ext cx="11445240" cy="144780"/>
            <a:chOff x="512064" y="6483096"/>
            <a:chExt cx="13734288" cy="173736"/>
          </a:xfrm>
        </p:grpSpPr>
        <p:sp>
          <p:nvSpPr>
            <p:cNvPr id="134" name="TextBox 133"/>
            <p:cNvSpPr txBox="1"/>
            <p:nvPr/>
          </p:nvSpPr>
          <p:spPr>
            <a:xfrm>
              <a:off x="512064" y="6492257"/>
              <a:ext cx="2633472" cy="14627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92" b="1">
                  <a:solidFill>
                    <a:srgbClr val="0E1020"/>
                  </a:solidFill>
                  <a:latin typeface="Inter Medium"/>
                </a:rPr>
                <a:t>Ongoing support and improvement</a:t>
              </a:r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10588752" y="6483096"/>
              <a:ext cx="3657600" cy="173736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6565392" y="6500028"/>
              <a:ext cx="393192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Managed service, service levels, rule improvement</a:t>
              </a:r>
            </a:p>
          </p:txBody>
        </p:sp>
      </p:grpSp>
      <p:grpSp>
        <p:nvGrpSpPr>
          <p:cNvPr id="150" name="mandatory band"/>
          <p:cNvGrpSpPr/>
          <p:nvPr/>
        </p:nvGrpSpPr>
        <p:grpSpPr>
          <a:xfrm>
            <a:off x="320040" y="5562600"/>
            <a:ext cx="11551920" cy="335280"/>
            <a:chOff x="384048" y="6675120"/>
            <a:chExt cx="13862304" cy="402336"/>
          </a:xfrm>
        </p:grpSpPr>
        <p:sp>
          <p:nvSpPr>
            <p:cNvPr id="138" name="Rounded Rectangle 137"/>
            <p:cNvSpPr/>
            <p:nvPr/>
          </p:nvSpPr>
          <p:spPr>
            <a:xfrm>
              <a:off x="384048" y="6675120"/>
              <a:ext cx="13862304" cy="402336"/>
            </a:xfrm>
            <a:prstGeom prst="roundRect">
              <a:avLst>
                <a:gd name="adj" fmla="val 3000"/>
              </a:avLst>
            </a:prstGeom>
            <a:solidFill>
              <a:srgbClr val="E7E9F0"/>
            </a:solidFill>
            <a:ln w="12700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512064" y="6737789"/>
              <a:ext cx="2651760" cy="27699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MANDATORY REQUIREMENTS — CONTINUOUS</a:t>
              </a:r>
            </a:p>
          </p:txBody>
        </p:sp>
        <p:sp>
          <p:nvSpPr>
            <p:cNvPr id="140" name="Rounded Rectangle 139"/>
            <p:cNvSpPr/>
            <p:nvPr/>
          </p:nvSpPr>
          <p:spPr>
            <a:xfrm>
              <a:off x="3218688" y="6739128"/>
              <a:ext cx="2106777" cy="274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3273552" y="6810924"/>
              <a:ext cx="199705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0E1020"/>
                  </a:solidFill>
                  <a:latin typeface="Inter Medium"/>
                </a:rPr>
                <a:t>Canadian residency enforced</a:t>
              </a:r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5416905" y="6739128"/>
              <a:ext cx="2106777" cy="274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5471770" y="6810924"/>
              <a:ext cx="199705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0E1020"/>
                  </a:solidFill>
                  <a:latin typeface="Inter Medium"/>
                </a:rPr>
                <a:t>Data ownership and access</a:t>
              </a:r>
            </a:p>
          </p:txBody>
        </p:sp>
        <p:sp>
          <p:nvSpPr>
            <p:cNvPr id="144" name="Rounded Rectangle 143"/>
            <p:cNvSpPr/>
            <p:nvPr/>
          </p:nvSpPr>
          <p:spPr>
            <a:xfrm>
              <a:off x="7615123" y="6739128"/>
              <a:ext cx="2106777" cy="274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669987" y="6810924"/>
              <a:ext cx="199705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0E1020"/>
                  </a:solidFill>
                  <a:latin typeface="Inter Medium"/>
                </a:rPr>
                <a:t>Portability and export proven</a:t>
              </a:r>
            </a:p>
          </p:txBody>
        </p:sp>
        <p:sp>
          <p:nvSpPr>
            <p:cNvPr id="146" name="Rounded Rectangle 145"/>
            <p:cNvSpPr/>
            <p:nvPr/>
          </p:nvSpPr>
          <p:spPr>
            <a:xfrm>
              <a:off x="9813340" y="6739128"/>
              <a:ext cx="2106777" cy="274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9868204" y="6810924"/>
              <a:ext cx="199705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0E1020"/>
                  </a:solidFill>
                  <a:latin typeface="Inter Medium"/>
                </a:rPr>
                <a:t>Privacy and security</a:t>
              </a:r>
            </a:p>
          </p:txBody>
        </p:sp>
        <p:sp>
          <p:nvSpPr>
            <p:cNvPr id="148" name="Rounded Rectangle 147"/>
            <p:cNvSpPr/>
            <p:nvPr/>
          </p:nvSpPr>
          <p:spPr>
            <a:xfrm>
              <a:off x="12011558" y="6739128"/>
              <a:ext cx="2106777" cy="274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2066422" y="6810924"/>
              <a:ext cx="1997050" cy="13072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708" b="1">
                  <a:solidFill>
                    <a:srgbClr val="0E1020"/>
                  </a:solidFill>
                  <a:latin typeface="Inter Medium"/>
                </a:rPr>
                <a:t>Audit-ready traceability</a:t>
              </a:r>
            </a:p>
          </p:txBody>
        </p:sp>
      </p:grpSp>
      <p:grpSp>
        <p:nvGrpSpPr>
          <p:cNvPr id="156" name="wave Wave 1 — the verification engine"/>
          <p:cNvGrpSpPr/>
          <p:nvPr/>
        </p:nvGrpSpPr>
        <p:grpSpPr>
          <a:xfrm>
            <a:off x="320040" y="5989320"/>
            <a:ext cx="5707380" cy="472440"/>
            <a:chOff x="384048" y="7187184"/>
            <a:chExt cx="6848856" cy="566928"/>
          </a:xfrm>
        </p:grpSpPr>
        <p:sp>
          <p:nvSpPr>
            <p:cNvPr id="151" name="Rounded Rectangle 150"/>
            <p:cNvSpPr/>
            <p:nvPr/>
          </p:nvSpPr>
          <p:spPr>
            <a:xfrm>
              <a:off x="384048" y="7187184"/>
              <a:ext cx="6848856" cy="566928"/>
            </a:xfrm>
            <a:prstGeom prst="roundRect">
              <a:avLst>
                <a:gd name="adj" fmla="val 3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512064" y="7223760"/>
              <a:ext cx="4745736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Wave 1 — the verification engine</a:t>
              </a: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5221224" y="7223760"/>
              <a:ext cx="188366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 b="1">
                  <a:solidFill>
                    <a:srgbClr val="2E7D52"/>
                  </a:solidFill>
                  <a:latin typeface="Inter Medium"/>
                </a:rPr>
                <a:t>35 of 50 business points</a:t>
              </a: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12064" y="7406640"/>
              <a:ext cx="659282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2B2E3B"/>
                  </a:solidFill>
                  <a:latin typeface="Inter Medium"/>
                </a:rPr>
                <a:t>02 Invoice and ledger automation (15)   ·   01 Continuous cost verification (20)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12064" y="7571231"/>
              <a:ext cx="659282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First because 02 feeds 01, and together they certify payment — the value TI Corp buys.</a:t>
              </a:r>
            </a:p>
          </p:txBody>
        </p:sp>
      </p:grpSp>
      <p:grpSp>
        <p:nvGrpSpPr>
          <p:cNvPr id="162" name="wave Wave 2 — the commercial layer"/>
          <p:cNvGrpSpPr/>
          <p:nvPr/>
        </p:nvGrpSpPr>
        <p:grpSpPr>
          <a:xfrm>
            <a:off x="6164580" y="5989320"/>
            <a:ext cx="5707380" cy="472440"/>
            <a:chOff x="7397496" y="7187184"/>
            <a:chExt cx="6848856" cy="566928"/>
          </a:xfrm>
        </p:grpSpPr>
        <p:sp>
          <p:nvSpPr>
            <p:cNvPr id="157" name="Rounded Rectangle 156"/>
            <p:cNvSpPr/>
            <p:nvPr/>
          </p:nvSpPr>
          <p:spPr>
            <a:xfrm>
              <a:off x="7397496" y="7187184"/>
              <a:ext cx="6848856" cy="566928"/>
            </a:xfrm>
            <a:prstGeom prst="roundRect">
              <a:avLst>
                <a:gd name="adj" fmla="val 3000"/>
              </a:avLst>
            </a:prstGeom>
            <a:solidFill>
              <a:srgbClr val="FDEEE0"/>
            </a:solidFill>
            <a:ln w="12700">
              <a:solidFill>
                <a:srgbClr val="E86C1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7525512" y="7223760"/>
              <a:ext cx="4745736" cy="1538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33" b="1">
                  <a:solidFill>
                    <a:srgbClr val="0E1020"/>
                  </a:solidFill>
                  <a:latin typeface="Inter Medium"/>
                </a:rPr>
                <a:t>Wave 2 — the commercial layer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2234672" y="7223760"/>
              <a:ext cx="188366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08" b="1">
                  <a:solidFill>
                    <a:srgbClr val="E86C1F"/>
                  </a:solidFill>
                  <a:latin typeface="Inter Medium"/>
                </a:rPr>
                <a:t>15 of 50 business points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7525512" y="7406640"/>
              <a:ext cx="659282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 b="1">
                  <a:solidFill>
                    <a:srgbClr val="2B2E3B"/>
                  </a:solidFill>
                  <a:latin typeface="Inter Medium"/>
                </a:rPr>
                <a:t>03 Change order validation (10)   ·   04 Target cost against price (5)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7525512" y="7571231"/>
              <a:ext cx="6592824" cy="1307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08">
                  <a:solidFill>
                    <a:srgbClr val="5F6372"/>
                  </a:solidFill>
                  <a:latin typeface="Inter Light"/>
                </a:rPr>
                <a:t>Second — 03 re-bases the rules 01 applies, and 04 consumes cost that 01 has verified.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350521"/>
            <a:ext cx="8229600" cy="32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2083">
                <a:solidFill>
                  <a:srgbClr val="0E1020"/>
                </a:solidFill>
                <a:latin typeface="GT Standard L Extended"/>
              </a:rPr>
              <a:t>AI Governance — Scope and Deliverables</a:t>
            </a:r>
          </a:p>
        </p:txBody>
      </p:sp>
      <p:grpSp>
        <p:nvGrpSpPr>
          <p:cNvPr id="9" name="team AI Governance Lead"/>
          <p:cNvGrpSpPr/>
          <p:nvPr/>
        </p:nvGrpSpPr>
        <p:grpSpPr>
          <a:xfrm>
            <a:off x="320040" y="1467353"/>
            <a:ext cx="2807970" cy="563880"/>
            <a:chOff x="384048" y="932688"/>
            <a:chExt cx="3369564" cy="676656"/>
          </a:xfrm>
        </p:grpSpPr>
        <p:sp>
          <p:nvSpPr>
            <p:cNvPr id="5" name="Rounded Rectangle 4"/>
            <p:cNvSpPr/>
            <p:nvPr/>
          </p:nvSpPr>
          <p:spPr>
            <a:xfrm>
              <a:off x="384048" y="932688"/>
              <a:ext cx="3369564" cy="676656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12700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12064" y="996696"/>
              <a:ext cx="3113532" cy="1615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AI Governance Lead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2064" y="1216152"/>
              <a:ext cx="2235708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Owns the framework, the evidence and the gate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747772" y="1243584"/>
              <a:ext cx="87782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004AAC"/>
                  </a:solidFill>
                  <a:latin typeface="Inter Medium"/>
                </a:rPr>
                <a:t>116 days</a:t>
              </a:r>
            </a:p>
          </p:txBody>
        </p:sp>
      </p:grpSp>
      <p:grpSp>
        <p:nvGrpSpPr>
          <p:cNvPr id="14" name="team AI Governance Implementation Expert"/>
          <p:cNvGrpSpPr/>
          <p:nvPr/>
        </p:nvGrpSpPr>
        <p:grpSpPr>
          <a:xfrm>
            <a:off x="3234690" y="1467353"/>
            <a:ext cx="2807970" cy="563880"/>
            <a:chOff x="3881628" y="932688"/>
            <a:chExt cx="3369564" cy="676656"/>
          </a:xfrm>
        </p:grpSpPr>
        <p:sp>
          <p:nvSpPr>
            <p:cNvPr id="10" name="Rounded Rectangle 9"/>
            <p:cNvSpPr/>
            <p:nvPr/>
          </p:nvSpPr>
          <p:spPr>
            <a:xfrm>
              <a:off x="3881628" y="932688"/>
              <a:ext cx="3369564" cy="676656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12700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09644" y="996696"/>
              <a:ext cx="3113532" cy="1615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AI Governance Implementation Expert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09644" y="1216152"/>
              <a:ext cx="2235708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Builds the controls into the platform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45352" y="1243584"/>
              <a:ext cx="87782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2E7D52"/>
                  </a:solidFill>
                  <a:latin typeface="Inter Medium"/>
                </a:rPr>
                <a:t>Build team</a:t>
              </a:r>
            </a:p>
          </p:txBody>
        </p:sp>
      </p:grpSp>
      <p:grpSp>
        <p:nvGrpSpPr>
          <p:cNvPr id="19" name="team AI Security Lead"/>
          <p:cNvGrpSpPr/>
          <p:nvPr/>
        </p:nvGrpSpPr>
        <p:grpSpPr>
          <a:xfrm>
            <a:off x="6149340" y="1467353"/>
            <a:ext cx="2807970" cy="563880"/>
            <a:chOff x="7379208" y="932688"/>
            <a:chExt cx="3369564" cy="676656"/>
          </a:xfrm>
        </p:grpSpPr>
        <p:sp>
          <p:nvSpPr>
            <p:cNvPr id="15" name="Rounded Rectangle 14"/>
            <p:cNvSpPr/>
            <p:nvPr/>
          </p:nvSpPr>
          <p:spPr>
            <a:xfrm>
              <a:off x="7379208" y="932688"/>
              <a:ext cx="3369564" cy="676656"/>
            </a:xfrm>
            <a:prstGeom prst="roundRect">
              <a:avLst>
                <a:gd name="adj" fmla="val 4000"/>
              </a:avLst>
            </a:prstGeom>
            <a:solidFill>
              <a:srgbClr val="FAE8E8"/>
            </a:solidFill>
            <a:ln w="12700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07224" y="996696"/>
              <a:ext cx="3113532" cy="1615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AI Security Lead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507224" y="1216152"/>
              <a:ext cx="2235708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Cyber Centre controls, Defender and Sentinel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742932" y="1243584"/>
              <a:ext cx="87782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C0272D"/>
                  </a:solidFill>
                  <a:latin typeface="Inter Medium"/>
                </a:rPr>
                <a:t>Security team</a:t>
              </a:r>
            </a:p>
          </p:txBody>
        </p:sp>
      </p:grpSp>
      <p:grpSp>
        <p:nvGrpSpPr>
          <p:cNvPr id="24" name="team TI Corp Governance Forum"/>
          <p:cNvGrpSpPr/>
          <p:nvPr/>
        </p:nvGrpSpPr>
        <p:grpSpPr>
          <a:xfrm>
            <a:off x="9063990" y="1467353"/>
            <a:ext cx="2807970" cy="563880"/>
            <a:chOff x="10876788" y="932688"/>
            <a:chExt cx="3369564" cy="676656"/>
          </a:xfrm>
        </p:grpSpPr>
        <p:sp>
          <p:nvSpPr>
            <p:cNvPr id="20" name="Rounded Rectangle 19"/>
            <p:cNvSpPr/>
            <p:nvPr/>
          </p:nvSpPr>
          <p:spPr>
            <a:xfrm>
              <a:off x="10876788" y="932688"/>
              <a:ext cx="3369564" cy="676656"/>
            </a:xfrm>
            <a:prstGeom prst="roundRect">
              <a:avLst>
                <a:gd name="adj" fmla="val 4000"/>
              </a:avLst>
            </a:prstGeom>
            <a:solidFill>
              <a:srgbClr val="F2EAE3"/>
            </a:solidFill>
            <a:ln w="12700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004804" y="996696"/>
              <a:ext cx="3113532" cy="1615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875" b="1">
                  <a:solidFill>
                    <a:srgbClr val="0E1020"/>
                  </a:solidFill>
                  <a:latin typeface="Inter Medium"/>
                </a:rPr>
                <a:t>TI Corp Governance Forum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004804" y="1216152"/>
              <a:ext cx="2235708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5F6372"/>
                  </a:solidFill>
                  <a:latin typeface="Inter Light"/>
                </a:rPr>
                <a:t>Accountable — approves policy, rules and go-live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3240512" y="1243584"/>
              <a:ext cx="877824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7A4A2B"/>
                  </a:solidFill>
                  <a:latin typeface="Inter Medium"/>
                </a:rPr>
                <a:t>Customer</a:t>
              </a:r>
            </a:p>
          </p:txBody>
        </p:sp>
      </p:grpSp>
      <p:cxnSp>
        <p:nvCxnSpPr>
          <p:cNvPr id="25" name="Connector 24"/>
          <p:cNvCxnSpPr/>
          <p:nvPr/>
        </p:nvCxnSpPr>
        <p:spPr>
          <a:xfrm>
            <a:off x="548640" y="2320793"/>
            <a:ext cx="11094720" cy="0"/>
          </a:xfrm>
          <a:prstGeom prst="line">
            <a:avLst/>
          </a:prstGeom>
          <a:ln w="19050">
            <a:solidFill>
              <a:srgbClr val="DFD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phase Mobilise and assess"/>
          <p:cNvGrpSpPr/>
          <p:nvPr/>
        </p:nvGrpSpPr>
        <p:grpSpPr>
          <a:xfrm>
            <a:off x="320040" y="2221733"/>
            <a:ext cx="2212848" cy="3726181"/>
            <a:chOff x="384048" y="1837943"/>
            <a:chExt cx="2655417" cy="4471417"/>
          </a:xfrm>
        </p:grpSpPr>
        <p:sp>
          <p:nvSpPr>
            <p:cNvPr id="26" name="Rounded Rectangle 25"/>
            <p:cNvSpPr/>
            <p:nvPr/>
          </p:nvSpPr>
          <p:spPr>
            <a:xfrm>
              <a:off x="1592884" y="1837943"/>
              <a:ext cx="237744" cy="237744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92885" y="1879909"/>
              <a:ext cx="237744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1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84048" y="2157984"/>
              <a:ext cx="2655417" cy="41513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84048" y="2157984"/>
              <a:ext cx="2655417" cy="603504"/>
            </a:xfrm>
            <a:prstGeom prst="roundRect">
              <a:avLst>
                <a:gd name="adj" fmla="val 4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84048" y="2615184"/>
              <a:ext cx="2655417" cy="146304"/>
            </a:xfrm>
            <a:prstGeom prst="roundRect">
              <a:avLst>
                <a:gd name="adj" fmla="val 6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352" y="2212848"/>
              <a:ext cx="1594713" cy="163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Mobilise and assess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051913" y="2231136"/>
              <a:ext cx="8412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Wk 1-4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0352" y="2871216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WHAT WE DO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39496" y="31272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6656" y="30632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Stand up the governance forum, RACI and decision rights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39496" y="35844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6656" y="35204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Map every RFP obligation to the control that satisfies it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39496" y="4041647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E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6656" y="3977639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Assess against BC Gov AI policy and the Cyber Centre top 10</a:t>
              </a:r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530352" y="4535424"/>
              <a:ext cx="2362809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530352" y="4626864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WHAT TI CORP GETS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530352" y="4828032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21792" y="4978624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Obligation-to-control matrix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30352" y="5321808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1792" y="5472400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Gap register with named owners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530352" y="5815584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7E9F0"/>
            </a:solidFill>
            <a:ln w="9525">
              <a:solidFill>
                <a:srgbClr val="0E102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1792" y="5892770"/>
              <a:ext cx="2179929" cy="2845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AI risk and capability limitations statement</a:t>
              </a:r>
            </a:p>
          </p:txBody>
        </p:sp>
      </p:grpSp>
      <p:grpSp>
        <p:nvGrpSpPr>
          <p:cNvPr id="73" name="phase Framework and policy"/>
          <p:cNvGrpSpPr/>
          <p:nvPr/>
        </p:nvGrpSpPr>
        <p:grpSpPr>
          <a:xfrm>
            <a:off x="2654808" y="2221733"/>
            <a:ext cx="2212848" cy="3726181"/>
            <a:chOff x="3185769" y="1837943"/>
            <a:chExt cx="2655417" cy="4471417"/>
          </a:xfrm>
        </p:grpSpPr>
        <p:sp>
          <p:nvSpPr>
            <p:cNvPr id="50" name="Rounded Rectangle 49"/>
            <p:cNvSpPr/>
            <p:nvPr/>
          </p:nvSpPr>
          <p:spPr>
            <a:xfrm>
              <a:off x="4394606" y="1837943"/>
              <a:ext cx="237744" cy="237744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394606" y="1879909"/>
              <a:ext cx="237744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2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185769" y="2157984"/>
              <a:ext cx="2655417" cy="41513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185769" y="2157984"/>
              <a:ext cx="2655417" cy="603504"/>
            </a:xfrm>
            <a:prstGeom prst="roundRect">
              <a:avLst>
                <a:gd name="adj" fmla="val 4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3185769" y="2615184"/>
              <a:ext cx="2655417" cy="146304"/>
            </a:xfrm>
            <a:prstGeom prst="roundRect">
              <a:avLst>
                <a:gd name="adj" fmla="val 6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332073" y="2212848"/>
              <a:ext cx="1594713" cy="163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Framework and policy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853635" y="2231136"/>
              <a:ext cx="8412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Wk 3-10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332073" y="2871216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WHAT WE DO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3341217" y="31272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478377" y="30632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Author the AI policy set — model use, oversight, incident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3341217" y="35844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78377" y="35204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Set the automation and human-review boundary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3341217" y="4041647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004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478377" y="3977639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Define traceability, reason and change-control standards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3332073" y="4535424"/>
              <a:ext cx="236281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3332073" y="4626864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004AAC"/>
                  </a:solidFill>
                  <a:latin typeface="Inter Medium"/>
                </a:rPr>
                <a:t>WHAT TI CORP GETS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3332073" y="4828032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952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423513" y="4978624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AI governance framework and policies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332073" y="5321808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952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423513" y="5398994"/>
              <a:ext cx="2179929" cy="2845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Stated straight-through automation position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3332073" y="5815584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3ECFA"/>
            </a:solidFill>
            <a:ln w="9525">
              <a:solidFill>
                <a:srgbClr val="004AA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423513" y="5966176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Traceability and reason standards</a:t>
              </a:r>
            </a:p>
          </p:txBody>
        </p:sp>
      </p:grpSp>
      <p:grpSp>
        <p:nvGrpSpPr>
          <p:cNvPr id="97" name="phase Control build"/>
          <p:cNvGrpSpPr/>
          <p:nvPr/>
        </p:nvGrpSpPr>
        <p:grpSpPr>
          <a:xfrm>
            <a:off x="4989576" y="2221733"/>
            <a:ext cx="2212848" cy="3726181"/>
            <a:chOff x="5987491" y="1837943"/>
            <a:chExt cx="2655417" cy="4471417"/>
          </a:xfrm>
        </p:grpSpPr>
        <p:sp>
          <p:nvSpPr>
            <p:cNvPr id="74" name="Rounded Rectangle 73"/>
            <p:cNvSpPr/>
            <p:nvPr/>
          </p:nvSpPr>
          <p:spPr>
            <a:xfrm>
              <a:off x="7196328" y="1837943"/>
              <a:ext cx="237744" cy="237744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96328" y="1879909"/>
              <a:ext cx="237744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3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5987491" y="2157984"/>
              <a:ext cx="2655417" cy="41513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5987491" y="2157984"/>
              <a:ext cx="2655417" cy="603504"/>
            </a:xfrm>
            <a:prstGeom prst="roundRect">
              <a:avLst>
                <a:gd name="adj" fmla="val 4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5987491" y="2615184"/>
              <a:ext cx="2655417" cy="146304"/>
            </a:xfrm>
            <a:prstGeom prst="roundRect">
              <a:avLst>
                <a:gd name="adj" fmla="val 6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6133795" y="2212848"/>
              <a:ext cx="1594713" cy="163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Control build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655356" y="2231136"/>
              <a:ext cx="8412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Wk 8-18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6133795" y="2871216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WHAT WE DO</a:t>
              </a: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6142939" y="31272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280099" y="30632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Turn residency and key commitments into deny policies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6142939" y="35844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280099" y="35204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Wire evaluations and content safety into the release gate</a:t>
              </a: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6142939" y="4041647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2E7D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280099" y="3977639"/>
              <a:ext cx="2216505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Build the governance observability layer</a:t>
              </a:r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6133795" y="4535424"/>
              <a:ext cx="2362809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6133795" y="4626864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2E7D52"/>
                  </a:solidFill>
                  <a:latin typeface="Inter Medium"/>
                </a:rPr>
                <a:t>WHAT TI CORP GETS</a:t>
              </a:r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6133795" y="4828032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952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225235" y="4978624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Azure Policy initiative, as code</a:t>
              </a:r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6133795" y="5321808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952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225235" y="5472400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Evaluation gate on every release</a:t>
              </a:r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6133795" y="5815584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E5F1EA"/>
            </a:solidFill>
            <a:ln w="9525">
              <a:solidFill>
                <a:srgbClr val="2E7D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225235" y="5966176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Governance dashboards and alerts</a:t>
              </a:r>
            </a:p>
          </p:txBody>
        </p:sp>
      </p:grpSp>
      <p:grpSp>
        <p:nvGrpSpPr>
          <p:cNvPr id="121" name="phase Model and rule assurance"/>
          <p:cNvGrpSpPr/>
          <p:nvPr/>
        </p:nvGrpSpPr>
        <p:grpSpPr>
          <a:xfrm>
            <a:off x="7324344" y="2221733"/>
            <a:ext cx="2212848" cy="3726181"/>
            <a:chOff x="8789212" y="1837943"/>
            <a:chExt cx="2655417" cy="4471417"/>
          </a:xfrm>
        </p:grpSpPr>
        <p:sp>
          <p:nvSpPr>
            <p:cNvPr id="98" name="Rounded Rectangle 97"/>
            <p:cNvSpPr/>
            <p:nvPr/>
          </p:nvSpPr>
          <p:spPr>
            <a:xfrm>
              <a:off x="9998049" y="1837943"/>
              <a:ext cx="237744" cy="237744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9998049" y="1879909"/>
              <a:ext cx="237744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4</a:t>
              </a:r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8789212" y="2157984"/>
              <a:ext cx="2655417" cy="41513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8789212" y="2157984"/>
              <a:ext cx="2655417" cy="603504"/>
            </a:xfrm>
            <a:prstGeom prst="roundRect">
              <a:avLst>
                <a:gd name="adj" fmla="val 4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8789212" y="2615184"/>
              <a:ext cx="2655417" cy="146304"/>
            </a:xfrm>
            <a:prstGeom prst="roundRect">
              <a:avLst>
                <a:gd name="adj" fmla="val 6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935516" y="2212848"/>
              <a:ext cx="1594713" cy="336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Model and rule assurance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0457078" y="2231136"/>
              <a:ext cx="8412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Wk 12-26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935516" y="2871216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WHAT WE DO</a:t>
              </a:r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8944660" y="31272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9081820" y="30632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Build and ratify the golden set with TI Corp SMEs</a:t>
              </a: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8944660" y="35844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9081820" y="35204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Prove reproducibility and clause-cited reasons</a:t>
              </a:r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8944660" y="4041647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7A4A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9081820" y="3977639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Back-test the rules and red-team the agents</a:t>
              </a:r>
            </a:p>
          </p:txBody>
        </p:sp>
        <p:cxnSp>
          <p:nvCxnSpPr>
            <p:cNvPr id="113" name="Connector 112"/>
            <p:cNvCxnSpPr/>
            <p:nvPr/>
          </p:nvCxnSpPr>
          <p:spPr>
            <a:xfrm>
              <a:off x="8935516" y="4535424"/>
              <a:ext cx="236281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/>
            <p:cNvSpPr txBox="1"/>
            <p:nvPr/>
          </p:nvSpPr>
          <p:spPr>
            <a:xfrm>
              <a:off x="8935516" y="4626864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7A4A2B"/>
                  </a:solidFill>
                  <a:latin typeface="Inter Medium"/>
                </a:rPr>
                <a:t>WHAT TI CORP GETS</a:t>
              </a:r>
            </a:p>
          </p:txBody>
        </p:sp>
        <p:sp>
          <p:nvSpPr>
            <p:cNvPr id="115" name="Rounded Rectangle 114"/>
            <p:cNvSpPr/>
            <p:nvPr/>
          </p:nvSpPr>
          <p:spPr>
            <a:xfrm>
              <a:off x="8935516" y="4828032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F2EAE3"/>
            </a:solidFill>
            <a:ln w="9525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9026956" y="4978624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Ratified golden evaluation set</a:t>
              </a: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8935516" y="5321808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F2EAE3"/>
            </a:solidFill>
            <a:ln w="9525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026956" y="5472400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Reproducibility and reason evidence</a:t>
              </a: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8935516" y="5815584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F2EAE3"/>
            </a:solidFill>
            <a:ln w="9525">
              <a:solidFill>
                <a:srgbClr val="7A4A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026956" y="5966176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Red-team findings closed or accepted</a:t>
              </a:r>
            </a:p>
          </p:txBody>
        </p:sp>
      </p:grpSp>
      <p:grpSp>
        <p:nvGrpSpPr>
          <p:cNvPr id="145" name="phase Evidence and go-live"/>
          <p:cNvGrpSpPr/>
          <p:nvPr/>
        </p:nvGrpSpPr>
        <p:grpSpPr>
          <a:xfrm>
            <a:off x="9659112" y="2221733"/>
            <a:ext cx="2212848" cy="3726181"/>
            <a:chOff x="11590934" y="1837943"/>
            <a:chExt cx="2655417" cy="4471417"/>
          </a:xfrm>
        </p:grpSpPr>
        <p:sp>
          <p:nvSpPr>
            <p:cNvPr id="122" name="Rounded Rectangle 121"/>
            <p:cNvSpPr/>
            <p:nvPr/>
          </p:nvSpPr>
          <p:spPr>
            <a:xfrm>
              <a:off x="12799771" y="1837943"/>
              <a:ext cx="237744" cy="237744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2799771" y="1879909"/>
              <a:ext cx="237744" cy="1538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Aft>
                  <a:spcPts val="167"/>
                </a:spcAft>
              </a:pPr>
              <a:r>
                <a:rPr sz="833" b="1">
                  <a:solidFill>
                    <a:srgbClr val="FFFFFF"/>
                  </a:solidFill>
                  <a:latin typeface="Inter Medium"/>
                </a:rPr>
                <a:t>5</a:t>
              </a: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11590934" y="2157984"/>
              <a:ext cx="2655417" cy="4151376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5D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5" name="Rounded Rectangle 124"/>
            <p:cNvSpPr/>
            <p:nvPr/>
          </p:nvSpPr>
          <p:spPr>
            <a:xfrm>
              <a:off x="11590934" y="2157984"/>
              <a:ext cx="2655417" cy="603504"/>
            </a:xfrm>
            <a:prstGeom prst="roundRect">
              <a:avLst>
                <a:gd name="adj" fmla="val 4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6" name="Rounded Rectangle 125"/>
            <p:cNvSpPr/>
            <p:nvPr/>
          </p:nvSpPr>
          <p:spPr>
            <a:xfrm>
              <a:off x="11590934" y="2615184"/>
              <a:ext cx="2655417" cy="146304"/>
            </a:xfrm>
            <a:prstGeom prst="roundRect">
              <a:avLst>
                <a:gd name="adj" fmla="val 6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1737238" y="2212848"/>
              <a:ext cx="1594713" cy="16327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2000"/>
                </a:lnSpc>
                <a:spcAft>
                  <a:spcPts val="167"/>
                </a:spcAft>
              </a:pPr>
              <a:r>
                <a:rPr sz="917" b="1">
                  <a:solidFill>
                    <a:srgbClr val="FFFFFF"/>
                  </a:solidFill>
                  <a:latin typeface="Inter Medium"/>
                </a:rPr>
                <a:t>Evidence and go-live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3258800" y="2231136"/>
              <a:ext cx="841248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spcAft>
                  <a:spcPts val="167"/>
                </a:spcAft>
              </a:pPr>
              <a:r>
                <a:rPr sz="750" b="1">
                  <a:solidFill>
                    <a:srgbClr val="FFFFFF"/>
                  </a:solidFill>
                  <a:latin typeface="Inter Medium"/>
                </a:rPr>
                <a:t>Wk 20-30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1737238" y="2871216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5F6372"/>
                  </a:solidFill>
                  <a:latin typeface="Inter Medium"/>
                </a:rPr>
                <a:t>WHAT WE DO</a:t>
              </a:r>
            </a:p>
          </p:txBody>
        </p:sp>
        <p:sp>
          <p:nvSpPr>
            <p:cNvPr id="131" name="Rounded Rectangle 130"/>
            <p:cNvSpPr/>
            <p:nvPr/>
          </p:nvSpPr>
          <p:spPr>
            <a:xfrm>
              <a:off x="11746382" y="31272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1883542" y="3063240"/>
              <a:ext cx="2216505" cy="284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Assemble the evidence pack for audit and oversight</a:t>
              </a:r>
            </a:p>
          </p:txBody>
        </p:sp>
        <p:sp>
          <p:nvSpPr>
            <p:cNvPr id="133" name="Rounded Rectangle 132"/>
            <p:cNvSpPr/>
            <p:nvPr/>
          </p:nvSpPr>
          <p:spPr>
            <a:xfrm>
              <a:off x="11746382" y="3584448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1883542" y="3520440"/>
              <a:ext cx="2216505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Sign off Appendix D privacy and security</a:t>
              </a:r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11746382" y="4041647"/>
              <a:ext cx="64008" cy="64008"/>
            </a:xfrm>
            <a:prstGeom prst="roundRect">
              <a:avLst>
                <a:gd name="adj" fmla="val 50000"/>
              </a:avLst>
            </a:prstGeom>
            <a:solidFill>
              <a:srgbClr val="C027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1883542" y="3977639"/>
              <a:ext cx="2216505" cy="1377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>
                  <a:solidFill>
                    <a:srgbClr val="2B2E3B"/>
                  </a:solidFill>
                  <a:latin typeface="Inter Light"/>
                </a:rPr>
                <a:t>Prove portability and train the reviewers</a:t>
              </a:r>
            </a:p>
          </p:txBody>
        </p:sp>
        <p:cxnSp>
          <p:nvCxnSpPr>
            <p:cNvPr id="137" name="Connector 136"/>
            <p:cNvCxnSpPr/>
            <p:nvPr/>
          </p:nvCxnSpPr>
          <p:spPr>
            <a:xfrm>
              <a:off x="11737238" y="4535424"/>
              <a:ext cx="2362810" cy="0"/>
            </a:xfrm>
            <a:prstGeom prst="line">
              <a:avLst/>
            </a:prstGeom>
            <a:ln w="11430">
              <a:solidFill>
                <a:srgbClr val="D5D1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/>
            <p:nvPr/>
          </p:nvSpPr>
          <p:spPr>
            <a:xfrm>
              <a:off x="11737238" y="4626864"/>
              <a:ext cx="2362809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spcAft>
                  <a:spcPts val="167"/>
                </a:spcAft>
              </a:pPr>
              <a:r>
                <a:rPr sz="750" b="1">
                  <a:solidFill>
                    <a:srgbClr val="C0272D"/>
                  </a:solidFill>
                  <a:latin typeface="Inter Medium"/>
                </a:rPr>
                <a:t>WHAT TI CORP GETS</a:t>
              </a:r>
            </a:p>
          </p:txBody>
        </p:sp>
        <p:sp>
          <p:nvSpPr>
            <p:cNvPr id="139" name="Rounded Rectangle 138"/>
            <p:cNvSpPr/>
            <p:nvPr/>
          </p:nvSpPr>
          <p:spPr>
            <a:xfrm>
              <a:off x="11737238" y="4828032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FAE8E8"/>
            </a:solidFill>
            <a:ln w="9525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1828678" y="4978624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AI governance evidence pack</a:t>
              </a:r>
            </a:p>
          </p:txBody>
        </p:sp>
        <p:sp>
          <p:nvSpPr>
            <p:cNvPr id="141" name="Rounded Rectangle 140"/>
            <p:cNvSpPr/>
            <p:nvPr/>
          </p:nvSpPr>
          <p:spPr>
            <a:xfrm>
              <a:off x="11737238" y="5321808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FAE8E8"/>
            </a:solidFill>
            <a:ln w="9525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1828678" y="5398994"/>
              <a:ext cx="2179929" cy="28453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Appendix D privacy and security sign-off</a:t>
              </a:r>
            </a:p>
          </p:txBody>
        </p:sp>
        <p:sp>
          <p:nvSpPr>
            <p:cNvPr id="143" name="Rounded Rectangle 142"/>
            <p:cNvSpPr/>
            <p:nvPr/>
          </p:nvSpPr>
          <p:spPr>
            <a:xfrm>
              <a:off x="11737238" y="5815584"/>
              <a:ext cx="2362809" cy="438912"/>
            </a:xfrm>
            <a:prstGeom prst="roundRect">
              <a:avLst>
                <a:gd name="adj" fmla="val 4000"/>
              </a:avLst>
            </a:prstGeom>
            <a:solidFill>
              <a:srgbClr val="FAE8E8"/>
            </a:solidFill>
            <a:ln w="9525">
              <a:solidFill>
                <a:srgbClr val="C027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0960" rIns="60960" rtlCol="0" anchor="ctr"/>
            <a:lstStyle/>
            <a:p>
              <a:pPr algn="ctr"/>
              <a:endParaRPr sz="1500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1828678" y="5966176"/>
              <a:ext cx="2179929" cy="13773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6000"/>
                </a:lnSpc>
                <a:spcAft>
                  <a:spcPts val="167"/>
                </a:spcAft>
              </a:pPr>
              <a:r>
                <a:rPr sz="750" b="1">
                  <a:solidFill>
                    <a:srgbClr val="0E1020"/>
                  </a:solidFill>
                  <a:latin typeface="Inter Medium"/>
                </a:rPr>
                <a:t>Go or no-go governance gate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4F5A-8BD1-684D-9CF8-4F956D0D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724293C-6D03-478A-8345-AF960092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45" y="604784"/>
            <a:ext cx="11407509" cy="914400"/>
          </a:xfrm>
        </p:spPr>
        <p:txBody>
          <a:bodyPr/>
          <a:lstStyle/>
          <a:p>
            <a:r>
              <a:rPr lang="en-IN" sz="2600"/>
              <a:t>Team Structure &amp; Engagement Model</a:t>
            </a:r>
            <a:endParaRPr lang="en-US" sz="2600"/>
          </a:p>
        </p:txBody>
      </p:sp>
      <p:pic>
        <p:nvPicPr>
          <p:cNvPr id="50" name="Picture 49" descr="A orange and black infinity symbol&#10;&#10;AI-generated content may be incorrect.">
            <a:extLst>
              <a:ext uri="{FF2B5EF4-FFF2-40B4-BE49-F238E27FC236}">
                <a16:creationId xmlns:a16="http://schemas.microsoft.com/office/drawing/2014/main" id="{1D80A6BA-D678-CFC4-DFA6-D14074124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555" y="1696615"/>
            <a:ext cx="1395764" cy="389515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5E01220-8107-3224-2DEA-DA1F383A7686}"/>
              </a:ext>
            </a:extLst>
          </p:cNvPr>
          <p:cNvCxnSpPr>
            <a:cxnSpLocks/>
            <a:stCxn id="90" idx="2"/>
            <a:endCxn id="91" idx="3"/>
          </p:cNvCxnSpPr>
          <p:nvPr/>
        </p:nvCxnSpPr>
        <p:spPr>
          <a:xfrm rot="5400000">
            <a:off x="2983870" y="2348025"/>
            <a:ext cx="434276" cy="495317"/>
          </a:xfrm>
          <a:prstGeom prst="bentConnector2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961D773-F84B-7304-771E-B6B8E3870360}"/>
              </a:ext>
            </a:extLst>
          </p:cNvPr>
          <p:cNvCxnSpPr>
            <a:cxnSpLocks/>
            <a:stCxn id="90" idx="2"/>
            <a:endCxn id="92" idx="3"/>
          </p:cNvCxnSpPr>
          <p:nvPr/>
        </p:nvCxnSpPr>
        <p:spPr>
          <a:xfrm rot="5400000">
            <a:off x="2683348" y="2648547"/>
            <a:ext cx="1035320" cy="495317"/>
          </a:xfrm>
          <a:prstGeom prst="bentConnector2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8E349BF-ED4B-9824-8AEC-290063768AB5}"/>
              </a:ext>
            </a:extLst>
          </p:cNvPr>
          <p:cNvCxnSpPr>
            <a:cxnSpLocks/>
            <a:stCxn id="90" idx="2"/>
            <a:endCxn id="93" idx="3"/>
          </p:cNvCxnSpPr>
          <p:nvPr/>
        </p:nvCxnSpPr>
        <p:spPr>
          <a:xfrm rot="5400000">
            <a:off x="2382828" y="2949068"/>
            <a:ext cx="1636362" cy="495318"/>
          </a:xfrm>
          <a:prstGeom prst="bentConnector2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A5C802-65D1-5EF1-DFEE-7B55236CD03D}"/>
              </a:ext>
            </a:extLst>
          </p:cNvPr>
          <p:cNvSpPr txBox="1"/>
          <p:nvPr/>
        </p:nvSpPr>
        <p:spPr>
          <a:xfrm>
            <a:off x="3465303" y="2465864"/>
            <a:ext cx="2277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61879">
              <a:lnSpc>
                <a:spcPct val="90000"/>
              </a:lnSpc>
              <a:spcAft>
                <a:spcPts val="333"/>
              </a:spcAft>
            </a:pPr>
            <a:r>
              <a:rPr lang="en-US" sz="1000" i="1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Maintain alignment on project </a:t>
            </a:r>
          </a:p>
          <a:p>
            <a:pPr defTabSz="761879">
              <a:lnSpc>
                <a:spcPct val="90000"/>
              </a:lnSpc>
              <a:spcAft>
                <a:spcPts val="333"/>
              </a:spcAft>
            </a:pPr>
            <a:r>
              <a:rPr lang="en-US" sz="1000" i="1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objectives and serve as escalation</a:t>
            </a:r>
          </a:p>
          <a:p>
            <a:pPr defTabSz="761879">
              <a:lnSpc>
                <a:spcPct val="90000"/>
              </a:lnSpc>
              <a:spcAft>
                <a:spcPts val="333"/>
              </a:spcAft>
            </a:pPr>
            <a:r>
              <a:rPr lang="en-US" sz="1000" i="1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point for TIC and DXC Staff</a:t>
            </a:r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C38C5142-DEE2-9DE4-8663-070AC3183012}"/>
              </a:ext>
            </a:extLst>
          </p:cNvPr>
          <p:cNvSpPr/>
          <p:nvPr/>
        </p:nvSpPr>
        <p:spPr>
          <a:xfrm>
            <a:off x="3873118" y="3212982"/>
            <a:ext cx="1355877" cy="471679"/>
          </a:xfrm>
          <a:prstGeom prst="leftRightArrow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15879"/>
            <a:endParaRPr lang="en-US" sz="1000">
              <a:solidFill>
                <a:srgbClr val="FFFFFF"/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177B35F5-C088-226A-4D3E-B855B24AC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166" y="1749610"/>
            <a:ext cx="1905000" cy="62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TIC Program Lead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E464030-91D9-0747-7BBD-A5ABF1106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349" y="2598035"/>
            <a:ext cx="1905000" cy="4295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TIC AI Governance Lead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27B0B292-2F59-ECDC-47D0-A4DE1DB79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349" y="3199079"/>
            <a:ext cx="1905000" cy="4295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TIC Enterprise Architect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013B2FB-40E5-8661-23D8-F9513D1C3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349" y="3800123"/>
            <a:ext cx="1905000" cy="4295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TIC Business SMEs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8AB0527-BC6F-5EAF-35C3-1DC392F4DDDC}"/>
              </a:ext>
            </a:extLst>
          </p:cNvPr>
          <p:cNvCxnSpPr>
            <a:cxnSpLocks/>
          </p:cNvCxnSpPr>
          <p:nvPr/>
        </p:nvCxnSpPr>
        <p:spPr>
          <a:xfrm>
            <a:off x="9202786" y="1647512"/>
            <a:ext cx="0" cy="0"/>
          </a:xfrm>
          <a:prstGeom prst="lin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8626098-5DC1-164A-FB6F-183B38C3A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313" y="2551847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AI Architect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2748E2-2047-6180-8EE4-13BD5BA27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313" y="2951149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Business Analyst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EC66D7-8893-F714-51E5-4BD7A5ECF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504" y="3755214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AI Governance Lead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D1E364-582A-98BD-D6A7-DF735D477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313" y="3355913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Data Architect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14AF5D3-7918-80F7-5356-E59AA6736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313" y="4154514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AI Engineers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E280C44-8EA5-3E7B-0E41-ABAD2DD5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504" y="4553818"/>
            <a:ext cx="1905000" cy="2667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Data Engineers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7A72AC-969E-E80B-1748-2E73D34EA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802" y="2558879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Platform Architect / Lead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DF1745A-E36C-1AE6-F660-81DE10758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802" y="2966794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Platform Engineer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CA61A3E-B5FD-003B-8018-5366333CE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802" y="3782623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Security Engineer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0D6A7F4-8E2B-CA77-4FDA-F43EDA4D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611" y="3374709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DevOps Engineer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2FED56-6FA9-87D0-375D-9BED9DFA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611" y="4190538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Platform Ops Engineer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E46876-59CB-5ABE-0028-D9A333FFB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349" y="4418118"/>
            <a:ext cx="1905000" cy="4295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TIC Technology SMEs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4CFEF71-4132-6429-87C7-044421472496}"/>
              </a:ext>
            </a:extLst>
          </p:cNvPr>
          <p:cNvCxnSpPr>
            <a:cxnSpLocks/>
            <a:endCxn id="9" idx="3"/>
          </p:cNvCxnSpPr>
          <p:nvPr/>
        </p:nvCxnSpPr>
        <p:spPr>
          <a:xfrm rot="5400000">
            <a:off x="2073829" y="3258066"/>
            <a:ext cx="2254358" cy="495317"/>
          </a:xfrm>
          <a:prstGeom prst="bentConnector2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1DC37324-188F-0B5E-6EDE-B4271E933080}"/>
              </a:ext>
            </a:extLst>
          </p:cNvPr>
          <p:cNvSpPr/>
          <p:nvPr/>
        </p:nvSpPr>
        <p:spPr>
          <a:xfrm>
            <a:off x="0" y="6000215"/>
            <a:ext cx="12192000" cy="445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Current Staffing includes DXC Advanced Solution, DXC CES &amp; GIS with Onshore from Canada and offshore India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56E6FC-2282-59CE-9493-10C1BF8D3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658797"/>
            <a:ext cx="1905000" cy="62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Program Manager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EA3359E-AEA3-46D2-832F-B5AA55D0EC88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 rot="16200000" flipH="1">
            <a:off x="7770599" y="1565632"/>
            <a:ext cx="264115" cy="17083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4B77D4A-32F4-0D0D-1C90-6C81BD731FAF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 rot="5400000">
            <a:off x="6741828" y="2252206"/>
            <a:ext cx="271147" cy="3421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AD593D7-5E47-5230-8ED6-005B4A1C6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5504" y="4929442"/>
            <a:ext cx="1905000" cy="2667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QA / Test Engineers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D598598-8B59-C030-EFF7-9F3686365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2102" y="2558841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Full stack Architect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D94B0C-E4D3-7C40-8DED-1871D1C4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2102" y="3775254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Automation Engineer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B21E896-9ABE-5D23-CDED-52323A876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0911" y="3375953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Backend Engineer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DABC8A2-6B71-B4D5-2654-CC13246E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0911" y="4174554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Integration Engineers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F262922-A8AA-241F-A14F-3A336FC42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2102" y="4573858"/>
            <a:ext cx="1905000" cy="2667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QA / Test Engineers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282F608-2A4E-E09D-FD3F-90D84E9F2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2102" y="2976652"/>
            <a:ext cx="1905000" cy="29340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UI/UX Engineer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C8B9C75-9138-F2AB-02A0-554301C770BE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 rot="16200000" flipH="1">
            <a:off x="8845997" y="490235"/>
            <a:ext cx="271109" cy="3866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40502A6-FE78-AA71-021A-8232D7D3B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0563" y="1653534"/>
            <a:ext cx="1905000" cy="6289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rgbClr val="FFC000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Offshore PM / Scrum Masters</a:t>
            </a:r>
          </a:p>
        </p:txBody>
      </p:sp>
      <p:pic>
        <p:nvPicPr>
          <p:cNvPr id="47" name="Picture 46" descr="Top Employer: Transportation Investment Corporation">
            <a:extLst>
              <a:ext uri="{FF2B5EF4-FFF2-40B4-BE49-F238E27FC236}">
                <a16:creationId xmlns:a16="http://schemas.microsoft.com/office/drawing/2014/main" id="{07EAC2CA-B4B1-7A71-6828-7406F6C1A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96" y="1607893"/>
            <a:ext cx="1515253" cy="563485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99A5B51-495A-87F2-55CF-C59CA55F7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349" y="5035427"/>
            <a:ext cx="1905000" cy="42957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61879"/>
            <a:r>
              <a:rPr lang="en-US" sz="1000">
                <a:solidFill>
                  <a:srgbClr val="000000"/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Contractor Data Owners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98D2A3E-EFD8-1D77-87A9-FBFA8C49A4D9}"/>
              </a:ext>
            </a:extLst>
          </p:cNvPr>
          <p:cNvCxnSpPr>
            <a:cxnSpLocks/>
            <a:stCxn id="90" idx="2"/>
            <a:endCxn id="51" idx="3"/>
          </p:cNvCxnSpPr>
          <p:nvPr/>
        </p:nvCxnSpPr>
        <p:spPr>
          <a:xfrm rot="5400000">
            <a:off x="1765174" y="3566721"/>
            <a:ext cx="2871668" cy="495317"/>
          </a:xfrm>
          <a:prstGeom prst="bentConnector2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058F20AA-9229-5ED2-A692-7F374BD19EEE}"/>
              </a:ext>
            </a:extLst>
          </p:cNvPr>
          <p:cNvSpPr/>
          <p:nvPr/>
        </p:nvSpPr>
        <p:spPr>
          <a:xfrm>
            <a:off x="10185563" y="854565"/>
            <a:ext cx="226520" cy="1720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26C8604-137F-917C-6897-1AA3D765A0F8}"/>
              </a:ext>
            </a:extLst>
          </p:cNvPr>
          <p:cNvSpPr/>
          <p:nvPr/>
        </p:nvSpPr>
        <p:spPr>
          <a:xfrm>
            <a:off x="10185563" y="1068273"/>
            <a:ext cx="226520" cy="1720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15DA1C-F108-6B32-0E49-43C4431ABE24}"/>
              </a:ext>
            </a:extLst>
          </p:cNvPr>
          <p:cNvSpPr/>
          <p:nvPr/>
        </p:nvSpPr>
        <p:spPr>
          <a:xfrm>
            <a:off x="10185563" y="1281981"/>
            <a:ext cx="226520" cy="17201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err="1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D030E8-7C60-B8AB-59C2-E08AD6698C68}"/>
              </a:ext>
            </a:extLst>
          </p:cNvPr>
          <p:cNvSpPr txBox="1"/>
          <p:nvPr/>
        </p:nvSpPr>
        <p:spPr>
          <a:xfrm>
            <a:off x="10412083" y="827865"/>
            <a:ext cx="12237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9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Platform &amp; Security</a:t>
            </a:r>
            <a:endParaRPr lang="en-US" sz="90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096C4A-B750-3556-314A-37BD1AA0E276}"/>
              </a:ext>
            </a:extLst>
          </p:cNvPr>
          <p:cNvSpPr txBox="1"/>
          <p:nvPr/>
        </p:nvSpPr>
        <p:spPr>
          <a:xfrm>
            <a:off x="10412083" y="1031841"/>
            <a:ext cx="12237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9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EDI</a:t>
            </a:r>
            <a:endParaRPr lang="en-US" sz="90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6FA64D-E59D-99CC-8CFF-F136785212D8}"/>
              </a:ext>
            </a:extLst>
          </p:cNvPr>
          <p:cNvSpPr txBox="1"/>
          <p:nvPr/>
        </p:nvSpPr>
        <p:spPr>
          <a:xfrm>
            <a:off x="10412083" y="1245813"/>
            <a:ext cx="12237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90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Custom Apps</a:t>
            </a:r>
            <a:endParaRPr lang="en-US" sz="90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626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07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03860" y="548640"/>
            <a:ext cx="7620000" cy="167640"/>
          </a:xfrm>
        </p:spPr>
        <p:txBody>
          <a:bodyPr/>
          <a:lstStyle/>
          <a:p>
            <a:r>
              <a:rPr sz="833">
                <a:solidFill>
                  <a:srgbClr val="004AAC"/>
                </a:solidFill>
                <a:latin typeface="Inter Medium"/>
              </a:rPr>
              <a:t>PROCESS GAP ANALYSIS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3860" y="731520"/>
            <a:ext cx="11384280" cy="472440"/>
          </a:xfr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sz="2083">
                <a:solidFill>
                  <a:srgbClr val="0E1020"/>
                </a:solidFill>
              </a:rPr>
              <a:t>Where value leaks in the current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60" y="1310640"/>
            <a:ext cx="11384280" cy="297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167"/>
              </a:spcAft>
            </a:pPr>
            <a:r>
              <a:rPr sz="875">
                <a:solidFill>
                  <a:srgbClr val="6B6E7E"/>
                </a:solidFill>
                <a:latin typeface="Inter Light"/>
              </a:rPr>
              <a:t>TI Corp verifies contractor cost manually, cross-referencing invoices against contracts, amendments, rate cards and schedules across inconsistent document formats. We tested that description against how target cost regimes actually leak value. Twelve gaps repeat — each one is a use case, and each one has an owner in the agent workforce.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860" y="19050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" name="TextBox 5"/>
          <p:cNvSpPr txBox="1"/>
          <p:nvPr/>
        </p:nvSpPr>
        <p:spPr>
          <a:xfrm>
            <a:off x="525780" y="20040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19964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No machine-readable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" y="24231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Terms, amendments, rate cards and schedules sit in PDF and Word. Every reviewer re-interprets them from scratch.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5780" y="29870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5780" y="30327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Clause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1360" y="19050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3383280" y="20040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19964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Rate-card version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Claimed rates are not tested against the rate card and escalation in force on the day the work was done.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9870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3280" y="30327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Labour Auditor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8859" y="19050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18" name="TextBox 17"/>
          <p:cNvSpPr txBox="1"/>
          <p:nvPr/>
        </p:nvSpPr>
        <p:spPr>
          <a:xfrm>
            <a:off x="6240780" y="20040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299" y="19964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Sampling instead of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24231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Reviewers sample a subset. Unsupported cost that misses the sample passes at full value.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40780" y="29870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40780" y="30327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All auditors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6360" y="19050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24" name="TextBox 23"/>
          <p:cNvSpPr txBox="1"/>
          <p:nvPr/>
        </p:nvSpPr>
        <p:spPr>
          <a:xfrm>
            <a:off x="9098280" y="20040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799" y="19964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Disallowed cost applied inconsistently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4231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Rework, idle plant, unauthorised overtime and off-contract rates depend on which reviewer picks up the claim.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98280" y="29870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98280" y="30327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Clause + Sentry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3860" y="3314699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0" name="TextBox 29"/>
          <p:cNvSpPr txBox="1"/>
          <p:nvPr/>
        </p:nvSpPr>
        <p:spPr>
          <a:xfrm>
            <a:off x="525780" y="3413760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34061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Plant charged twice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" y="3832859"/>
            <a:ext cx="25450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Equipment recovered through fee or overhead is also claimed directly; standing versus working time is never reconciled to logs.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5780" y="43967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5780" y="44424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Plant Auditor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61360" y="3314699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36" name="TextBox 35"/>
          <p:cNvSpPr txBox="1"/>
          <p:nvPr/>
        </p:nvSpPr>
        <p:spPr>
          <a:xfrm>
            <a:off x="3383280" y="3413760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3800" y="34061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Subcontract pass-through unverified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832859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Markup entitlement, competitive procurement evidence and the subcontractor’s own substantiation go untested.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83280" y="43967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83280" y="44424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Supply Chain Auditor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18859" y="3314699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2" name="TextBox 41"/>
          <p:cNvSpPr txBox="1"/>
          <p:nvPr/>
        </p:nvSpPr>
        <p:spPr>
          <a:xfrm>
            <a:off x="6240780" y="3413760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1299" y="34061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Rebates and credits not passed through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0780" y="3832859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Volume discounts, supplier credits and returned materials are retained rather than credited to the target cost.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40780" y="43967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40780" y="44424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Supply Chain Auditor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76360" y="3314699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48" name="TextBox 47"/>
          <p:cNvSpPr txBox="1"/>
          <p:nvPr/>
        </p:nvSpPr>
        <p:spPr>
          <a:xfrm>
            <a:off x="9098280" y="3413760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48799" y="34061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Change orders double-pay base 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832859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Nothing systematically tests whether the change is already inside the agreed target cost.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98280" y="43967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098280" y="44424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Change Steward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3860" y="47244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54" name="TextBox 53"/>
          <p:cNvSpPr txBox="1"/>
          <p:nvPr/>
        </p:nvSpPr>
        <p:spPr>
          <a:xfrm>
            <a:off x="525780" y="48234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300" y="4815840"/>
            <a:ext cx="2194560" cy="274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Approval-before-execution not enforced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" y="52425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Work proceeds and certificates issue ahead of written approval and complete substantiation.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25780" y="58064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25780" y="58521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Change Steward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61360" y="47244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0" name="TextBox 59"/>
          <p:cNvSpPr txBox="1"/>
          <p:nvPr/>
        </p:nvSpPr>
        <p:spPr>
          <a:xfrm>
            <a:off x="3383280" y="48234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33800" y="48158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Duplicates, splits and resubmissions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52425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The same cost reappears across periods, entities and invoice numbers, or is split to sit under a threshold.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383280" y="58064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383280" y="58521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Sentry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18859" y="47244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66" name="TextBox 65"/>
          <p:cNvSpPr txBox="1"/>
          <p:nvPr/>
        </p:nvSpPr>
        <p:spPr>
          <a:xfrm>
            <a:off x="6240780" y="48234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91299" y="48158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The target cost quietly drifts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40780" y="52425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Adjustments are not tied to compensation events, so gainshare and painshare positions become unreliable.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240780" y="58064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240780" y="58521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Target Watch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76360" y="4724400"/>
            <a:ext cx="2788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960" rIns="60960" rtlCol="0" anchor="ctr"/>
          <a:lstStyle/>
          <a:p>
            <a:pPr algn="ctr"/>
            <a:endParaRPr sz="1500"/>
          </a:p>
        </p:txBody>
      </p:sp>
      <p:sp>
        <p:nvSpPr>
          <p:cNvPr id="72" name="TextBox 71"/>
          <p:cNvSpPr txBox="1"/>
          <p:nvPr/>
        </p:nvSpPr>
        <p:spPr>
          <a:xfrm>
            <a:off x="9098280" y="4823461"/>
            <a:ext cx="381000" cy="16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1083" b="1">
                <a:solidFill>
                  <a:srgbClr val="FF7E51"/>
                </a:solidFill>
                <a:latin typeface="Inter Medium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48799" y="4815840"/>
            <a:ext cx="2194560" cy="132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167"/>
              </a:spcAft>
            </a:pPr>
            <a:r>
              <a:rPr sz="875" b="1">
                <a:solidFill>
                  <a:srgbClr val="0E1020"/>
                </a:solidFill>
                <a:latin typeface="Inter Medium"/>
              </a:rPr>
              <a:t>Decisions are not reproducible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5242560"/>
            <a:ext cx="2545080" cy="242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6000"/>
              </a:lnSpc>
              <a:spcAft>
                <a:spcPts val="167"/>
              </a:spcAft>
            </a:pPr>
            <a:r>
              <a:rPr sz="708">
                <a:solidFill>
                  <a:srgbClr val="6B6E7E"/>
                </a:solidFill>
                <a:latin typeface="Inter Light"/>
              </a:rPr>
              <a:t>Rationale lives in email and spreadsheets. A dispute eighteen months later cannot be defended from the record.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098280" y="5806440"/>
            <a:ext cx="2545080" cy="0"/>
          </a:xfrm>
          <a:prstGeom prst="line">
            <a:avLst/>
          </a:prstGeom>
          <a:ln w="9525">
            <a:solidFill>
              <a:srgbClr val="D9D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098280" y="5852160"/>
            <a:ext cx="254508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004AAC"/>
                </a:solidFill>
                <a:latin typeface="Inter Medium"/>
              </a:rPr>
              <a:t>Closed by  Ledger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3860" y="6187439"/>
            <a:ext cx="9144000" cy="102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7"/>
              </a:spcAft>
            </a:pPr>
            <a:r>
              <a:rPr sz="667">
                <a:solidFill>
                  <a:srgbClr val="6B6E7E"/>
                </a:solidFill>
                <a:latin typeface="Inter Light"/>
              </a:rPr>
              <a:t>Gaps 01–04 sit upstream of every other test — encoding the contract into a versioned, effective-dated rules ledger is the single highest-value move in the programme.</a:t>
            </a:r>
          </a:p>
        </p:txBody>
      </p:sp>
    </p:spTree>
    <p:extLst>
      <p:ext uri="{BB962C8B-B14F-4D97-AF65-F5344CB8AC3E}">
        <p14:creationId xmlns:p14="http://schemas.microsoft.com/office/powerpoint/2010/main" val="887427709"/>
      </p:ext>
    </p:extLst>
  </p:cSld>
  <p:clrMapOvr>
    <a:masterClrMapping/>
  </p:clrMapOvr>
</p:sld>
</file>

<file path=ppt/theme/theme1.xml><?xml version="1.0" encoding="utf-8"?>
<a:theme xmlns:a="http://schemas.openxmlformats.org/drawingml/2006/main" name="DXC">
  <a:themeElements>
    <a:clrScheme name="DXC New Brand">
      <a:dk1>
        <a:srgbClr val="0E1020"/>
      </a:dk1>
      <a:lt1>
        <a:sysClr val="window" lastClr="FFFFFF"/>
      </a:lt1>
      <a:dk2>
        <a:srgbClr val="FFC982"/>
      </a:dk2>
      <a:lt2>
        <a:srgbClr val="F6F3F0"/>
      </a:lt2>
      <a:accent1>
        <a:srgbClr val="FFAE41"/>
      </a:accent1>
      <a:accent2>
        <a:srgbClr val="FF7E51"/>
      </a:accent2>
      <a:accent3>
        <a:srgbClr val="D14600"/>
      </a:accent3>
      <a:accent4>
        <a:srgbClr val="004AAC"/>
      </a:accent4>
      <a:accent5>
        <a:srgbClr val="4995FF"/>
      </a:accent5>
      <a:accent6>
        <a:srgbClr val="A1E6FF"/>
      </a:accent6>
      <a:hlink>
        <a:srgbClr val="0E1020"/>
      </a:hlink>
      <a:folHlink>
        <a:srgbClr val="0E102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1600" dirty="0" smtClean="0">
            <a:latin typeface="Inter Light" panose="02000403000000020004" pitchFamily="50" charset="0"/>
            <a:ea typeface="Inter Light" panose="02000403000000020004" pitchFamily="50" charset="0"/>
            <a:cs typeface="Inter Light" panose="0200040300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T_6149a-26 New Brand Template_DXC Confidential_UPDATED.pptx" id="{390E4DDA-BF82-4772-BB46-B5E11CB82E6F}" vid="{B1046F7D-15E6-46D9-86E7-6765263E30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904A4B0872E4B82B9307FB274FC13" ma:contentTypeVersion="3" ma:contentTypeDescription="Create a new document." ma:contentTypeScope="" ma:versionID="e71bbe6d2495e41ddbc617a77cf8e84c">
  <xsd:schema xmlns:xsd="http://www.w3.org/2001/XMLSchema" xmlns:xs="http://www.w3.org/2001/XMLSchema" xmlns:p="http://schemas.microsoft.com/office/2006/metadata/properties" xmlns:ns2="1b7835d4-48db-426b-a5bd-a4257d13cde2" targetNamespace="http://schemas.microsoft.com/office/2006/metadata/properties" ma:root="true" ma:fieldsID="20836ce9dac36a33e18a3e7b2d34e186" ns2:_="">
    <xsd:import namespace="1b7835d4-48db-426b-a5bd-a4257d13c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7835d4-48db-426b-a5bd-a4257d13c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501F0D-5F90-452C-AA43-49D4156339C6}">
  <ds:schemaRefs>
    <ds:schemaRef ds:uri="1b7835d4-48db-426b-a5bd-a4257d13cd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1CB1E22-D87A-4A3B-ADE3-94E99888CB15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b7835d4-48db-426b-a5bd-a4257d13cde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C7A6CDB-7E8A-4F9F-AABA-B7AE5E1753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4689</Words>
  <Application>Microsoft Office PowerPoint</Application>
  <PresentationFormat>Widescreen</PresentationFormat>
  <Paragraphs>919</Paragraphs>
  <Slides>21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Arial</vt:lpstr>
      <vt:lpstr>GT Standard L Expanded</vt:lpstr>
      <vt:lpstr>GT Standard L Extended</vt:lpstr>
      <vt:lpstr>Inter</vt:lpstr>
      <vt:lpstr>Inter Bold</vt:lpstr>
      <vt:lpstr>Inter Light</vt:lpstr>
      <vt:lpstr>Inter Medium</vt:lpstr>
      <vt:lpstr>Inter Regular</vt:lpstr>
      <vt:lpstr>Inter SemiBold</vt:lpstr>
      <vt:lpstr>DXC</vt:lpstr>
      <vt:lpstr>TIC Solution walkthrough</vt:lpstr>
      <vt:lpstr>Contents</vt:lpstr>
      <vt:lpstr>Opportunity Background</vt:lpstr>
      <vt:lpstr>PowerPoint Presentation</vt:lpstr>
      <vt:lpstr>Objectives and High-Level Scope</vt:lpstr>
      <vt:lpstr>Technical solution</vt:lpstr>
      <vt:lpstr>TIC - E2E Cost Verification and assurance</vt:lpstr>
      <vt:lpstr>Process flow - How the Four Work Together</vt:lpstr>
      <vt:lpstr>Logical Architecture</vt:lpstr>
      <vt:lpstr>Technical Architecture</vt:lpstr>
      <vt:lpstr>Agents in ACTION  </vt:lpstr>
      <vt:lpstr>PowerPoint Presentation</vt:lpstr>
      <vt:lpstr>PowerPoint Presentation</vt:lpstr>
      <vt:lpstr>PowerPoint Presentation</vt:lpstr>
      <vt:lpstr>PowerPoint Presentation</vt:lpstr>
      <vt:lpstr>Exception &amp; Flagging HITL operating model</vt:lpstr>
      <vt:lpstr>PowerPoint Presentation</vt:lpstr>
      <vt:lpstr>PowerPoint Presentation</vt:lpstr>
      <vt:lpstr>Team Structure &amp; Engagement Model</vt:lpstr>
      <vt:lpstr>PowerPoint Presentation</vt:lpstr>
      <vt:lpstr>Where value leaks in the current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Pandey, Awadhesh</dc:creator>
  <cp:lastModifiedBy>Braniff, Stephen</cp:lastModifiedBy>
  <cp:revision>2</cp:revision>
  <dcterms:created xsi:type="dcterms:W3CDTF">2026-07-03T09:56:28Z</dcterms:created>
  <dcterms:modified xsi:type="dcterms:W3CDTF">2026-09-02T20:24:24Z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2026-07-03T09:58:45Z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ed15b653-c91b-494d-94cb-f90e753a506a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  <property fmtid="{D5CDD505-2E9C-101B-9397-08002B2CF9AE}" pid="10" name="ContentTypeId">
    <vt:lpwstr>0x010100BC9904A4B0872E4B82B9307FB274FC13</vt:lpwstr>
  </property>
</Properties>
</file>