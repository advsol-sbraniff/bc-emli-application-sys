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147308099" r:id="rId5"/>
    <p:sldId id="2147308119" r:id="rId6"/>
    <p:sldId id="2147308121" r:id="rId7"/>
    <p:sldId id="2147308120" r:id="rId8"/>
    <p:sldId id="2147308115" r:id="rId9"/>
    <p:sldId id="2147308117" r:id="rId10"/>
    <p:sldId id="2147308107" r:id="rId11"/>
    <p:sldId id="51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0024" autoAdjust="0"/>
  </p:normalViewPr>
  <p:slideViewPr>
    <p:cSldViewPr snapToGrid="0">
      <p:cViewPr varScale="1">
        <p:scale>
          <a:sx n="88" d="100"/>
          <a:sy n="88" d="100"/>
        </p:scale>
        <p:origin x="147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E36675-A519-40C0-8C5B-361EB5DD48F8}" type="datetimeFigureOut">
              <a:rPr lang="en-CA" smtClean="0"/>
              <a:t>2026-08-21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53922B-8BB2-4E85-AE23-85EEEC3C6AE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76030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The Province and Advanced Solutions have created an AI enabled application. This application enables the Housing Energy Savings Program which offers homeowners rebates for their housing improvements.</a:t>
            </a:r>
          </a:p>
          <a:p>
            <a:pPr marL="0" indent="0">
              <a:buNone/>
            </a:pPr>
            <a:endParaRPr lang="en-US" sz="12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This software is not just AI-enabled. It was designed from the start with the intention to allow a core common component to be pulled out and reused. This core is a</a:t>
            </a:r>
            <a:r>
              <a:rPr lang="en-US" sz="1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generic framework. This allows other in-development AI systems performing document compliance checks to quickly get up and running with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enterprise AI best practices.</a:t>
            </a:r>
            <a:r>
              <a:rPr lang="en-US" sz="1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WordVisiCarriageReturn_MSFontService"/>
              </a:rPr>
              <a:t> </a:t>
            </a:r>
            <a:endParaRPr lang="en-CA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53922B-8BB2-4E85-AE23-85EEEC3C6AE8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35727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F051A-C16C-0A8E-7ACF-EA996FFF9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9D646A-AD61-7F05-3E7F-F4B0D5DEF6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463371-F9CD-9AC6-E2C3-BBA6000F8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CA" b="1" dirty="0">
                <a:highlight>
                  <a:srgbClr val="FFFFFF"/>
                </a:highlight>
              </a:rPr>
              <a:t>What the ai actually does:</a:t>
            </a:r>
          </a:p>
          <a:p>
            <a:pPr lvl="1"/>
            <a:r>
              <a:rPr lang="en-CA" dirty="0">
                <a:highlight>
                  <a:srgbClr val="FFFFFF"/>
                </a:highlight>
              </a:rPr>
              <a:t>Uploads</a:t>
            </a:r>
          </a:p>
          <a:p>
            <a:pPr lvl="1"/>
            <a:r>
              <a:rPr lang="en-CA" dirty="0">
                <a:highlight>
                  <a:srgbClr val="FFFFFF"/>
                </a:highlight>
              </a:rPr>
              <a:t>Reads invoices and supporting documents</a:t>
            </a:r>
          </a:p>
          <a:p>
            <a:pPr lvl="1"/>
            <a:r>
              <a:rPr lang="en-CA" dirty="0">
                <a:highlight>
                  <a:srgbClr val="FFFFFF"/>
                </a:highlight>
              </a:rPr>
              <a:t>Recognizes document and upgrade types</a:t>
            </a:r>
          </a:p>
          <a:p>
            <a:pPr lvl="1"/>
            <a:r>
              <a:rPr lang="en-CA" dirty="0">
                <a:highlight>
                  <a:srgbClr val="FFFFFF"/>
                </a:highlight>
              </a:rPr>
              <a:t>Locates important facts across the complete package</a:t>
            </a:r>
          </a:p>
          <a:p>
            <a:pPr lvl="1"/>
            <a:r>
              <a:rPr lang="en-CA" dirty="0">
                <a:highlight>
                  <a:srgbClr val="FFFFFF"/>
                </a:highlight>
              </a:rPr>
              <a:t>Checks evidence against program requirements &amp; Explains what passed, what needs attention and why</a:t>
            </a:r>
          </a:p>
          <a:p>
            <a:pPr lvl="1"/>
            <a:r>
              <a:rPr lang="en-CA" dirty="0">
                <a:highlight>
                  <a:srgbClr val="FFFFFF"/>
                </a:highlight>
              </a:rPr>
              <a:t>Suggests appropriate follow-up for incomplete cases then human edits.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653BAF-F8A6-5BF3-4724-94E68A523F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53922B-8BB2-4E85-AE23-85EEEC3C6AE8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4026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18C45-6EAE-189E-B43B-670840FEA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8D5D44-A15F-F298-2B97-E0E8252554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B7D0A0-C96D-130C-A7DC-57788E2BED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CA" b="1" dirty="0">
                <a:highlight>
                  <a:srgbClr val="FFFFFF"/>
                </a:highlight>
              </a:rPr>
              <a:t>What the ai actually does:</a:t>
            </a:r>
          </a:p>
          <a:p>
            <a:pPr lvl="1"/>
            <a:r>
              <a:rPr lang="en-CA" dirty="0">
                <a:highlight>
                  <a:srgbClr val="FFFFFF"/>
                </a:highlight>
              </a:rPr>
              <a:t>Uploads</a:t>
            </a:r>
          </a:p>
          <a:p>
            <a:pPr lvl="1"/>
            <a:r>
              <a:rPr lang="en-CA" dirty="0">
                <a:highlight>
                  <a:srgbClr val="FFFFFF"/>
                </a:highlight>
              </a:rPr>
              <a:t>Reads invoices and supporting documents</a:t>
            </a:r>
          </a:p>
          <a:p>
            <a:pPr lvl="1"/>
            <a:r>
              <a:rPr lang="en-CA" dirty="0">
                <a:highlight>
                  <a:srgbClr val="FFFFFF"/>
                </a:highlight>
              </a:rPr>
              <a:t>Recognizes document and upgrade types</a:t>
            </a:r>
          </a:p>
          <a:p>
            <a:pPr lvl="1"/>
            <a:r>
              <a:rPr lang="en-CA" dirty="0">
                <a:highlight>
                  <a:srgbClr val="FFFFFF"/>
                </a:highlight>
              </a:rPr>
              <a:t>Locates important facts across the complete package</a:t>
            </a:r>
          </a:p>
          <a:p>
            <a:pPr lvl="1"/>
            <a:r>
              <a:rPr lang="en-CA" dirty="0">
                <a:highlight>
                  <a:srgbClr val="FFFFFF"/>
                </a:highlight>
              </a:rPr>
              <a:t>Checks evidence against program requirements &amp; Explains what passed, what needs attention and why</a:t>
            </a:r>
          </a:p>
          <a:p>
            <a:pPr lvl="1"/>
            <a:r>
              <a:rPr lang="en-CA" dirty="0">
                <a:highlight>
                  <a:srgbClr val="FFFFFF"/>
                </a:highlight>
              </a:rPr>
              <a:t>Suggests appropriate follow-up for incomplete cases then human edits.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D9260C-901A-C223-69A2-F9F42B7F3A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53922B-8BB2-4E85-AE23-85EEEC3C6AE8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986363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CA" b="1" dirty="0">
                <a:highlight>
                  <a:srgbClr val="FFFFFF"/>
                </a:highlight>
              </a:rPr>
              <a:t>What the ai actually does:</a:t>
            </a:r>
          </a:p>
          <a:p>
            <a:pPr lvl="1"/>
            <a:r>
              <a:rPr lang="en-CA" dirty="0">
                <a:highlight>
                  <a:srgbClr val="FFFFFF"/>
                </a:highlight>
              </a:rPr>
              <a:t>Uploads</a:t>
            </a:r>
          </a:p>
          <a:p>
            <a:pPr lvl="1"/>
            <a:r>
              <a:rPr lang="en-CA" dirty="0">
                <a:highlight>
                  <a:srgbClr val="FFFFFF"/>
                </a:highlight>
              </a:rPr>
              <a:t>Reads invoices and supporting documents</a:t>
            </a:r>
          </a:p>
          <a:p>
            <a:pPr lvl="1"/>
            <a:r>
              <a:rPr lang="en-CA" dirty="0">
                <a:highlight>
                  <a:srgbClr val="FFFFFF"/>
                </a:highlight>
              </a:rPr>
              <a:t>Recognizes document and upgrade types</a:t>
            </a:r>
          </a:p>
          <a:p>
            <a:pPr lvl="1"/>
            <a:r>
              <a:rPr lang="en-CA" dirty="0">
                <a:highlight>
                  <a:srgbClr val="FFFFFF"/>
                </a:highlight>
              </a:rPr>
              <a:t>Locates important facts across the complete package</a:t>
            </a:r>
          </a:p>
          <a:p>
            <a:pPr lvl="1"/>
            <a:r>
              <a:rPr lang="en-CA" dirty="0">
                <a:highlight>
                  <a:srgbClr val="FFFFFF"/>
                </a:highlight>
              </a:rPr>
              <a:t>Checks evidence against program requirements &amp; Explains what passed, what needs attention and why</a:t>
            </a:r>
          </a:p>
          <a:p>
            <a:pPr lvl="1"/>
            <a:r>
              <a:rPr lang="en-CA" dirty="0">
                <a:highlight>
                  <a:srgbClr val="FFFFFF"/>
                </a:highlight>
              </a:rPr>
              <a:t>Suggests appropriate follow-up for incomplete cases then human edits.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53922B-8BB2-4E85-AE23-85EEEC3C6AE8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833984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CA" dirty="0">
                <a:highlight>
                  <a:srgbClr val="FFFFFF"/>
                </a:highlight>
              </a:rPr>
              <a:t>Potential content re post go live learning:</a:t>
            </a:r>
          </a:p>
          <a:p>
            <a:pPr lvl="1"/>
            <a:r>
              <a:rPr lang="en-CA" dirty="0">
                <a:highlight>
                  <a:srgbClr val="FFFFFF"/>
                </a:highlight>
              </a:rPr>
              <a:t>Test the system using realistic invoice packages</a:t>
            </a:r>
          </a:p>
          <a:p>
            <a:pPr lvl="1"/>
            <a:r>
              <a:rPr lang="en-CA" dirty="0">
                <a:highlight>
                  <a:srgbClr val="FFFFFF"/>
                </a:highlight>
              </a:rPr>
              <a:t>Compare AI advice with actual administrative judgment</a:t>
            </a:r>
          </a:p>
          <a:p>
            <a:pPr lvl="1"/>
            <a:r>
              <a:rPr lang="en-CA" dirty="0">
                <a:highlight>
                  <a:srgbClr val="FFFFFF"/>
                </a:highlight>
              </a:rPr>
              <a:t>Identify false positives, missed evidence and unclear explanations</a:t>
            </a:r>
          </a:p>
          <a:p>
            <a:pPr lvl="1"/>
            <a:r>
              <a:rPr lang="en-CA" dirty="0">
                <a:highlight>
                  <a:srgbClr val="FFFFFF"/>
                </a:highlight>
              </a:rPr>
              <a:t>Improve guidance over time</a:t>
            </a:r>
          </a:p>
          <a:p>
            <a:pPr lvl="1"/>
            <a:r>
              <a:rPr lang="en-CA" dirty="0">
                <a:highlight>
                  <a:srgbClr val="FFFFFF"/>
                </a:highlight>
              </a:rPr>
              <a:t>KPIs: Define, Measure, Change, Repeat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53922B-8BB2-4E85-AE23-85EEEC3C6AE8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59329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E31EE-D2E1-F217-7EEC-7875BD21A4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947F59-4126-67FB-4A2B-79A9E38F8F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A064B-2157-89BA-02EF-6BA06A259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40541-587A-4F81-B512-E2165779886E}" type="datetimeFigureOut">
              <a:rPr lang="en-CA" smtClean="0"/>
              <a:t>2026-08-21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E99E6-B4D2-0903-74FD-FD1C33EAC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DF0DD-E97D-5830-D927-66C93FBC2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C482E-3435-42E7-AC3F-517E655BF1B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7458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A4636-6C3A-8296-E69D-18FE3685C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A79B4-625F-0F77-018F-6877D9687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4B146-6441-A846-5575-454B18272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40541-587A-4F81-B512-E2165779886E}" type="datetimeFigureOut">
              <a:rPr lang="en-CA" smtClean="0"/>
              <a:t>2026-08-21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23B74-9D20-3BF2-44B4-02A96BE19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31326-A6AC-36D2-E048-F23D86B2B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C482E-3435-42E7-AC3F-517E655BF1B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40754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2D33D-F292-67F1-70C4-C2714E6A3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51212A-3316-14A5-BC3F-4BEF89B1A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D96AA-F53C-DE00-D478-7CF65FD0B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40541-587A-4F81-B512-E2165779886E}" type="datetimeFigureOut">
              <a:rPr lang="en-CA" smtClean="0"/>
              <a:t>2026-08-21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FE557-F8AD-ABC0-CB01-C2BF55E68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3173F-E020-0474-379C-844ECF10F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C482E-3435-42E7-AC3F-517E655BF1B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3126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E19A4-EF60-9DCC-E713-DE7861ADF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476DFC-50B2-2EB7-6105-C6C4507E5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54EDF1-F3F5-0275-AEF1-98E663DFBA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C5B7B1-6016-5E0F-6056-7DAF226759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22381C-07D1-AA8A-22D1-270EE215D9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069683-2628-F835-DB6F-3645D203F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40541-587A-4F81-B512-E2165779886E}" type="datetimeFigureOut">
              <a:rPr lang="en-CA" smtClean="0"/>
              <a:t>2026-08-21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2F507F-58E9-E548-4AE2-62A002D97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0F618F-A4A7-CF62-9F4E-AB87F5FFB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C482E-3435-42E7-AC3F-517E655BF1B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56598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941B3-AB49-A63C-E68C-F1423BFB2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7DD00C-DF81-F791-88D0-E2D45B7FD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40541-587A-4F81-B512-E2165779886E}" type="datetimeFigureOut">
              <a:rPr lang="en-CA" smtClean="0"/>
              <a:t>2026-08-21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0D7C8A-77ED-4148-A2DC-ECE99DF03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C6503A-FD51-51FA-0361-DD7FAB089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C482E-3435-42E7-AC3F-517E655BF1B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53122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463DF6-D8EE-7B91-0167-3A7494243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40541-587A-4F81-B512-E2165779886E}" type="datetimeFigureOut">
              <a:rPr lang="en-CA" smtClean="0"/>
              <a:t>2026-08-21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8373DB-33C8-FA93-1968-E114F467D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16612A-C332-CB3D-26C9-B09243922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C482E-3435-42E7-AC3F-517E655BF1B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3300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FA436-C00C-958F-2924-9843DFB20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9ABD2-B0C6-3B21-E37F-0FBFC18B6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4EF15F-87B4-BE83-5236-147637B5F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996A56-62CF-CE6E-1249-419AD153A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40541-587A-4F81-B512-E2165779886E}" type="datetimeFigureOut">
              <a:rPr lang="en-CA" smtClean="0"/>
              <a:t>2026-08-21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AF9443-2F44-CF4E-1993-B37391D2D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567F19-34A8-F643-FFEC-72E7E4567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C482E-3435-42E7-AC3F-517E655BF1B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25126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20948-E3C5-89B7-4764-FFF3C2095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E1CB0A-0C94-A91F-0270-B9421F0E56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00427D-0BDC-754F-209A-E151F13501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1CF214-8A34-885B-746F-D72FB2199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40541-587A-4F81-B512-E2165779886E}" type="datetimeFigureOut">
              <a:rPr lang="en-CA" smtClean="0"/>
              <a:t>2026-08-21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9608D7-74F5-A0E6-F74A-698ADCE9D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B9D941-DFE2-6756-5016-3302FDAEE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C482E-3435-42E7-AC3F-517E655BF1B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3882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77F74-A27D-D11D-E742-96672B67F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180E1F-2092-A99C-344B-66DACDD2E2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0B3E7-7126-3F81-20D8-C7A3D3938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40541-587A-4F81-B512-E2165779886E}" type="datetimeFigureOut">
              <a:rPr lang="en-CA" smtClean="0"/>
              <a:t>2026-08-21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81FC4-23F3-55C8-E2D2-9D975B6C5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A5DDC-53AA-F3C1-7F39-CD29B64BC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C482E-3435-42E7-AC3F-517E655BF1B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79780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E5DD4F-9BFB-64D6-B73A-458914AA33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AC606F-3ACC-A9E8-526A-1DD7467B84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27589-DA88-2115-F3EA-94F692BAF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40541-587A-4F81-B512-E2165779886E}" type="datetimeFigureOut">
              <a:rPr lang="en-CA" smtClean="0"/>
              <a:t>2026-08-21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20E63-88B3-B6C3-3CB5-7F78A7BD3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AA248-0F1A-F747-174A-F129DB085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C482E-3435-42E7-AC3F-517E655BF1B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8436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9_Purple Tab Shape 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finger pointing at a screen&#10;&#10;Description automatically generated">
            <a:extLst>
              <a:ext uri="{FF2B5EF4-FFF2-40B4-BE49-F238E27FC236}">
                <a16:creationId xmlns:a16="http://schemas.microsoft.com/office/drawing/2014/main" id="{A21DAE7C-76B2-C5B4-E226-D165E14C54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3983" r="18004"/>
          <a:stretch/>
        </p:blipFill>
        <p:spPr>
          <a:xfrm>
            <a:off x="3347358" y="0"/>
            <a:ext cx="8844643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03AA18F-67D3-2BAE-9DE2-4143A37D745A}"/>
              </a:ext>
            </a:extLst>
          </p:cNvPr>
          <p:cNvSpPr/>
          <p:nvPr userDrawn="1"/>
        </p:nvSpPr>
        <p:spPr>
          <a:xfrm>
            <a:off x="1" y="1"/>
            <a:ext cx="43815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0" name="Rectangle: Single Corner Rounded 9">
            <a:extLst>
              <a:ext uri="{FF2B5EF4-FFF2-40B4-BE49-F238E27FC236}">
                <a16:creationId xmlns:a16="http://schemas.microsoft.com/office/drawing/2014/main" id="{7D914944-DEFF-5AEF-95BC-57603B1062B3}"/>
              </a:ext>
            </a:extLst>
          </p:cNvPr>
          <p:cNvSpPr/>
          <p:nvPr userDrawn="1"/>
        </p:nvSpPr>
        <p:spPr>
          <a:xfrm>
            <a:off x="571502" y="1576916"/>
            <a:ext cx="5095873" cy="3492501"/>
          </a:xfrm>
          <a:prstGeom prst="round1Rect">
            <a:avLst>
              <a:gd name="adj" fmla="val 16348"/>
            </a:avLst>
          </a:prstGeom>
          <a:solidFill>
            <a:srgbClr val="5F249F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8A93AE9-58CE-C9E9-FB73-45B06EF6C5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3668" y="1944688"/>
            <a:ext cx="4273020" cy="1579563"/>
          </a:xfrm>
        </p:spPr>
        <p:txBody>
          <a:bodyPr anchor="ctr" anchorCtr="0">
            <a:noAutofit/>
          </a:bodyPr>
          <a:lstStyle>
            <a:lvl1pPr>
              <a:defRPr sz="3667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9E4D54AF-862E-BB5E-B2A2-65129E733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3668" y="3721100"/>
            <a:ext cx="4273020" cy="7620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  <a:lvl2pPr marL="6095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B026E93F-08E4-3E65-F6F4-35A766E0AE93}"/>
              </a:ext>
            </a:extLst>
          </p:cNvPr>
          <p:cNvSpPr txBox="1">
            <a:spLocks/>
          </p:cNvSpPr>
          <p:nvPr userDrawn="1"/>
        </p:nvSpPr>
        <p:spPr>
          <a:xfrm>
            <a:off x="571483" y="6359868"/>
            <a:ext cx="419100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917" dirty="0">
                <a:solidFill>
                  <a:schemeClr val="tx1"/>
                </a:solidFill>
              </a:rPr>
              <a:t>© 2026 DXC Technology Company. All rights reserved.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2522A26-4A82-C43B-6277-B8B0B037D6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5765" y="615905"/>
            <a:ext cx="3231318" cy="542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676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737DD-5D8F-E579-4D9E-99C0080B0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header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87AD0-557A-6469-D97F-D3EE57F2EB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421C1-F967-53CF-2329-83E650F9BD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AE853DC-F91B-A163-E9B8-AFA2CAD4503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3548" y="6317031"/>
            <a:ext cx="2097804" cy="351889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170C1CB7-2C88-A7D1-982D-B3C7275FB573}"/>
              </a:ext>
            </a:extLst>
          </p:cNvPr>
          <p:cNvSpPr txBox="1">
            <a:spLocks/>
          </p:cNvSpPr>
          <p:nvPr userDrawn="1"/>
        </p:nvSpPr>
        <p:spPr>
          <a:xfrm>
            <a:off x="4000500" y="6317033"/>
            <a:ext cx="419100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17" dirty="0"/>
              <a:t>© </a:t>
            </a:r>
            <a:fld id="{C0650B53-F5B1-403A-BD70-58B7AE2589AD}" type="datetimeyyyy">
              <a:rPr lang="en-US" sz="917" smtClean="0"/>
              <a:t>2026</a:t>
            </a:fld>
            <a:r>
              <a:rPr lang="en-US" sz="917" dirty="0"/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796348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XC Log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>
          <a:xfrm>
            <a:off x="-76200" y="-76200"/>
            <a:ext cx="12344400" cy="7010400"/>
            <a:chOff x="-91440" y="-91440"/>
            <a:chExt cx="14813280" cy="8412480"/>
          </a:xfrm>
        </p:grpSpPr>
        <p:cxnSp>
          <p:nvCxnSpPr>
            <p:cNvPr id="8" name="Straight Connector 7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F34D9A9-59CB-C05C-24F8-DD60E7E9ADB0}"/>
              </a:ext>
            </a:extLst>
          </p:cNvPr>
          <p:cNvSpPr txBox="1">
            <a:spLocks/>
          </p:cNvSpPr>
          <p:nvPr userDrawn="1"/>
        </p:nvSpPr>
        <p:spPr>
          <a:xfrm>
            <a:off x="8623300" y="6317033"/>
            <a:ext cx="299720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tabLst/>
            </a:pPr>
            <a:r>
              <a:rPr lang="en-US" sz="917" dirty="0">
                <a:solidFill>
                  <a:schemeClr val="tx1"/>
                </a:solidFill>
              </a:rPr>
              <a:t>© </a:t>
            </a:r>
            <a:fld id="{CF9733AE-80B1-4FDE-8D2E-3D7469571069}" type="datetimeyyyy">
              <a:rPr lang="en-US" sz="917" smtClean="0">
                <a:solidFill>
                  <a:schemeClr val="tx1"/>
                </a:solidFill>
              </a:rPr>
              <a:t>2026</a:t>
            </a:fld>
            <a:r>
              <a:rPr lang="en-US" sz="917" dirty="0">
                <a:solidFill>
                  <a:schemeClr val="tx1"/>
                </a:solidFill>
              </a:rPr>
              <a:t> DXC Technology Company. All rights reserved.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A7731C4-1080-4099-B7AC-2B5E61D41F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28747" y="2836334"/>
            <a:ext cx="7074887" cy="118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370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Header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 userDrawn="1"/>
        </p:nvGrpSpPr>
        <p:grpSpPr>
          <a:xfrm>
            <a:off x="-76200" y="-76200"/>
            <a:ext cx="12344400" cy="7010400"/>
            <a:chOff x="-91440" y="-91440"/>
            <a:chExt cx="14813280" cy="8412480"/>
          </a:xfrm>
        </p:grpSpPr>
        <p:cxnSp>
          <p:nvCxnSpPr>
            <p:cNvPr id="13" name="Straight Connector 12"/>
            <p:cNvCxnSpPr/>
            <p:nvPr userDrawn="1"/>
          </p:nvCxnSpPr>
          <p:spPr>
            <a:xfrm>
              <a:off x="-9144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-9144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-9144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 userDrawn="1"/>
          </p:nvCxnSpPr>
          <p:spPr>
            <a:xfrm>
              <a:off x="14676120" y="639763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 userDrawn="1"/>
          </p:nvCxnSpPr>
          <p:spPr>
            <a:xfrm>
              <a:off x="14676120" y="2057399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 userDrawn="1"/>
          </p:nvCxnSpPr>
          <p:spPr>
            <a:xfrm>
              <a:off x="14676120" y="7178674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685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>
            <a:xfrm>
              <a:off x="13944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>
            <a:xfrm>
              <a:off x="685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>
            <a:xfrm>
              <a:off x="13944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11887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>
            <a:xfrm>
              <a:off x="7315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 userDrawn="1"/>
          </p:nvCxnSpPr>
          <p:spPr>
            <a:xfrm>
              <a:off x="73152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>
            <a:xfrm>
              <a:off x="7086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>
            <a:xfrm>
              <a:off x="7543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>
              <a:off x="7086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>
            <a:xfrm>
              <a:off x="7543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>
              <a:off x="5257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>
            <a:xfrm>
              <a:off x="4800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>
            <a:xfrm>
              <a:off x="93726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>
            <a:xfrm>
              <a:off x="98298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>
            <a:xfrm>
              <a:off x="5257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>
            <a:xfrm>
              <a:off x="98298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>
            <a:xfrm>
              <a:off x="4800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>
            <a:xfrm>
              <a:off x="9372600" y="827532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>
            <a:xfrm>
              <a:off x="11887200" y="-91440"/>
              <a:ext cx="0" cy="4572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>
            <a:xfrm>
              <a:off x="1467612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>
            <a:xfrm>
              <a:off x="-91440" y="7772400"/>
              <a:ext cx="45720" cy="0"/>
            </a:xfrm>
            <a:prstGeom prst="line">
              <a:avLst/>
            </a:prstGeom>
            <a:ln w="3175" cap="flat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Box 115"/>
          <p:cNvSpPr txBox="1">
            <a:spLocks noChangeArrowheads="1"/>
          </p:cNvSpPr>
          <p:nvPr userDrawn="1"/>
        </p:nvSpPr>
        <p:spPr bwMode="auto">
          <a:xfrm>
            <a:off x="9911292" y="6317031"/>
            <a:ext cx="1366308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r" defTabSz="683921">
              <a:spcBef>
                <a:spcPct val="50000"/>
              </a:spcBef>
            </a:pPr>
            <a:fld id="{03C7D0F0-10D5-4191-B6F4-99306F468FEF}" type="datetime4">
              <a:rPr lang="en-US" sz="917" b="0" smtClean="0">
                <a:solidFill>
                  <a:schemeClr val="bg1"/>
                </a:solidFill>
              </a:rPr>
              <a:pPr algn="r" defTabSz="683921">
                <a:spcBef>
                  <a:spcPct val="50000"/>
                </a:spcBef>
              </a:pPr>
              <a:t>August 21, 2026</a:t>
            </a:fld>
            <a:endParaRPr lang="en-US" sz="917" b="0" dirty="0">
              <a:solidFill>
                <a:schemeClr val="bg1"/>
              </a:solidFill>
            </a:endParaRPr>
          </a:p>
        </p:txBody>
      </p:sp>
      <p:sp>
        <p:nvSpPr>
          <p:cNvPr id="16" name="Text Box 115"/>
          <p:cNvSpPr txBox="1">
            <a:spLocks noChangeArrowheads="1"/>
          </p:cNvSpPr>
          <p:nvPr userDrawn="1"/>
        </p:nvSpPr>
        <p:spPr bwMode="auto">
          <a:xfrm>
            <a:off x="11277600" y="6317033"/>
            <a:ext cx="3429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683921">
              <a:spcBef>
                <a:spcPct val="50000"/>
              </a:spcBef>
            </a:pPr>
            <a:fld id="{18E29826-F105-4F77-B977-03F4A4723A21}" type="slidenum">
              <a:rPr lang="en-US" sz="917" b="1" smtClean="0">
                <a:solidFill>
                  <a:schemeClr val="bg1"/>
                </a:solidFill>
              </a:rPr>
              <a:pPr algn="r" defTabSz="683921">
                <a:spcBef>
                  <a:spcPct val="50000"/>
                </a:spcBef>
              </a:pPr>
              <a:t>‹#›</a:t>
            </a:fld>
            <a:endParaRPr lang="en-US" sz="917" b="1" dirty="0">
              <a:solidFill>
                <a:schemeClr val="bg1"/>
              </a:solidFill>
            </a:endParaRPr>
          </a:p>
        </p:txBody>
      </p:sp>
      <p:pic>
        <p:nvPicPr>
          <p:cNvPr id="45" name="Graphic 44">
            <a:extLst>
              <a:ext uri="{FF2B5EF4-FFF2-40B4-BE49-F238E27FC236}">
                <a16:creationId xmlns:a16="http://schemas.microsoft.com/office/drawing/2014/main" id="{DE47D048-F78A-4D25-83CC-A1FB3F93EB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6301234"/>
            <a:ext cx="2057400" cy="233313"/>
          </a:xfrm>
          <a:prstGeom prst="rect">
            <a:avLst/>
          </a:prstGeom>
        </p:spPr>
      </p:pic>
      <p:sp>
        <p:nvSpPr>
          <p:cNvPr id="47" name="Text Box 115">
            <a:extLst>
              <a:ext uri="{FF2B5EF4-FFF2-40B4-BE49-F238E27FC236}">
                <a16:creationId xmlns:a16="http://schemas.microsoft.com/office/drawing/2014/main" id="{B207E4D1-23C4-49FF-8260-AC6970B95FC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77600" y="6317033"/>
            <a:ext cx="3429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683921">
              <a:spcBef>
                <a:spcPts val="0"/>
              </a:spcBef>
            </a:pPr>
            <a:fld id="{18E29826-F105-4F77-B977-03F4A4723A21}" type="slidenum">
              <a:rPr lang="en-US" sz="917" b="1" smtClean="0">
                <a:solidFill>
                  <a:schemeClr val="tx1"/>
                </a:solidFill>
              </a:rPr>
              <a:pPr algn="r" defTabSz="683921">
                <a:spcBef>
                  <a:spcPts val="0"/>
                </a:spcBef>
              </a:pPr>
              <a:t>‹#›</a:t>
            </a:fld>
            <a:endParaRPr lang="en-US" sz="917" b="1" dirty="0">
              <a:solidFill>
                <a:schemeClr val="tx1"/>
              </a:solidFill>
            </a:endParaRPr>
          </a:p>
        </p:txBody>
      </p:sp>
      <p:sp>
        <p:nvSpPr>
          <p:cNvPr id="56" name="Rectangle: Single Corner Rounded 55">
            <a:extLst>
              <a:ext uri="{FF2B5EF4-FFF2-40B4-BE49-F238E27FC236}">
                <a16:creationId xmlns:a16="http://schemas.microsoft.com/office/drawing/2014/main" id="{106C60A4-E521-4756-B4C4-7D4CE00E4F0A}"/>
              </a:ext>
            </a:extLst>
          </p:cNvPr>
          <p:cNvSpPr/>
          <p:nvPr userDrawn="1"/>
        </p:nvSpPr>
        <p:spPr>
          <a:xfrm>
            <a:off x="579438" y="1714498"/>
            <a:ext cx="9334500" cy="2667000"/>
          </a:xfrm>
          <a:prstGeom prst="round1Rect">
            <a:avLst>
              <a:gd name="adj" fmla="val 24915"/>
            </a:avLst>
          </a:prstGeom>
          <a:solidFill>
            <a:srgbClr val="7030A0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/>
          </a:p>
        </p:txBody>
      </p:sp>
      <p:sp>
        <p:nvSpPr>
          <p:cNvPr id="57" name="Title 1">
            <a:extLst>
              <a:ext uri="{FF2B5EF4-FFF2-40B4-BE49-F238E27FC236}">
                <a16:creationId xmlns:a16="http://schemas.microsoft.com/office/drawing/2014/main" id="{083C3818-4368-434E-9D55-569CC18CE4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3667" y="1714500"/>
            <a:ext cx="8276167" cy="2667000"/>
          </a:xfrm>
        </p:spPr>
        <p:txBody>
          <a:bodyPr anchor="ctr" anchorCtr="0">
            <a:noAutofit/>
          </a:bodyPr>
          <a:lstStyle>
            <a:lvl1pPr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Subtitle 2">
            <a:extLst>
              <a:ext uri="{FF2B5EF4-FFF2-40B4-BE49-F238E27FC236}">
                <a16:creationId xmlns:a16="http://schemas.microsoft.com/office/drawing/2014/main" id="{A99EC16D-6BC6-4571-A314-8BE9BEF6FD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3667" y="4738422"/>
            <a:ext cx="8276166" cy="7620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333">
                <a:solidFill>
                  <a:srgbClr val="63666F"/>
                </a:solidFill>
              </a:defRPr>
            </a:lvl1pPr>
            <a:lvl2pPr marL="6095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D32F9C5-294A-36D8-523F-F0DB5B550F85}"/>
              </a:ext>
            </a:extLst>
          </p:cNvPr>
          <p:cNvSpPr txBox="1">
            <a:spLocks/>
          </p:cNvSpPr>
          <p:nvPr userDrawn="1"/>
        </p:nvSpPr>
        <p:spPr>
          <a:xfrm>
            <a:off x="4000500" y="6317033"/>
            <a:ext cx="419100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17" dirty="0"/>
              <a:t>© </a:t>
            </a:r>
            <a:fld id="{C0650B53-F5B1-403A-BD70-58B7AE2589AD}" type="datetimeyyyy">
              <a:rPr lang="en-US" sz="917" smtClean="0"/>
              <a:t>2026</a:t>
            </a:fld>
            <a:r>
              <a:rPr lang="en-US" sz="917" dirty="0"/>
              <a:t> DXC Technology Company. All rights reserved.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AC6588D-E265-2C6F-EA95-E4733BC4EC7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3548" y="6317031"/>
            <a:ext cx="2097804" cy="351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779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9ECBCB-AE26-C09E-7A22-BA912C31D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B034B-1F1A-41B9-5629-D56E3D798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3B238-A992-5AB5-FE62-A2D6153B0F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840541-587A-4F81-B512-E2165779886E}" type="datetimeFigureOut">
              <a:rPr lang="en-CA" smtClean="0"/>
              <a:t>2026-08-21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8C6C8-6728-A9A2-7C62-AC3B97AF6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BC607-D70C-40E0-4494-077D06CF5D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EC482E-3435-42E7-AC3F-517E655BF1B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8103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52" r:id="rId12"/>
    <p:sldLayoutId id="2147483666" r:id="rId13"/>
    <p:sldLayoutId id="2147483667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973668" y="1764792"/>
            <a:ext cx="4273020" cy="2718308"/>
          </a:xfrm>
        </p:spPr>
        <p:txBody>
          <a:bodyPr/>
          <a:lstStyle/>
          <a:p>
            <a:r>
              <a:rPr lang="en-US" dirty="0"/>
              <a:t>AI Common Components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3668" y="4620260"/>
            <a:ext cx="4273020" cy="381508"/>
          </a:xfrm>
        </p:spPr>
        <p:txBody>
          <a:bodyPr/>
          <a:lstStyle/>
          <a:p>
            <a:r>
              <a:rPr lang="en-US" dirty="0"/>
              <a:t>August 20, 2026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785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14497-4F85-BA87-DCF4-1012B860C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618ACFC-DA24-366D-FB0A-C6001F4316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00" y="87084"/>
            <a:ext cx="11904800" cy="5212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431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5F6D1-A543-BA45-E6E0-637387A7B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90A9706-D22A-3C6A-D726-FC7E13991D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773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A0BA074-059E-F412-1F5D-96DDB86F8E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086" y="1005757"/>
            <a:ext cx="9353986" cy="5264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330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F02FC-3952-835D-2A46-A11EC5819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EA39496-CAAE-C75C-C06B-8CF434F3A4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095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CD8EE-8923-C487-E0EF-BEEC57EAF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4DC61-C732-DEC9-58D1-3180CCB2D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CA" b="1" dirty="0">
                <a:highlight>
                  <a:srgbClr val="FFFFFF"/>
                </a:highlight>
              </a:rPr>
              <a:t>Key Takeaways</a:t>
            </a:r>
            <a:endParaRPr lang="en-CA" dirty="0">
              <a:highlight>
                <a:srgbClr val="FFFFFF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F2F63-CBED-8174-4690-BE9E684D1F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60599"/>
            <a:ext cx="10692384" cy="3916363"/>
          </a:xfrm>
        </p:spPr>
        <p:txBody>
          <a:bodyPr>
            <a:normAutofit/>
          </a:bodyPr>
          <a:lstStyle/>
          <a:p>
            <a:pPr lvl="1"/>
            <a:r>
              <a:rPr lang="en-CA" dirty="0">
                <a:highlight>
                  <a:srgbClr val="FFFFFF"/>
                </a:highlight>
              </a:rPr>
              <a:t>Cost Savings via:</a:t>
            </a:r>
          </a:p>
          <a:p>
            <a:pPr lvl="2"/>
            <a:r>
              <a:rPr lang="en-CA" dirty="0">
                <a:highlight>
                  <a:srgbClr val="FFFFFF"/>
                </a:highlight>
              </a:rPr>
              <a:t>automated read, </a:t>
            </a:r>
          </a:p>
          <a:p>
            <a:pPr lvl="2"/>
            <a:r>
              <a:rPr lang="en-CA" dirty="0">
                <a:highlight>
                  <a:srgbClr val="FFFFFF"/>
                </a:highlight>
              </a:rPr>
              <a:t>early feedback, </a:t>
            </a:r>
          </a:p>
          <a:p>
            <a:pPr lvl="2"/>
            <a:r>
              <a:rPr lang="en-CA" dirty="0">
                <a:highlight>
                  <a:srgbClr val="FFFFFF"/>
                </a:highlight>
              </a:rPr>
              <a:t>ai guidance for faster &amp; smarter evidence-based administration</a:t>
            </a:r>
          </a:p>
          <a:p>
            <a:pPr marL="914400" lvl="2" indent="0">
              <a:buNone/>
            </a:pPr>
            <a:endParaRPr lang="en-CA" dirty="0">
              <a:highlight>
                <a:srgbClr val="FFFFFF"/>
              </a:highlight>
            </a:endParaRPr>
          </a:p>
          <a:p>
            <a:pPr lvl="1"/>
            <a:r>
              <a:rPr lang="en-CA" dirty="0">
                <a:highlight>
                  <a:srgbClr val="FFFFFF"/>
                </a:highlight>
              </a:rPr>
              <a:t>Reusable common component for quick coding time and enterprise quality for your upcoming AI projects. The “Rules” themselves can be easily changed to any business line policy.</a:t>
            </a:r>
          </a:p>
          <a:p>
            <a:pPr marL="457200" lvl="1" indent="0">
              <a:buNone/>
            </a:pPr>
            <a:endParaRPr lang="en-CA" dirty="0">
              <a:highlight>
                <a:srgbClr val="FFFFFF"/>
              </a:highlight>
            </a:endParaRPr>
          </a:p>
          <a:p>
            <a:pPr lvl="1"/>
            <a:r>
              <a:rPr lang="en-CA" dirty="0">
                <a:highlight>
                  <a:srgbClr val="FFFFFF"/>
                </a:highlight>
              </a:rPr>
              <a:t>Human-controlled, evidence-backed and auditable</a:t>
            </a:r>
          </a:p>
        </p:txBody>
      </p:sp>
    </p:spTree>
    <p:extLst>
      <p:ext uri="{BB962C8B-B14F-4D97-AF65-F5344CB8AC3E}">
        <p14:creationId xmlns:p14="http://schemas.microsoft.com/office/powerpoint/2010/main" val="1757793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3FAC9-4E5C-E73A-84DA-0AD6322041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DEMO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02126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9871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7" id="{2BDE46CD-7BDA-4E1F-898A-78C6AA4A0D5C}" vid="{A12E47B9-E55E-4862-BDD0-F1A403E1E8B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39F3E54D3F8D45802E42E85D4BB8F3" ma:contentTypeVersion="18" ma:contentTypeDescription="Create a new document." ma:contentTypeScope="" ma:versionID="74650ecc3d44d26ef59ce70889182064">
  <xsd:schema xmlns:xsd="http://www.w3.org/2001/XMLSchema" xmlns:xs="http://www.w3.org/2001/XMLSchema" xmlns:p="http://schemas.microsoft.com/office/2006/metadata/properties" xmlns:ns2="ce31a3f1-bdc7-4439-8061-a59134ed8733" xmlns:ns3="bfec51f4-dea2-4b16-a44a-01c08f68e028" targetNamespace="http://schemas.microsoft.com/office/2006/metadata/properties" ma:root="true" ma:fieldsID="c716182f25bd7342af63475d5b5df246" ns2:_="" ns3:_="">
    <xsd:import namespace="ce31a3f1-bdc7-4439-8061-a59134ed8733"/>
    <xsd:import namespace="bfec51f4-dea2-4b16-a44a-01c08f68e02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31a3f1-bdc7-4439-8061-a59134ed873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6926e502-7201-4058-b50c-60ad35d137e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1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2" nillable="true" ma:displayName="Location" ma:internalName="MediaServiceLocatio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ec51f4-dea2-4b16-a44a-01c08f68e028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b457abff-178d-42a9-b72c-1e2d89afc8df}" ma:internalName="TaxCatchAll" ma:showField="CatchAllData" ma:web="bfec51f4-dea2-4b16-a44a-01c08f68e02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fec51f4-dea2-4b16-a44a-01c08f68e028" xsi:nil="true"/>
    <lcf76f155ced4ddcb4097134ff3c332f xmlns="ce31a3f1-bdc7-4439-8061-a59134ed8733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1257DB8-8D10-49EB-B61F-24385FA34B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e31a3f1-bdc7-4439-8061-a59134ed8733"/>
    <ds:schemaRef ds:uri="bfec51f4-dea2-4b16-a44a-01c08f68e02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758B83C-876F-4E42-8556-81202A027B3B}">
  <ds:schemaRefs>
    <ds:schemaRef ds:uri="http://schemas.microsoft.com/office/2006/metadata/properties"/>
    <ds:schemaRef ds:uri="http://schemas.microsoft.com/office/infopath/2007/PartnerControls"/>
    <ds:schemaRef ds:uri="bfec51f4-dea2-4b16-a44a-01c08f68e028"/>
    <ds:schemaRef ds:uri="ce31a3f1-bdc7-4439-8061-a59134ed8733"/>
  </ds:schemaRefs>
</ds:datastoreItem>
</file>

<file path=customXml/itemProps3.xml><?xml version="1.0" encoding="utf-8"?>
<ds:datastoreItem xmlns:ds="http://schemas.openxmlformats.org/officeDocument/2006/customXml" ds:itemID="{4E2AEB2B-6D8F-42AC-8B2C-FDDCBAAABED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Basic Presentation</Template>
  <TotalTime>469</TotalTime>
  <Words>347</Words>
  <Application>Microsoft Office PowerPoint</Application>
  <PresentationFormat>Widescreen</PresentationFormat>
  <Paragraphs>47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WordVisiCarriageReturn_MSFontService</vt:lpstr>
      <vt:lpstr>Office Theme</vt:lpstr>
      <vt:lpstr>AI Common Components</vt:lpstr>
      <vt:lpstr>PowerPoint Presentation</vt:lpstr>
      <vt:lpstr>PowerPoint Presentation</vt:lpstr>
      <vt:lpstr>PowerPoint Presentation</vt:lpstr>
      <vt:lpstr>PowerPoint Presentation</vt:lpstr>
      <vt:lpstr>Key Takeaways</vt:lpstr>
      <vt:lpstr>DEMO</vt:lpstr>
      <vt:lpstr>PowerPoint Presentation</vt:lpstr>
    </vt:vector>
  </TitlesOfParts>
  <Company>DXC Advanced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Dalton, Nicole</dc:creator>
  <cp:lastModifiedBy>Braniff, Stephen</cp:lastModifiedBy>
  <cp:revision>35</cp:revision>
  <dcterms:created xsi:type="dcterms:W3CDTF">2024-11-28T21:01:31Z</dcterms:created>
  <dcterms:modified xsi:type="dcterms:W3CDTF">2026-08-21T19:03:25Z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0x0101004D39F3E54D3F8D45802E42E85D4BB8F3</vt:lpwstr>
  </property>
</Properties>
</file>